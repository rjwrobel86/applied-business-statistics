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</p:sldIdLst>
  <p:sldSz cy="5143500" cx="9144000"/>
  <p:notesSz cx="6858000" cy="9144000"/>
  <p:embeddedFontLst>
    <p:embeddedFont>
      <p:font typeface="Proxima Nova"/>
      <p:regular r:id="rId97"/>
      <p:bold r:id="rId98"/>
      <p:italic r:id="rId99"/>
      <p:boldItalic r:id="rId100"/>
    </p:embeddedFont>
    <p:embeddedFont>
      <p:font typeface="Noto Sans Symbols"/>
      <p:regular r:id="rId101"/>
      <p:bold r:id="rId10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AF871BC-C372-408C-84D6-D3E6BC74DE80}">
  <a:tblStyle styleId="{0AF871BC-C372-408C-84D6-D3E6BC74DE8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59390B9-02ED-4081-BB1E-EB714DB9122B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102" Type="http://schemas.openxmlformats.org/officeDocument/2006/relationships/font" Target="fonts/NotoSansSymbols-bold.fntdata"/><Relationship Id="rId101" Type="http://schemas.openxmlformats.org/officeDocument/2006/relationships/font" Target="fonts/NotoSansSymbols-regular.fntdata"/><Relationship Id="rId100" Type="http://schemas.openxmlformats.org/officeDocument/2006/relationships/font" Target="fonts/ProximaNova-boldItalic.fntdata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7" Type="http://schemas.openxmlformats.org/officeDocument/2006/relationships/font" Target="fonts/ProximaNova-regular.fntdata"/><Relationship Id="rId96" Type="http://schemas.openxmlformats.org/officeDocument/2006/relationships/slide" Target="slides/slide89.xml"/><Relationship Id="rId11" Type="http://schemas.openxmlformats.org/officeDocument/2006/relationships/slide" Target="slides/slide4.xml"/><Relationship Id="rId99" Type="http://schemas.openxmlformats.org/officeDocument/2006/relationships/font" Target="fonts/ProximaNova-italic.fntdata"/><Relationship Id="rId10" Type="http://schemas.openxmlformats.org/officeDocument/2006/relationships/slide" Target="slides/slide3.xml"/><Relationship Id="rId98" Type="http://schemas.openxmlformats.org/officeDocument/2006/relationships/font" Target="fonts/ProximaNova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58" Type="http://schemas.openxmlformats.org/officeDocument/2006/relationships/slide" Target="slides/slide5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bdd37c11662079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bdd37c11662079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66b950823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66b950823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6b950823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66b950823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6b950823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6b950823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efced2c5d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efced2c5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7414099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7414099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e6aba2223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e6aba2223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f11406e288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f11406e288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e6aba2223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e6aba2223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e6aba2223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e6aba2223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edf5e7add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edf5e7add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6b95082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66b95082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f11406e288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f11406e288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edf5e7add1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edf5e7add1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edf5e7add1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edf5e7add1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6b950823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66b950823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f2a28e31e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f2a28e31e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6b950823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66b950823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365 - n + 1 is how many valid unclaimed </a:t>
            </a:r>
            <a:r>
              <a:rPr lang="en"/>
              <a:t>birthdays</a:t>
            </a:r>
            <a:r>
              <a:rPr lang="en"/>
              <a:t> remain for person N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f2a28e31e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f2a28e31e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f5702ec4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f5702ec4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e6aba2223e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e6aba2223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66b950823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66b950823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f11406e288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f11406e288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edf5e7add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edf5e7add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f8890c251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f8890c251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29d501c3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29d501c3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29d501c32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29d501c32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60857d1dbe_1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60857d1dbe_1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29d501c32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29d501c32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b4e3a7856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b4e3a7856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b4e3a7856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b4e3a7856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60857d1dbe_1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60857d1dbe_1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60857d1dbe_1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60857d1dbe_1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130b0ba1a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130b0ba1a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eac54c9a8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eac54c9a8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ed4f358b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ed4f358b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ed4f358ba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ed4f358ba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60857d1dbe_1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60857d1dbe_1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60857d1dbe_1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60857d1dbe_1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851e8f22d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851e8f22d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851e8f22d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851e8f22d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851e8f22d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2851e8f22d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851e8f22d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851e8f22d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60857d1dbe_1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60857d1dbe_1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851e8f22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2851e8f22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60857d1dbe_1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60857d1dbe_1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60857d1dbe_1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260857d1dbe_1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60857d1dbe_1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260857d1dbe_1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60857d1dbe_1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260857d1dbe_1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60857d1dbe_1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260857d1dbe_1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2f7ef15dba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2f7ef15dba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b4e3a7856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2b4e3a7856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f6db6d32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2f6db6d32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60857d1dbe_1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260857d1dbe_1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c30070cf1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c30070cf1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60857d1dbe_1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260857d1dbe_1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260857d1dbe_1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260857d1dbe_1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260857d1dbe_1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260857d1dbe_1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260857d1dbe_1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260857d1dbe_1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260857d1dbe_1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260857d1dbe_1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260857d1dbe_1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260857d1dbe_1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260857d1dbe_1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260857d1dbe_1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260857d1dbe_1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260857d1dbe_1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260857d1dbe_1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260857d1dbe_1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260857d1dbe_1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260857d1dbe_1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2f7ef15dba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2f7ef15dba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30f6f2f0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30f6f2f0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60857d1dbe_1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60857d1dbe_1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260857d1dbe_1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260857d1dbe_1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260857d1dbe_1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260857d1dbe_1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260857d1dbe_1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260857d1dbe_1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260857d1dbe_1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260857d1dbe_1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260857d1dbe_1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260857d1dbe_1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260857d1dbe_1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260857d1dbe_1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260857d1dbe_1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260857d1dbe_1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398b97d8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398b97d8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398b97d82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398b97d82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c30070cf1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c30070cf1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c30070cf1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3c30070cf1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c30070cf1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c30070cf1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39fe4076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339fe4076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c30070cf1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c30070cf1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c30070cf1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c30070cf1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3e031ed3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33e031ed3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c30070cf18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c30070cf1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c30070cf1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c30070cf1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c30070cf18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3c30070cf18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2f7ef15dba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2f7ef15db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4" name="Google Shape;8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8" name="Google Shape;88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9" name="Google Shape;89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3" name="Google Shape;9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5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plato.stanford.edu/entries/probability-interpret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6.png"/><Relationship Id="rId4" Type="http://schemas.openxmlformats.org/officeDocument/2006/relationships/image" Target="../media/image2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9.png"/><Relationship Id="rId4" Type="http://schemas.openxmlformats.org/officeDocument/2006/relationships/image" Target="../media/image22.png"/><Relationship Id="rId5" Type="http://schemas.openxmlformats.org/officeDocument/2006/relationships/image" Target="../media/image1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2.png"/><Relationship Id="rId4" Type="http://schemas.openxmlformats.org/officeDocument/2006/relationships/image" Target="../media/image5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2.png"/><Relationship Id="rId4" Type="http://schemas.openxmlformats.org/officeDocument/2006/relationships/image" Target="../media/image47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5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8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9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6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6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9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41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42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52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45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41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42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57.png"/><Relationship Id="rId4" Type="http://schemas.openxmlformats.org/officeDocument/2006/relationships/image" Target="../media/image60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61.png"/><Relationship Id="rId4" Type="http://schemas.openxmlformats.org/officeDocument/2006/relationships/image" Target="../media/image44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46.png"/><Relationship Id="rId4" Type="http://schemas.openxmlformats.org/officeDocument/2006/relationships/image" Target="../media/image53.png"/><Relationship Id="rId5" Type="http://schemas.openxmlformats.org/officeDocument/2006/relationships/image" Target="../media/image48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46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Probability </a:t>
            </a:r>
            <a:endParaRPr/>
          </a:p>
        </p:txBody>
      </p:sp>
      <p:sp>
        <p:nvSpPr>
          <p:cNvPr id="105" name="Google Shape;105;p25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uncertainty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Probability is the most important concept in modern science, especially as nobody has the slightest notion what it means.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—Bertrand Russell, 1929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Conjunction Fallacy</a:t>
            </a:r>
            <a:endParaRPr/>
          </a:p>
        </p:txBody>
      </p:sp>
      <p:sp>
        <p:nvSpPr>
          <p:cNvPr id="116" name="Google Shape;116;p27"/>
          <p:cNvSpPr txBox="1"/>
          <p:nvPr>
            <p:ph idx="1" type="body"/>
          </p:nvPr>
        </p:nvSpPr>
        <p:spPr>
          <a:xfrm>
            <a:off x="311700" y="1152475"/>
            <a:ext cx="471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Linda is a intelligent, outspoken woman.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Which is more likely?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Linda is a bank teller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Linda is a bank teller and active in politics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you picked #2, you’re normal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AND WRONG!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850" y="1166213"/>
            <a:ext cx="3807600" cy="2811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Monty Hall Problem</a:t>
            </a:r>
            <a:endParaRPr/>
          </a:p>
        </p:txBody>
      </p:sp>
      <p:pic>
        <p:nvPicPr>
          <p:cNvPr id="123" name="Google Shape;12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300" y="1306850"/>
            <a:ext cx="7265400" cy="3107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Monty Hall Problem</a:t>
            </a:r>
            <a:endParaRPr/>
          </a:p>
        </p:txBody>
      </p:sp>
      <p:pic>
        <p:nvPicPr>
          <p:cNvPr id="129" name="Google Shape;12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263" y="1783650"/>
            <a:ext cx="8399475" cy="248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Terminology </a:t>
            </a:r>
            <a:endParaRPr/>
          </a:p>
        </p:txBody>
      </p:sp>
      <p:sp>
        <p:nvSpPr>
          <p:cNvPr id="135" name="Google Shape;135;p30"/>
          <p:cNvSpPr txBox="1"/>
          <p:nvPr>
            <p:ph idx="1" type="body"/>
          </p:nvPr>
        </p:nvSpPr>
        <p:spPr>
          <a:xfrm>
            <a:off x="311700" y="1076525"/>
            <a:ext cx="443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n" sz="1125"/>
              <a:t>Probability: </a:t>
            </a:r>
            <a:r>
              <a:rPr lang="en" sz="1125"/>
              <a:t>A numerical measure of the likelihood that an event will occur</a:t>
            </a:r>
            <a:endParaRPr sz="112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1125"/>
              <a:t>Experiment</a:t>
            </a:r>
            <a:r>
              <a:rPr lang="en" sz="1125"/>
              <a:t>: A</a:t>
            </a:r>
            <a:r>
              <a:rPr lang="en" sz="1125"/>
              <a:t> well-defined process that leads to a single, unpredictable result.</a:t>
            </a:r>
            <a:endParaRPr sz="112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125"/>
              <a:t>Example: Rolling a die</a:t>
            </a:r>
            <a:endParaRPr sz="112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1125"/>
              <a:t>Outcome</a:t>
            </a:r>
            <a:r>
              <a:rPr lang="en" sz="1125"/>
              <a:t>: A</a:t>
            </a:r>
            <a:r>
              <a:rPr lang="en" sz="1125"/>
              <a:t> specific result that can happen in an experiment.</a:t>
            </a:r>
            <a:endParaRPr sz="112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125"/>
              <a:t>Example: Landing on 4</a:t>
            </a:r>
            <a:endParaRPr sz="112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1125"/>
              <a:t>Event</a:t>
            </a:r>
            <a:r>
              <a:rPr lang="en" sz="1125"/>
              <a:t>: A collection of one or more outcomes from an experiment; the group of outcomes you’re interested in</a:t>
            </a:r>
            <a:endParaRPr sz="112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125"/>
              <a:t>Example: Landing on an even number</a:t>
            </a:r>
            <a:endParaRPr sz="112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1125"/>
              <a:t>Sample Space</a:t>
            </a:r>
            <a:r>
              <a:rPr lang="en" sz="1125"/>
              <a:t>: The set of all possible outcomes of an experiment </a:t>
            </a:r>
            <a:endParaRPr sz="1125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rPr lang="en" sz="1125"/>
              <a:t>Example: Landing on 1, 2, 3, 4, 5, or 6</a:t>
            </a:r>
            <a:endParaRPr sz="1125"/>
          </a:p>
        </p:txBody>
      </p:sp>
      <p:pic>
        <p:nvPicPr>
          <p:cNvPr id="136" name="Google Shape;13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4000" y="784235"/>
            <a:ext cx="4252325" cy="149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5025" y="2677694"/>
            <a:ext cx="3238500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Events</a:t>
            </a:r>
            <a:endParaRPr/>
          </a:p>
        </p:txBody>
      </p:sp>
      <p:sp>
        <p:nvSpPr>
          <p:cNvPr id="143" name="Google Shape;14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Events: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 event described by a single condition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 A given day being in July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Joint Events: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Events described by two or more conditions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Ex: A given day being in July and a Friday</a:t>
            </a:r>
            <a:endParaRPr/>
          </a:p>
        </p:txBody>
      </p:sp>
      <p:pic>
        <p:nvPicPr>
          <p:cNvPr id="144" name="Google Shape;14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8650" y="1515875"/>
            <a:ext cx="3623650" cy="186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Space and Events</a:t>
            </a:r>
            <a:endParaRPr/>
          </a:p>
        </p:txBody>
      </p:sp>
      <p:pic>
        <p:nvPicPr>
          <p:cNvPr id="150" name="Google Shape;15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5425" y="1454075"/>
            <a:ext cx="5773150" cy="296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Probability Basics</a:t>
            </a:r>
            <a:endParaRPr/>
          </a:p>
        </p:txBody>
      </p:sp>
      <p:sp>
        <p:nvSpPr>
          <p:cNvPr id="156" name="Google Shape;156;p33"/>
          <p:cNvSpPr txBox="1"/>
          <p:nvPr>
            <p:ph idx="1" type="body"/>
          </p:nvPr>
        </p:nvSpPr>
        <p:spPr>
          <a:xfrm>
            <a:off x="311700" y="1152475"/>
            <a:ext cx="8337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460"/>
              <a:t>Ranges between 0 and 1</a:t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460"/>
              <a:t>0 = 0% = Impossibility</a:t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460"/>
              <a:t>1 = 100% = Certainty</a:t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460"/>
              <a:t>Can be described as a decimal, percentage, or fraction.</a:t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460"/>
              <a:t>0.33 = 33% = Happens ⅓ of the time, doesn’t happen ⅔’s of the time</a:t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460"/>
              <a:t>0.5 =  50% = Happens ½ of the time, doesn’t happen the other ½ of the time</a:t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460"/>
              <a:t>0.75 = 75% = Happens ¾ of the time, doesn’t happen ¼ of the time</a:t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46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Whence? A Priori, Theoretical, Simple and/or Uniform Probability</a:t>
            </a:r>
            <a:endParaRPr/>
          </a:p>
        </p:txBody>
      </p:sp>
      <p:sp>
        <p:nvSpPr>
          <p:cNvPr id="162" name="Google Shape;162;p34"/>
          <p:cNvSpPr txBox="1"/>
          <p:nvPr>
            <p:ph idx="1" type="body"/>
          </p:nvPr>
        </p:nvSpPr>
        <p:spPr>
          <a:xfrm>
            <a:off x="311700" y="1415375"/>
            <a:ext cx="7295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Probability based on the nature of the </a:t>
            </a:r>
            <a:r>
              <a:rPr lang="en"/>
              <a:t>experiment / knowledge of data generating process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all outcomes are equally likely, divide 1 by the number of possible outcomes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P(A) = 1 / # of possible outcomes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Probability of rolling a 5 (or any number)  on a 6 sided die?  ⅙ = 0.16666667 = 17%ish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Probability of flipping a coin and landing on heads (or tails)? ½ = 0.5 = 50%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all outcomes are not equally likely, calculate based on the process / question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P(Randomly selecting a day of the year in July) = # of Days in July / # of Days in the Year = 31/365 = 0.0849 = 8.49%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7800" y="1932900"/>
            <a:ext cx="1639750" cy="105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Accuracy, Asymptotics, &amp; LLN </a:t>
            </a:r>
            <a:endParaRPr/>
          </a:p>
        </p:txBody>
      </p:sp>
      <p:sp>
        <p:nvSpPr>
          <p:cNvPr id="169" name="Google Shape;169;p3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Probability allows us to calculate a best guess, but outcomes are still uncertain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 the number of trials tends towards infinity, the difference between the actual outcomes and the theoretical outcomes tends towards zero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is known as the law of large numbers (LLN)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LLN: </a:t>
            </a:r>
            <a:r>
              <a:rPr lang="en">
                <a:solidFill>
                  <a:srgbClr val="202122"/>
                </a:solidFill>
                <a:highlight>
                  <a:srgbClr val="FFFFFF"/>
                </a:highlight>
              </a:rPr>
              <a:t>the average of the results obtained from a large number of independent random samples converges to the true value, if it exists</a:t>
            </a:r>
            <a:endParaRPr/>
          </a:p>
        </p:txBody>
      </p:sp>
      <p:pic>
        <p:nvPicPr>
          <p:cNvPr id="170" name="Google Shape;17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3463" y="268825"/>
            <a:ext cx="3888776" cy="126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3450" y="1776650"/>
            <a:ext cx="3888799" cy="126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89438" y="3152526"/>
            <a:ext cx="2142863" cy="166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5"/>
          <p:cNvSpPr txBox="1"/>
          <p:nvPr/>
        </p:nvSpPr>
        <p:spPr>
          <a:xfrm>
            <a:off x="4990100" y="3152525"/>
            <a:ext cx="1525800" cy="1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n=10,000, not 30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74" name="Google Shape;174;p35"/>
          <p:cNvCxnSpPr/>
          <p:nvPr/>
        </p:nvCxnSpPr>
        <p:spPr>
          <a:xfrm rot="10800000">
            <a:off x="5200850" y="3000675"/>
            <a:ext cx="8400" cy="31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Whence? </a:t>
            </a:r>
            <a:r>
              <a:rPr lang="en"/>
              <a:t>Empirical Probability</a:t>
            </a:r>
            <a:endParaRPr/>
          </a:p>
        </p:txBody>
      </p:sp>
      <p:sp>
        <p:nvSpPr>
          <p:cNvPr id="180" name="Google Shape;180;p36"/>
          <p:cNvSpPr txBox="1"/>
          <p:nvPr>
            <p:ph idx="1" type="body"/>
          </p:nvPr>
        </p:nvSpPr>
        <p:spPr>
          <a:xfrm>
            <a:off x="311700" y="1152475"/>
            <a:ext cx="3562200" cy="36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Probability as relative frequency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Obtained from past observations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P(A) = # of times A / # of times total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probability that a given student will get an A, </a:t>
            </a:r>
            <a:r>
              <a:rPr i="1" lang="en"/>
              <a:t>based on past student grades,</a:t>
            </a:r>
            <a:r>
              <a:rPr lang="en"/>
              <a:t> is 202/899 = 0.22 = 22%</a:t>
            </a:r>
            <a:endParaRPr/>
          </a:p>
        </p:txBody>
      </p:sp>
      <p:pic>
        <p:nvPicPr>
          <p:cNvPr id="181" name="Google Shape;18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2200" y="1271375"/>
            <a:ext cx="4553424" cy="260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Whence?  </a:t>
            </a:r>
            <a:r>
              <a:rPr lang="en"/>
              <a:t>Subjective</a:t>
            </a:r>
            <a:r>
              <a:rPr lang="en"/>
              <a:t> Probability</a:t>
            </a:r>
            <a:endParaRPr/>
          </a:p>
        </p:txBody>
      </p:sp>
      <p:sp>
        <p:nvSpPr>
          <p:cNvPr id="187" name="Google Shape;187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 or group judgment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Not based on </a:t>
            </a:r>
            <a:r>
              <a:rPr lang="en"/>
              <a:t>calculation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Not the best / most reliable, but still useful for: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Cases where no data is available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Bayesian priors*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For a deeper dive into the nature and </a:t>
            </a:r>
            <a:r>
              <a:rPr lang="en"/>
              <a:t>interpretation</a:t>
            </a:r>
            <a:r>
              <a:rPr lang="en"/>
              <a:t> of probability (perhaps too deep), check out the Stanford Encyclopedia of Philosophy Entry: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https://plato.stanford.edu/entries/probability-interpret/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Notation</a:t>
            </a:r>
            <a:endParaRPr/>
          </a:p>
        </p:txBody>
      </p:sp>
      <p:sp>
        <p:nvSpPr>
          <p:cNvPr id="193" name="Google Shape;193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P(A)</a:t>
            </a:r>
            <a:r>
              <a:rPr lang="en"/>
              <a:t> is the probability that an </a:t>
            </a:r>
            <a:r>
              <a:rPr lang="en"/>
              <a:t>experiment</a:t>
            </a:r>
            <a:r>
              <a:rPr lang="en"/>
              <a:t> will produce outcome 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P(A’)</a:t>
            </a:r>
            <a:r>
              <a:rPr lang="en"/>
              <a:t> is the probability of  the complement* to A (not 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P(A ∩ B) = P(A and B) </a:t>
            </a:r>
            <a:r>
              <a:rPr lang="en"/>
              <a:t>is the joint probability that A and B will both occur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P(A ∪ B) = P(A or B) </a:t>
            </a:r>
            <a:r>
              <a:rPr lang="en"/>
              <a:t>is the probability that A will occur, B will occur, </a:t>
            </a:r>
            <a:r>
              <a:rPr b="1" lang="en"/>
              <a:t>or both A and B will occur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P(A|B)</a:t>
            </a:r>
            <a:r>
              <a:rPr lang="en"/>
              <a:t> is the conditional probability that A will occur, given that B has occurred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Mutually Exclusive, Collectively Exhaustive &amp; Complementary Events</a:t>
            </a:r>
            <a:endParaRPr/>
          </a:p>
        </p:txBody>
      </p:sp>
      <p:sp>
        <p:nvSpPr>
          <p:cNvPr id="199" name="Google Shape;199;p39"/>
          <p:cNvSpPr txBox="1"/>
          <p:nvPr>
            <p:ph idx="1" type="body"/>
          </p:nvPr>
        </p:nvSpPr>
        <p:spPr>
          <a:xfrm>
            <a:off x="311700" y="1331100"/>
            <a:ext cx="4260300" cy="35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Mutually exclusive events: </a:t>
            </a:r>
            <a:r>
              <a:rPr lang="en"/>
              <a:t>Events that</a:t>
            </a:r>
            <a:r>
              <a:rPr lang="en"/>
              <a:t> cannot occur together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 Light switch on and off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Collectively </a:t>
            </a:r>
            <a:r>
              <a:rPr b="1" lang="en"/>
              <a:t>exhaustive</a:t>
            </a:r>
            <a:r>
              <a:rPr b="1" lang="en"/>
              <a:t> events: </a:t>
            </a:r>
            <a:r>
              <a:rPr lang="en"/>
              <a:t>All possible events with at least one of the events </a:t>
            </a:r>
            <a:r>
              <a:rPr lang="en"/>
              <a:t>occurring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 Dice roll lands as 1, 2, 3, 4, 5, or 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Complementary events: </a:t>
            </a:r>
            <a:r>
              <a:rPr lang="en"/>
              <a:t>Events that are mutually exclusive and collectively exhaustive: (one must happen and multiple outcomes can’t happen together)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 Rain and not rain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A and B are complements, P(A or B) = 1 and P(A and B) = 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P(Rain OR Not-rain) =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P(Rain AND Not-rain) = 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P(Not-rain) = 1 - P(Rain)</a:t>
            </a:r>
            <a:endParaRPr/>
          </a:p>
        </p:txBody>
      </p:sp>
      <p:pic>
        <p:nvPicPr>
          <p:cNvPr id="200" name="Google Shape;20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9350" y="3343500"/>
            <a:ext cx="4980649" cy="1585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9"/>
          <p:cNvSpPr txBox="1"/>
          <p:nvPr/>
        </p:nvSpPr>
        <p:spPr>
          <a:xfrm>
            <a:off x="5285775" y="1331100"/>
            <a:ext cx="3000000" cy="16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Complement Rule / Formula: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P(A’) = 1 - P(A)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Independent and Dependent Events</a:t>
            </a:r>
            <a:endParaRPr/>
          </a:p>
        </p:txBody>
      </p:sp>
      <p:sp>
        <p:nvSpPr>
          <p:cNvPr id="207" name="Google Shape;207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Independent events</a:t>
            </a:r>
            <a:r>
              <a:rPr lang="en"/>
              <a:t>: Events that do not change the probability of one another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 Coin flips - Getting heads one time does not tell us anything about what will happen next time we flip the coin (assuming a fair coin)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Dependent events</a:t>
            </a:r>
            <a:r>
              <a:rPr lang="en"/>
              <a:t>: The probability of an event DOES change with the </a:t>
            </a:r>
            <a:r>
              <a:rPr lang="en"/>
              <a:t>occurrence</a:t>
            </a:r>
            <a:r>
              <a:rPr lang="en"/>
              <a:t> or </a:t>
            </a:r>
            <a:r>
              <a:rPr lang="en"/>
              <a:t>absence</a:t>
            </a:r>
            <a:r>
              <a:rPr lang="en"/>
              <a:t> of another event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 Selecting cards from a deck (without replacement)  </a:t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lphaUcParenR"/>
            </a:pPr>
            <a:r>
              <a:rPr lang="en"/>
              <a:t>Probability of getting a queen = 4/52 = 7.7%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lphaUcParenR"/>
            </a:pPr>
            <a:r>
              <a:rPr lang="en"/>
              <a:t>Probability of getting another queen after removing the first one: 3/51 = 5.9%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lphaUcParenR"/>
            </a:pPr>
            <a:r>
              <a:rPr lang="en"/>
              <a:t>P(A </a:t>
            </a:r>
            <a:r>
              <a:rPr lang="en"/>
              <a:t>third</a:t>
            </a:r>
            <a:r>
              <a:rPr lang="en"/>
              <a:t> queen) = 2/50 = 4%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Note these are isolated draws / I’m not asking the probability you’ll draw two or three cards in a row and they’ll both be queens.  (That would be P(Q1 and Q2)) = P(Q1) * P(Q2|Q1) = 0.077 * 0.059 = 0.0043, or 0.43%)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Gambler’s Fallacy</a:t>
            </a:r>
            <a:endParaRPr/>
          </a:p>
        </p:txBody>
      </p:sp>
      <p:sp>
        <p:nvSpPr>
          <p:cNvPr id="213" name="Google Shape;213;p41"/>
          <p:cNvSpPr txBox="1"/>
          <p:nvPr>
            <p:ph idx="1" type="body"/>
          </p:nvPr>
        </p:nvSpPr>
        <p:spPr>
          <a:xfrm>
            <a:off x="311700" y="1152475"/>
            <a:ext cx="585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roulette ball lands on red 9 times in a row, so it’s likely to land on black anytime now!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True, but no more true than after the first red!!!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Each spin is </a:t>
            </a:r>
            <a:r>
              <a:rPr b="1" lang="en"/>
              <a:t>INDEPENDENT</a:t>
            </a:r>
            <a:r>
              <a:rPr lang="en"/>
              <a:t> of the others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18 red / 38 total =0 .4737 = 47% chance of landing on red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(0.4737)^9 = 0.00217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 / 0.00271 = 460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461 9 spin sequences, you’d expect this to occur once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Assuming multiple tables and a 24 hour casino, a run of 9 reds in a row is likely to occur many times per day!</a:t>
            </a:r>
            <a:endParaRPr/>
          </a:p>
        </p:txBody>
      </p:sp>
      <p:pic>
        <p:nvPicPr>
          <p:cNvPr id="214" name="Google Shape;21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5825" y="1748388"/>
            <a:ext cx="2276475" cy="200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2"/>
          <p:cNvSpPr txBox="1"/>
          <p:nvPr>
            <p:ph idx="1" type="body"/>
          </p:nvPr>
        </p:nvSpPr>
        <p:spPr>
          <a:xfrm>
            <a:off x="311700" y="1167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for “AND” scenarios = P(X and 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Independent events</a:t>
            </a:r>
            <a:r>
              <a:rPr lang="en"/>
              <a:t>: P(X and Y) = P(X) * P(Y)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P(Roll a six AND draw a queen) = P(6) * P(Q) = </a:t>
            </a:r>
            <a:r>
              <a:rPr lang="en"/>
              <a:t>1/6</a:t>
            </a:r>
            <a:r>
              <a:rPr lang="en"/>
              <a:t> * 4/52 = 0.16666 * 0.07692 = 0.0128, or 1.28%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Dependent events</a:t>
            </a:r>
            <a:r>
              <a:rPr lang="en"/>
              <a:t>: P(X and Y) = P(Y) * P(X|Y)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P(Drawing two cards and both are hearts) = P(Heart 1) * P(Heart 2|Heart 1)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P(Heart 1) = 13/52 = 0.25  (First draw)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P(Heart 2| Heart 1) = 12/51 = 0.235 (Second draw)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P(Heart 1 and Heart 2) = 0.25 * 0.235 = .05875 = 5.87%</a:t>
            </a:r>
            <a:endParaRPr/>
          </a:p>
        </p:txBody>
      </p:sp>
      <p:sp>
        <p:nvSpPr>
          <p:cNvPr id="220" name="Google Shape;22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Multiplication Rule / Formula - And Scenarios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0250" y="3210750"/>
            <a:ext cx="2371100" cy="163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Birthday Paradox</a:t>
            </a:r>
            <a:endParaRPr/>
          </a:p>
        </p:txBody>
      </p:sp>
      <p:sp>
        <p:nvSpPr>
          <p:cNvPr id="227" name="Google Shape;227;p43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many people before a shared birthday?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Instead of calculating the probability of a shared birthday, calculate the probability of no shared birthday.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Person 1 can have any birthday (365/365)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Person 2 can have any birthday except person 1’s birthday (364/365)...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p(no match | n) = (365/365) * (364/365) * (363/365)...(365 - n + 1))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only takes…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23 people in the room before there’s a greater than 50% chance</a:t>
            </a:r>
            <a:endParaRPr/>
          </a:p>
        </p:txBody>
      </p:sp>
      <p:pic>
        <p:nvPicPr>
          <p:cNvPr id="228" name="Google Shape;22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591375"/>
            <a:ext cx="4267200" cy="2538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Addition Rule / Formula - Or Scenarios</a:t>
            </a:r>
            <a:endParaRPr/>
          </a:p>
        </p:txBody>
      </p:sp>
      <p:sp>
        <p:nvSpPr>
          <p:cNvPr id="234" name="Google Shape;234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460"/>
              <a:t>Used for “OR” scenarios = P(X, Y, or Both)</a:t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460"/>
              <a:t>Addition rule for mutually exclusive events:</a:t>
            </a:r>
            <a:endParaRPr b="1"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460"/>
              <a:t>P(X or Y) = P(X) + P(Y)</a:t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460"/>
              <a:t>Addition rule for non-</a:t>
            </a:r>
            <a:r>
              <a:rPr b="1" lang="en" sz="1460"/>
              <a:t>mutually</a:t>
            </a:r>
            <a:r>
              <a:rPr b="1" lang="en" sz="1460"/>
              <a:t> exclusive events:</a:t>
            </a:r>
            <a:endParaRPr b="1"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460"/>
              <a:t>Does one prevent the other?  Cause the other?</a:t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460"/>
              <a:t>P(X or Y) = P(X) + P(Y) - P(X AND Y)</a:t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460"/>
              <a:t>P(“It rains” OR “it’s Tuesday”) = 105/365 + 1/7 - (105/365 * 1/7)</a:t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460"/>
              <a:t>.287 + .143 - .041 = .389</a:t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460"/>
              <a:t>38.9%</a:t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460"/>
          </a:p>
        </p:txBody>
      </p:sp>
      <p:pic>
        <p:nvPicPr>
          <p:cNvPr id="235" name="Google Shape;23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8275" y="3134025"/>
            <a:ext cx="2504250" cy="173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Conditional Probability Formula</a:t>
            </a:r>
            <a:endParaRPr/>
          </a:p>
        </p:txBody>
      </p:sp>
      <p:sp>
        <p:nvSpPr>
          <p:cNvPr id="241" name="Google Shape;241;p45"/>
          <p:cNvSpPr txBox="1"/>
          <p:nvPr>
            <p:ph idx="1" type="body"/>
          </p:nvPr>
        </p:nvSpPr>
        <p:spPr>
          <a:xfrm>
            <a:off x="254400" y="1142275"/>
            <a:ext cx="8162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(A|B) = The probability of A, given the occurrence of 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(We restrict the sample space to B, in the above)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P(A|B) = P(A and B) / P(B)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P(B|A) = P(A and B) / P(A)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Assume 100 people buy new cars.  40 bought warranties, 30 bought red cars, and 20 purchased both.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 the probability that someone who purchased a warranty also bought a red car?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P(warranty)=0.4, P(red car)=0.3, P(warranty and red car) = 0.2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0.2 / 0.4 = 0.5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=50%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Bayes Formula</a:t>
            </a:r>
            <a:endParaRPr/>
          </a:p>
        </p:txBody>
      </p:sp>
      <p:sp>
        <p:nvSpPr>
          <p:cNvPr id="247" name="Google Shape;247;p46"/>
          <p:cNvSpPr txBox="1"/>
          <p:nvPr>
            <p:ph idx="1" type="body"/>
          </p:nvPr>
        </p:nvSpPr>
        <p:spPr>
          <a:xfrm>
            <a:off x="311700" y="1152475"/>
            <a:ext cx="527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P(Unintended Fire) = 1%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P(Smoke) = 10%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P(Smoke | Unintended Fire) = 90%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 the probability that smoke implies an unintended fire? P(Unintended Fire | Smoke)?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(1% * 90%) / 10% = 9%</a:t>
            </a:r>
            <a:endParaRPr/>
          </a:p>
        </p:txBody>
      </p:sp>
      <p:pic>
        <p:nvPicPr>
          <p:cNvPr id="248" name="Google Shape;24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9177" y="2285400"/>
            <a:ext cx="2919374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Prosecutor’s Fallacy</a:t>
            </a:r>
            <a:endParaRPr/>
          </a:p>
        </p:txBody>
      </p:sp>
      <p:sp>
        <p:nvSpPr>
          <p:cNvPr id="254" name="Google Shape;254;p4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P(Evidence | Innocence) vs P(Innocence | Evidence)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 in 1 million chance of matching the DNA evidence by chance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a country of 340 million people, 34 people would be expected to match by chance (if only this evidence is used to determine guilt)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Takeaway: Just because it’s rare for an innocent person to have certain evidence against them doesn’t mean it’s rare for someone with certain evidence against them to be innocent.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47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Bayes Solution: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 = Person is Guilty, ~G = Person is Not Guilty, M = DNA Match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P(M | G) = 1, P(M | ~G) = 1/1,000,000, P(G) = 1/340,000,000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P(M) = P(M|G) * P(G) + P(M|~G) * P(~G)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Plug into Bayes formula…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P(G | M) = 0.29%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6" name="Google Shape;25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7600" y="3805225"/>
            <a:ext cx="3309100" cy="97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Probability vs Odds</a:t>
            </a:r>
            <a:endParaRPr/>
          </a:p>
        </p:txBody>
      </p:sp>
      <p:sp>
        <p:nvSpPr>
          <p:cNvPr id="262" name="Google Shape;262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P(A) is the probability of outcome 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P(A) / 1 - P(A)</a:t>
            </a:r>
            <a:r>
              <a:rPr b="1" lang="en"/>
              <a:t> </a:t>
            </a:r>
            <a:r>
              <a:rPr lang="en"/>
              <a:t>= Odds of outcome 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Odds of rolling a 6 = </a:t>
            </a:r>
            <a:r>
              <a:rPr lang="en"/>
              <a:t>1/6</a:t>
            </a:r>
            <a:r>
              <a:rPr lang="en"/>
              <a:t> (0.17) divided by 1 - </a:t>
            </a:r>
            <a:r>
              <a:rPr lang="en"/>
              <a:t>1/6</a:t>
            </a:r>
            <a:r>
              <a:rPr lang="en"/>
              <a:t> (</a:t>
            </a:r>
            <a:r>
              <a:rPr lang="en"/>
              <a:t>5/6</a:t>
            </a:r>
            <a:r>
              <a:rPr lang="en"/>
              <a:t> = 0.83)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0.17 / 0.83  = .2 or 20%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Theory and Probability with Venn Diagrams</a:t>
            </a:r>
            <a:endParaRPr/>
          </a:p>
        </p:txBody>
      </p:sp>
      <p:pic>
        <p:nvPicPr>
          <p:cNvPr id="268" name="Google Shape;26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1463" y="1214750"/>
            <a:ext cx="4041074" cy="341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319" y="0"/>
            <a:ext cx="747936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Value</a:t>
            </a:r>
            <a:endParaRPr/>
          </a:p>
        </p:txBody>
      </p:sp>
      <p:sp>
        <p:nvSpPr>
          <p:cNvPr id="279" name="Google Shape;279;p5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value: T</a:t>
            </a:r>
            <a:r>
              <a:rPr lang="en"/>
              <a:t>he long-term average or mean value of its outcomes, weighted by their respective probabilities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51"/>
          <p:cNvSpPr txBox="1"/>
          <p:nvPr>
            <p:ph idx="2" type="body"/>
          </p:nvPr>
        </p:nvSpPr>
        <p:spPr>
          <a:xfrm>
            <a:off x="4832400" y="72135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AutoNum type="arabicParenR"/>
            </a:pPr>
            <a:r>
              <a:rPr lang="en"/>
              <a:t>List each possible outcome, its magnitude, and its probability.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"/>
              <a:t>Multiply each outcome’s magnitude by its probability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"/>
              <a:t>Sum the product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1" name="Google Shape;281;p51"/>
          <p:cNvPicPr preferRelativeResize="0"/>
          <p:nvPr/>
        </p:nvPicPr>
        <p:blipFill rotWithShape="1">
          <a:blip r:embed="rId3">
            <a:alphaModFix/>
          </a:blip>
          <a:srcRect b="0" l="0" r="0" t="17205"/>
          <a:stretch/>
        </p:blipFill>
        <p:spPr>
          <a:xfrm>
            <a:off x="845825" y="2073700"/>
            <a:ext cx="2165250" cy="9083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2" name="Google Shape;282;p51"/>
          <p:cNvGraphicFramePr/>
          <p:nvPr/>
        </p:nvGraphicFramePr>
        <p:xfrm>
          <a:off x="952500" y="294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{0AF871BC-C372-408C-84D6-D3E6BC74DE80}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Outcome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Value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Probability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Expectation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=0.6 * 3 = $1.8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=0.3 * 10 = $3.33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=0.1 * 20 = $2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Expected Value = </a:t>
                      </a:r>
                      <a:r>
                        <a:rPr lang="en"/>
                        <a:t>$7.13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309563"/>
            <a:ext cx="7620000" cy="452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Probability Using Distributions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Variables</a:t>
            </a:r>
            <a:endParaRPr/>
          </a:p>
        </p:txBody>
      </p:sp>
      <p:sp>
        <p:nvSpPr>
          <p:cNvPr id="298" name="Google Shape;298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variables are variables that represent the outcomes of a random process or experiment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They assign a numerical value to each possible outcome of a random phenomenon, and its value depends on chance.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probability of a variable taking a certain value / range of values is given by its “probability distribution”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Discrete random variables distribution is given by a probability mass function, while continuous random variables are specified by a probability density function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Probability Distributions	</a:t>
            </a:r>
            <a:endParaRPr/>
          </a:p>
        </p:txBody>
      </p:sp>
      <p:pic>
        <p:nvPicPr>
          <p:cNvPr id="304" name="Google Shape;30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773575"/>
            <a:ext cx="3799275" cy="4137453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55"/>
          <p:cNvSpPr txBox="1"/>
          <p:nvPr/>
        </p:nvSpPr>
        <p:spPr>
          <a:xfrm>
            <a:off x="311700" y="1334700"/>
            <a:ext cx="37110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Probability distributions are mathematical formulas that specify the </a:t>
            </a:r>
            <a:r>
              <a:rPr lang="en" sz="1800">
                <a:solidFill>
                  <a:schemeClr val="dk2"/>
                </a:solidFill>
              </a:rPr>
              <a:t>likelihood</a:t>
            </a:r>
            <a:r>
              <a:rPr lang="en" sz="1800">
                <a:solidFill>
                  <a:schemeClr val="dk2"/>
                </a:solidFill>
              </a:rPr>
              <a:t> of a random variable taking on specific values given </a:t>
            </a:r>
            <a:r>
              <a:rPr lang="en" sz="1800">
                <a:solidFill>
                  <a:schemeClr val="dk2"/>
                </a:solidFill>
              </a:rPr>
              <a:t>specific</a:t>
            </a:r>
            <a:r>
              <a:rPr lang="en" sz="1800">
                <a:solidFill>
                  <a:schemeClr val="dk2"/>
                </a:solidFill>
              </a:rPr>
              <a:t> parameters.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06" name="Google Shape;306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325" y="3323800"/>
            <a:ext cx="3965525" cy="87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175" y="175226"/>
            <a:ext cx="7408524" cy="479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PDF vs CDF</a:t>
            </a:r>
            <a:endParaRPr/>
          </a:p>
        </p:txBody>
      </p:sp>
      <p:sp>
        <p:nvSpPr>
          <p:cNvPr id="317" name="Google Shape;317;p57"/>
          <p:cNvSpPr txBox="1"/>
          <p:nvPr>
            <p:ph idx="1" type="body"/>
          </p:nvPr>
        </p:nvSpPr>
        <p:spPr>
          <a:xfrm>
            <a:off x="311700" y="1152475"/>
            <a:ext cx="347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Probability Density Function: provides the likelihood of a random variable taking a range of values.  Area under curve sums to 1.  Height = Density.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Cumulative Density Function: shows the probability that random variable will take a value less than or equal to a </a:t>
            </a:r>
            <a:r>
              <a:rPr lang="en"/>
              <a:t>given</a:t>
            </a:r>
            <a:r>
              <a:rPr lang="en"/>
              <a:t> value.  Height = Probability</a:t>
            </a:r>
            <a:endParaRPr/>
          </a:p>
        </p:txBody>
      </p:sp>
      <p:pic>
        <p:nvPicPr>
          <p:cNvPr id="318" name="Google Shape;31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9900" y="796425"/>
            <a:ext cx="5049300" cy="243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0727" y="3299101"/>
            <a:ext cx="2803273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18788" y="3227298"/>
            <a:ext cx="1960425" cy="716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Probability Distributions</a:t>
            </a:r>
            <a:endParaRPr/>
          </a:p>
        </p:txBody>
      </p:sp>
      <p:sp>
        <p:nvSpPr>
          <p:cNvPr id="326" name="Google Shape;326;p5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Uniform, Normal, and Standardized Normal Distributions 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Uniform Distribution </a:t>
            </a:r>
            <a:endParaRPr/>
          </a:p>
        </p:txBody>
      </p:sp>
      <p:sp>
        <p:nvSpPr>
          <p:cNvPr id="332" name="Google Shape;332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value in the interval has an equal probability of </a:t>
            </a:r>
            <a:r>
              <a:rPr lang="en"/>
              <a:t>occurrence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= minimum value of distribution, B = maximum value of distribution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XL = minimum bound of interval, XH = maximum bound of interval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P(XL &lt; x &lt; XH) = (XH - XL) / (B - 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Mean = (A + B) / 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Max: 200, Min: 30…Mean = 115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P(100 &lt; x &lt; 150) = 50 / 170 = 29.4%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3" name="Google Shape;333;p59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8544" y="2356100"/>
            <a:ext cx="4280526" cy="2646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4" name="Google Shape;334;p59"/>
          <p:cNvCxnSpPr/>
          <p:nvPr/>
        </p:nvCxnSpPr>
        <p:spPr>
          <a:xfrm>
            <a:off x="6547250" y="3325975"/>
            <a:ext cx="0" cy="1242900"/>
          </a:xfrm>
          <a:prstGeom prst="straightConnector1">
            <a:avLst/>
          </a:prstGeom>
          <a:noFill/>
          <a:ln cap="flat" cmpd="sng" w="38100">
            <a:solidFill>
              <a:srgbClr val="FF33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59"/>
          <p:cNvCxnSpPr/>
          <p:nvPr/>
        </p:nvCxnSpPr>
        <p:spPr>
          <a:xfrm>
            <a:off x="7653325" y="3325975"/>
            <a:ext cx="0" cy="1242900"/>
          </a:xfrm>
          <a:prstGeom prst="straightConnector1">
            <a:avLst/>
          </a:prstGeom>
          <a:noFill/>
          <a:ln cap="flat" cmpd="sng" w="38100">
            <a:solidFill>
              <a:srgbClr val="FF33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59"/>
          <p:cNvCxnSpPr/>
          <p:nvPr/>
        </p:nvCxnSpPr>
        <p:spPr>
          <a:xfrm rot="10800000">
            <a:off x="6547050" y="4568975"/>
            <a:ext cx="1093200" cy="6600"/>
          </a:xfrm>
          <a:prstGeom prst="straightConnector1">
            <a:avLst/>
          </a:prstGeom>
          <a:noFill/>
          <a:ln cap="flat" cmpd="sng" w="38100">
            <a:solidFill>
              <a:srgbClr val="FF33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7" name="Google Shape;337;p59"/>
          <p:cNvSpPr txBox="1"/>
          <p:nvPr/>
        </p:nvSpPr>
        <p:spPr>
          <a:xfrm>
            <a:off x="6713250" y="2818200"/>
            <a:ext cx="76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3300"/>
                </a:solidFill>
              </a:rPr>
              <a:t>29.4%</a:t>
            </a:r>
            <a:endParaRPr sz="1500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Uniform Distribution Example</a:t>
            </a:r>
            <a:endParaRPr/>
          </a:p>
        </p:txBody>
      </p:sp>
      <p:sp>
        <p:nvSpPr>
          <p:cNvPr id="343" name="Google Shape;343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video game “spawns” an enemy in a random location along a 500 meter span of map.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 the probability that an enemy is spawned into the last 50 meters of the 500 meter map (so between meter 450 and 500)?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P(XL &lt; x &lt; XH) = (XH - XL) / (B - 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XL = 450, XH = 500, A = 0, B= 500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(500 - 450) / (500 - 0) = 50 / 500 = 10%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4" name="Google Shape;34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7450" y="2145500"/>
            <a:ext cx="1752600" cy="26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LLMs vs PRNGs</a:t>
            </a:r>
            <a:endParaRPr/>
          </a:p>
        </p:txBody>
      </p:sp>
      <p:sp>
        <p:nvSpPr>
          <p:cNvPr id="350" name="Google Shape;350;p61"/>
          <p:cNvSpPr txBox="1"/>
          <p:nvPr>
            <p:ph idx="1" type="body"/>
          </p:nvPr>
        </p:nvSpPr>
        <p:spPr>
          <a:xfrm>
            <a:off x="311700" y="1152475"/>
            <a:ext cx="292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Computers typically use pseudo-random number generators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True randomness can’t be </a:t>
            </a:r>
            <a:r>
              <a:rPr lang="en"/>
              <a:t>deterministically</a:t>
            </a:r>
            <a:r>
              <a:rPr lang="en"/>
              <a:t> programmed, but it can be faked pretty well using complex formulas and semi-random inputs (system clock, your seed selection, even lava lamps)!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LLMs, by contrast, generate “randomness” poorly as they are using the weighted average of their training sets and people aren’t random.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1" name="Google Shape;35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8200" y="1485300"/>
            <a:ext cx="5500698" cy="293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2"/>
          <p:cNvSpPr txBox="1"/>
          <p:nvPr>
            <p:ph type="title"/>
          </p:nvPr>
        </p:nvSpPr>
        <p:spPr>
          <a:xfrm>
            <a:off x="311700" y="104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Lava Lamps at Cloudflare HQ</a:t>
            </a:r>
            <a:endParaRPr/>
          </a:p>
        </p:txBody>
      </p:sp>
      <p:pic>
        <p:nvPicPr>
          <p:cNvPr id="357" name="Google Shape;35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375" y="768388"/>
            <a:ext cx="7439252" cy="4184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Normal Distribution</a:t>
            </a:r>
            <a:endParaRPr/>
          </a:p>
        </p:txBody>
      </p:sp>
      <p:sp>
        <p:nvSpPr>
          <p:cNvPr id="363" name="Google Shape;363;p63"/>
          <p:cNvSpPr txBox="1"/>
          <p:nvPr>
            <p:ph idx="1" type="body"/>
          </p:nvPr>
        </p:nvSpPr>
        <p:spPr>
          <a:xfrm>
            <a:off x="311700" y="1152475"/>
            <a:ext cx="402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Characteristics: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Centered on the mean value of the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Mean = Median = Mode = Peak of Curve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Symmetrical - 50% of the data are above the mean and 50% are below the mean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Width determined by the standard deviation of the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4" name="Google Shape;364;p63"/>
          <p:cNvPicPr preferRelativeResize="0"/>
          <p:nvPr/>
        </p:nvPicPr>
        <p:blipFill rotWithShape="1">
          <a:blip r:embed="rId3">
            <a:alphaModFix/>
          </a:blip>
          <a:srcRect b="13226" l="11021" r="9746" t="29569"/>
          <a:stretch/>
        </p:blipFill>
        <p:spPr>
          <a:xfrm>
            <a:off x="4483425" y="742175"/>
            <a:ext cx="4504874" cy="18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3100" y="3378050"/>
            <a:ext cx="3965525" cy="87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Normal Distribution</a:t>
            </a:r>
            <a:endParaRPr/>
          </a:p>
        </p:txBody>
      </p:sp>
      <p:sp>
        <p:nvSpPr>
          <p:cNvPr id="371" name="Google Shape;371;p64"/>
          <p:cNvSpPr txBox="1"/>
          <p:nvPr>
            <p:ph idx="1" type="body"/>
          </p:nvPr>
        </p:nvSpPr>
        <p:spPr>
          <a:xfrm>
            <a:off x="311700" y="1152475"/>
            <a:ext cx="2291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Distributions A and B have the same mean value, but A has a larger standard deviation than 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Distributions A and C have the same standard deviation, but C has a larger mean than A</a:t>
            </a:r>
            <a:endParaRPr/>
          </a:p>
        </p:txBody>
      </p:sp>
      <p:pic>
        <p:nvPicPr>
          <p:cNvPr id="372" name="Google Shape;37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0737" y="1028700"/>
            <a:ext cx="5978524" cy="3663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Your Data Normally Distributed?</a:t>
            </a:r>
            <a:endParaRPr/>
          </a:p>
        </p:txBody>
      </p:sp>
      <p:sp>
        <p:nvSpPr>
          <p:cNvPr id="378" name="Google Shape;378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the upcoming methodology to work correctly, the data you’re analyzing must be (roughly / approximately) normally distributed?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to tell if the data are normally distributed: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Histogram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Q-Q Plot*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Statistical test - </a:t>
            </a:r>
            <a:r>
              <a:rPr lang="en"/>
              <a:t>Shapiro-Wilk*</a:t>
            </a:r>
            <a:endParaRPr/>
          </a:p>
        </p:txBody>
      </p:sp>
      <p:pic>
        <p:nvPicPr>
          <p:cNvPr id="379" name="Google Shape;379;p65"/>
          <p:cNvPicPr preferRelativeResize="0"/>
          <p:nvPr/>
        </p:nvPicPr>
        <p:blipFill rotWithShape="1">
          <a:blip r:embed="rId3">
            <a:alphaModFix/>
          </a:blip>
          <a:srcRect b="0" l="0" r="49339" t="0"/>
          <a:stretch/>
        </p:blipFill>
        <p:spPr>
          <a:xfrm>
            <a:off x="4475675" y="2912025"/>
            <a:ext cx="3623350" cy="185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Q-Q Plots</a:t>
            </a:r>
            <a:endParaRPr/>
          </a:p>
        </p:txBody>
      </p:sp>
      <p:sp>
        <p:nvSpPr>
          <p:cNvPr id="385" name="Google Shape;385;p6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Q-Q plots compare the distribution of your data with a theoretical distribution of your choosing.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Your data’s distribution is shown on the Y-axis and the </a:t>
            </a:r>
            <a:r>
              <a:rPr lang="en"/>
              <a:t>theoretical</a:t>
            </a:r>
            <a:r>
              <a:rPr lang="en"/>
              <a:t> distribution is shown on the X-axis.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45 degree line runs across the plot diagonally.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Points will fall on the line to the extent that the actual data matches up with the theoretical distribution</a:t>
            </a:r>
            <a:endParaRPr/>
          </a:p>
        </p:txBody>
      </p:sp>
      <p:pic>
        <p:nvPicPr>
          <p:cNvPr id="386" name="Google Shape;386;p66"/>
          <p:cNvPicPr preferRelativeResize="0"/>
          <p:nvPr/>
        </p:nvPicPr>
        <p:blipFill rotWithShape="1">
          <a:blip r:embed="rId3">
            <a:alphaModFix/>
          </a:blip>
          <a:srcRect b="0" l="27440" r="48702" t="0"/>
          <a:stretch/>
        </p:blipFill>
        <p:spPr>
          <a:xfrm>
            <a:off x="5100500" y="400637"/>
            <a:ext cx="3000873" cy="4342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93" name="Google Shape;393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4771"/>
            <a:ext cx="9144003" cy="4513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Shapiro-Wilk</a:t>
            </a:r>
            <a:endParaRPr/>
          </a:p>
        </p:txBody>
      </p:sp>
      <p:sp>
        <p:nvSpPr>
          <p:cNvPr id="399" name="Google Shape;399;p6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H0: Normally Distributed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HA: Non-Normally Distributed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Alpha = 1 - Confidence Level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p-value is less than alpha, reject the null hypothesis that the data are normally distributed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May or may not be a valid procedure*</a:t>
            </a:r>
            <a:endParaRPr/>
          </a:p>
        </p:txBody>
      </p:sp>
      <p:pic>
        <p:nvPicPr>
          <p:cNvPr id="400" name="Google Shape;400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0196" y="917149"/>
            <a:ext cx="4653606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Standardized Normal Distribution</a:t>
            </a:r>
            <a:endParaRPr/>
          </a:p>
        </p:txBody>
      </p:sp>
      <p:sp>
        <p:nvSpPr>
          <p:cNvPr id="406" name="Google Shape;406;p69"/>
          <p:cNvSpPr txBox="1"/>
          <p:nvPr>
            <p:ph idx="1" type="body"/>
          </p:nvPr>
        </p:nvSpPr>
        <p:spPr>
          <a:xfrm>
            <a:off x="311700" y="1152475"/>
            <a:ext cx="5217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standardized normal distribution is a special case of the normal distribution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Mean = 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Standard Deviation =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Any normally distributed data can be converted to the standardized normal distribution using the Z formula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 = (X - Mean) / Standard Deviation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 = # of standard deviations away from the mean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Z is negative if below the mean and positive if above</a:t>
            </a:r>
            <a:endParaRPr/>
          </a:p>
        </p:txBody>
      </p:sp>
      <p:pic>
        <p:nvPicPr>
          <p:cNvPr id="407" name="Google Shape;40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4153" y="1849653"/>
            <a:ext cx="3018150" cy="1855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1776" y="503825"/>
            <a:ext cx="7075475" cy="434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	</a:t>
            </a:r>
            <a:endParaRPr/>
          </a:p>
        </p:txBody>
      </p:sp>
      <p:sp>
        <p:nvSpPr>
          <p:cNvPr id="418" name="Google Shape;418;p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 = (X - Mean) / Standard Deviation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we have a series with a mean of 50 and a standard deviation of 15, what is the Z value for the number 18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 = (18 - 50) / 15 = -1.77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Interpretation: 18 is 1.77 standard deviations below the mean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convert to the standardized normal distribution?</a:t>
            </a:r>
            <a:endParaRPr/>
          </a:p>
        </p:txBody>
      </p:sp>
      <p:sp>
        <p:nvSpPr>
          <p:cNvPr id="424" name="Google Shape;424;p72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So that we can use pre-calculated probabilities (area under the curve) from a Z table / statistics software!</a:t>
            </a:r>
            <a:endParaRPr/>
          </a:p>
        </p:txBody>
      </p:sp>
      <p:pic>
        <p:nvPicPr>
          <p:cNvPr descr="Z table negative" id="425" name="Google Shape;42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903" y="1682425"/>
            <a:ext cx="3203725" cy="3295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z table positive" id="426" name="Google Shape;426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6154" y="1682425"/>
            <a:ext cx="3154921" cy="3295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Probabilities Using Z - p(x&lt;X)</a:t>
            </a:r>
            <a:endParaRPr/>
          </a:p>
        </p:txBody>
      </p:sp>
      <p:sp>
        <p:nvSpPr>
          <p:cNvPr id="432" name="Google Shape;432;p73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Given normally distributed monthly sales data with a mean of 200 and a standard deviation of 15, what is the probability of selling less than 190 units on any given month?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 = (190-200)/15 = –0.66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descr="Z table negative" id="433" name="Google Shape;43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4926" y="333050"/>
            <a:ext cx="2395125" cy="2463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4" name="Google Shape;434;p73"/>
          <p:cNvCxnSpPr/>
          <p:nvPr/>
        </p:nvCxnSpPr>
        <p:spPr>
          <a:xfrm flipH="1" rot="10800000">
            <a:off x="3123575" y="2310950"/>
            <a:ext cx="4270500" cy="7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35" name="Google Shape;435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3765" y="2796625"/>
            <a:ext cx="2806761" cy="1996274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73"/>
          <p:cNvSpPr txBox="1"/>
          <p:nvPr/>
        </p:nvSpPr>
        <p:spPr>
          <a:xfrm>
            <a:off x="311700" y="34880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p(x&lt;190) = .2546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Probabilities Using Z - p(x&gt;X)</a:t>
            </a:r>
            <a:endParaRPr/>
          </a:p>
        </p:txBody>
      </p:sp>
      <p:sp>
        <p:nvSpPr>
          <p:cNvPr id="442" name="Google Shape;442;p7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Given normally distributed monthly sales data with a mean of 200 and a standard deviation of 15, what is the probability of selling more than 190 units on any given month?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 = (190-200)/15 = –0.66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descr="Z table negative" id="443" name="Google Shape;44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4926" y="333050"/>
            <a:ext cx="2395125" cy="2463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4" name="Google Shape;444;p74"/>
          <p:cNvCxnSpPr/>
          <p:nvPr/>
        </p:nvCxnSpPr>
        <p:spPr>
          <a:xfrm flipH="1" rot="10800000">
            <a:off x="3123575" y="2310950"/>
            <a:ext cx="4270500" cy="7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45" name="Google Shape;445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5075" y="3085250"/>
            <a:ext cx="2465340" cy="1753449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74"/>
          <p:cNvSpPr txBox="1"/>
          <p:nvPr/>
        </p:nvSpPr>
        <p:spPr>
          <a:xfrm>
            <a:off x="311700" y="3510025"/>
            <a:ext cx="30000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p(x&lt;190) = .2546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p(x&gt;190) = 1 - .2546 = .7454 = 74.54%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Probabilities Using Z - p(XL&lt;x&lt;XH)</a:t>
            </a:r>
            <a:endParaRPr/>
          </a:p>
        </p:txBody>
      </p:sp>
      <p:sp>
        <p:nvSpPr>
          <p:cNvPr id="452" name="Google Shape;452;p7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Given normally distributed monthly sales data with a mean of 200 and a standard deviation of 15, what is the probability of selling between 180 and 215?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 = (180-200)/15 = –1.33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p(&lt;180) = 0.0918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 = (215-200)/15 =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p(&lt;215) = 0.8413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= 74.95%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descr="Z table negative" id="453" name="Google Shape;45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6126" y="167625"/>
            <a:ext cx="2395125" cy="2463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4" name="Google Shape;454;p75"/>
          <p:cNvCxnSpPr/>
          <p:nvPr/>
        </p:nvCxnSpPr>
        <p:spPr>
          <a:xfrm flipH="1" rot="10800000">
            <a:off x="2111825" y="1696725"/>
            <a:ext cx="5222700" cy="127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z table positive" id="455" name="Google Shape;455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1948" y="2680750"/>
            <a:ext cx="2303478" cy="2405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6" name="Google Shape;456;p75"/>
          <p:cNvCxnSpPr/>
          <p:nvPr/>
        </p:nvCxnSpPr>
        <p:spPr>
          <a:xfrm flipH="1" rot="10800000">
            <a:off x="2210925" y="3490450"/>
            <a:ext cx="4449900" cy="35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57" name="Google Shape;457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5392" y="3808400"/>
            <a:ext cx="1797282" cy="127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X, Given the Probability</a:t>
            </a:r>
            <a:endParaRPr/>
          </a:p>
        </p:txBody>
      </p:sp>
      <p:sp>
        <p:nvSpPr>
          <p:cNvPr id="463" name="Google Shape;463;p7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90"/>
              <a:t>Z = (X - Mean) / Stdev</a:t>
            </a:r>
            <a:endParaRPr sz="129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90"/>
              <a:t>With a little algebra, we can solve for X</a:t>
            </a:r>
            <a:endParaRPr sz="129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90"/>
              <a:t>X = Mean + Z * Stdev</a:t>
            </a:r>
            <a:endParaRPr sz="129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29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90"/>
              <a:t>Given normally distributed data with a mean of 100 and standard deviation of 15, what value of X will be greater than 40% of the data</a:t>
            </a:r>
            <a:endParaRPr sz="129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90"/>
              <a:t>Find 40% in the table = Z = -.25</a:t>
            </a:r>
            <a:endParaRPr sz="129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90"/>
              <a:t>X = 100 -.25*15</a:t>
            </a:r>
            <a:endParaRPr sz="129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90"/>
              <a:t>X = 100 - 3.75</a:t>
            </a:r>
            <a:endParaRPr sz="129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90"/>
              <a:t>X = 96.25</a:t>
            </a:r>
            <a:endParaRPr sz="129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990"/>
          </a:p>
        </p:txBody>
      </p:sp>
      <p:pic>
        <p:nvPicPr>
          <p:cNvPr descr="Z table negative" id="464" name="Google Shape;464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1900" y="1213051"/>
            <a:ext cx="3473450" cy="3572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 Distribution in Excel</a:t>
            </a:r>
            <a:endParaRPr/>
          </a:p>
        </p:txBody>
      </p:sp>
      <p:sp>
        <p:nvSpPr>
          <p:cNvPr id="470" name="Google Shape;470;p7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=standardize(x, mean, stdev) to find Z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=norm.dist(x, mean, stdev, TRUE) for &lt;=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=1 - norm.dist(x, mean, stdev, TRUE) for 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=</a:t>
            </a:r>
            <a:r>
              <a:rPr lang="en"/>
              <a:t>norm.dist(XH, mean, stdev, TRUE) - norm.dist(XL, mean, stdev, TRUE) for XL&lt;x&lt;XH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To generate random normally distributed data, =norm.inv(rand(),mean,stdev)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To generate uniformly distributed data =rand() or =randbetween(low, high)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Problems</a:t>
            </a:r>
            <a:endParaRPr/>
          </a:p>
        </p:txBody>
      </p:sp>
      <p:sp>
        <p:nvSpPr>
          <p:cNvPr id="476" name="Google Shape;476;p7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IQ has a mean of 100 and a standard deviation of 15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 the probability of having an IQ greater than 140?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Female height has a mean of 64.5 inches and a standard deviation of 2.5 inches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 the probability of a woman being shorter than 60 inches?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Monthly sales have a mean of 500 and a standard deviation of 125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 the probability of selling between 300 and 400 units next month?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7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Discrete Probability Distributions</a:t>
            </a:r>
            <a:endParaRPr/>
          </a:p>
        </p:txBody>
      </p:sp>
      <p:sp>
        <p:nvSpPr>
          <p:cNvPr id="482" name="Google Shape;482;p7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Binomial and Poisson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Discrete vs Continuous </a:t>
            </a:r>
            <a:endParaRPr/>
          </a:p>
        </p:txBody>
      </p:sp>
      <p:sp>
        <p:nvSpPr>
          <p:cNvPr id="488" name="Google Shape;488;p80"/>
          <p:cNvSpPr txBox="1"/>
          <p:nvPr>
            <p:ph idx="1" type="body"/>
          </p:nvPr>
        </p:nvSpPr>
        <p:spPr>
          <a:xfrm>
            <a:off x="311700" y="1152475"/>
            <a:ext cx="8472300" cy="8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Discrete only takes on whole number values and is typically a count.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Continuous</a:t>
            </a:r>
            <a:r>
              <a:rPr lang="en"/>
              <a:t> takes any value within an interval and is typically a measure.</a:t>
            </a:r>
            <a:endParaRPr/>
          </a:p>
        </p:txBody>
      </p:sp>
      <p:pic>
        <p:nvPicPr>
          <p:cNvPr id="489" name="Google Shape;48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5225" y="2198450"/>
            <a:ext cx="6713175" cy="282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Factorials!</a:t>
            </a:r>
            <a:endParaRPr/>
          </a:p>
        </p:txBody>
      </p:sp>
      <p:sp>
        <p:nvSpPr>
          <p:cNvPr id="495" name="Google Shape;495;p8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The factorial of a number is the product of that  number multiplied by all of the positive integers below it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n! = n * (n-1) * (n-2)...3 * 2 * 1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5! = 5 x 4 x 3 x 2 x 1 = 120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1! = 1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0! = 1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Combinations</a:t>
            </a:r>
            <a:endParaRPr/>
          </a:p>
        </p:txBody>
      </p:sp>
      <p:sp>
        <p:nvSpPr>
          <p:cNvPr id="501" name="Google Shape;501;p82"/>
          <p:cNvSpPr txBox="1"/>
          <p:nvPr>
            <p:ph idx="1" type="body"/>
          </p:nvPr>
        </p:nvSpPr>
        <p:spPr>
          <a:xfrm>
            <a:off x="311700" y="1152475"/>
            <a:ext cx="4177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965"/>
              <a:t>How many groups of k size can be made from a set of n items?</a:t>
            </a:r>
            <a:endParaRPr sz="19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965"/>
              <a:t>How many ways can 5 cards be drawn from a deck of 52?</a:t>
            </a:r>
            <a:endParaRPr sz="19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965"/>
              <a:t>52! / 5!*47!...</a:t>
            </a:r>
            <a:endParaRPr sz="19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9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965"/>
              <a:t>Use a calculator / computer!</a:t>
            </a:r>
            <a:endParaRPr sz="19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965"/>
              <a:t>=2,598,960</a:t>
            </a:r>
            <a:endParaRPr sz="19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665"/>
          </a:p>
        </p:txBody>
      </p:sp>
      <p:pic>
        <p:nvPicPr>
          <p:cNvPr id="502" name="Google Shape;502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2064" y="2296319"/>
            <a:ext cx="3257586" cy="11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Binomial Probability Formula</a:t>
            </a:r>
            <a:endParaRPr/>
          </a:p>
        </p:txBody>
      </p:sp>
      <p:sp>
        <p:nvSpPr>
          <p:cNvPr id="508" name="Google Shape;508;p83"/>
          <p:cNvSpPr txBox="1"/>
          <p:nvPr>
            <p:ph idx="1" type="body"/>
          </p:nvPr>
        </p:nvSpPr>
        <p:spPr>
          <a:xfrm>
            <a:off x="711650" y="3222175"/>
            <a:ext cx="6463800" cy="20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 = number of events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 = number of successes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pi = probability of success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509" name="Google Shape;509;p83"/>
          <p:cNvCxnSpPr/>
          <p:nvPr/>
        </p:nvCxnSpPr>
        <p:spPr>
          <a:xfrm>
            <a:off x="4094162" y="2127250"/>
            <a:ext cx="15303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10" name="Google Shape;510;p83"/>
          <p:cNvSpPr txBox="1"/>
          <p:nvPr/>
        </p:nvSpPr>
        <p:spPr>
          <a:xfrm>
            <a:off x="1219200" y="1828800"/>
            <a:ext cx="22956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P(X=x |n,π)</a:t>
            </a:r>
            <a:endParaRPr/>
          </a:p>
        </p:txBody>
      </p:sp>
      <p:sp>
        <p:nvSpPr>
          <p:cNvPr id="511" name="Google Shape;511;p83"/>
          <p:cNvSpPr txBox="1"/>
          <p:nvPr/>
        </p:nvSpPr>
        <p:spPr>
          <a:xfrm>
            <a:off x="4648200" y="1524000"/>
            <a:ext cx="4065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512" name="Google Shape;512;p83"/>
          <p:cNvSpPr txBox="1"/>
          <p:nvPr/>
        </p:nvSpPr>
        <p:spPr>
          <a:xfrm>
            <a:off x="3859212" y="2127250"/>
            <a:ext cx="5016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x!</a:t>
            </a:r>
            <a:endParaRPr/>
          </a:p>
        </p:txBody>
      </p:sp>
      <p:sp>
        <p:nvSpPr>
          <p:cNvPr id="513" name="Google Shape;513;p83"/>
          <p:cNvSpPr txBox="1"/>
          <p:nvPr/>
        </p:nvSpPr>
        <p:spPr>
          <a:xfrm>
            <a:off x="4532312" y="2143125"/>
            <a:ext cx="4065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514" name="Google Shape;514;p83"/>
          <p:cNvSpPr txBox="1"/>
          <p:nvPr/>
        </p:nvSpPr>
        <p:spPr>
          <a:xfrm>
            <a:off x="5184775" y="2143125"/>
            <a:ext cx="3873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515" name="Google Shape;515;p83"/>
          <p:cNvSpPr txBox="1"/>
          <p:nvPr/>
        </p:nvSpPr>
        <p:spPr>
          <a:xfrm>
            <a:off x="5791200" y="1828800"/>
            <a:ext cx="4620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π</a:t>
            </a:r>
            <a:endParaRPr/>
          </a:p>
        </p:txBody>
      </p:sp>
      <p:sp>
        <p:nvSpPr>
          <p:cNvPr id="516" name="Google Shape;516;p83"/>
          <p:cNvSpPr txBox="1"/>
          <p:nvPr/>
        </p:nvSpPr>
        <p:spPr>
          <a:xfrm>
            <a:off x="6324600" y="1828800"/>
            <a:ext cx="15303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(1-</a:t>
            </a:r>
            <a:r>
              <a:rPr b="0" i="0" lang="en" sz="320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π</a:t>
            </a: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517" name="Google Shape;517;p83"/>
          <p:cNvSpPr txBox="1"/>
          <p:nvPr/>
        </p:nvSpPr>
        <p:spPr>
          <a:xfrm>
            <a:off x="6057900" y="1736725"/>
            <a:ext cx="3699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518" name="Google Shape;518;p83"/>
          <p:cNvSpPr txBox="1"/>
          <p:nvPr/>
        </p:nvSpPr>
        <p:spPr>
          <a:xfrm>
            <a:off x="7175500" y="1752600"/>
            <a:ext cx="3525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2200"/>
              <a:buFont typeface="Arial"/>
              <a:buNone/>
            </a:pPr>
            <a:r>
              <a:rPr b="1" i="0" lang="en" sz="2200" u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519" name="Google Shape;519;p83"/>
          <p:cNvSpPr txBox="1"/>
          <p:nvPr/>
        </p:nvSpPr>
        <p:spPr>
          <a:xfrm>
            <a:off x="7634287" y="1730375"/>
            <a:ext cx="3396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520" name="Google Shape;520;p83"/>
          <p:cNvSpPr txBox="1"/>
          <p:nvPr/>
        </p:nvSpPr>
        <p:spPr>
          <a:xfrm>
            <a:off x="4903787" y="1524000"/>
            <a:ext cx="293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/>
          </a:p>
        </p:txBody>
      </p:sp>
      <p:sp>
        <p:nvSpPr>
          <p:cNvPr id="521" name="Google Shape;521;p83"/>
          <p:cNvSpPr txBox="1"/>
          <p:nvPr/>
        </p:nvSpPr>
        <p:spPr>
          <a:xfrm>
            <a:off x="4392612" y="2127250"/>
            <a:ext cx="3159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endParaRPr/>
          </a:p>
        </p:txBody>
      </p:sp>
      <p:sp>
        <p:nvSpPr>
          <p:cNvPr id="522" name="Google Shape;522;p83"/>
          <p:cNvSpPr txBox="1"/>
          <p:nvPr/>
        </p:nvSpPr>
        <p:spPr>
          <a:xfrm>
            <a:off x="5459412" y="2127250"/>
            <a:ext cx="3159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523" name="Google Shape;523;p83"/>
          <p:cNvSpPr txBox="1"/>
          <p:nvPr/>
        </p:nvSpPr>
        <p:spPr>
          <a:xfrm>
            <a:off x="5602287" y="2160587"/>
            <a:ext cx="293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/>
          </a:p>
        </p:txBody>
      </p:sp>
      <p:sp>
        <p:nvSpPr>
          <p:cNvPr id="524" name="Google Shape;524;p83"/>
          <p:cNvSpPr txBox="1"/>
          <p:nvPr/>
        </p:nvSpPr>
        <p:spPr>
          <a:xfrm>
            <a:off x="3352800" y="1828800"/>
            <a:ext cx="404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None/>
            </a:pPr>
            <a:r>
              <a:rPr b="1" i="0" lang="en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endParaRPr/>
          </a:p>
        </p:txBody>
      </p:sp>
      <p:sp>
        <p:nvSpPr>
          <p:cNvPr id="525" name="Google Shape;525;p83"/>
          <p:cNvSpPr txBox="1"/>
          <p:nvPr/>
        </p:nvSpPr>
        <p:spPr>
          <a:xfrm>
            <a:off x="4849812" y="2127250"/>
            <a:ext cx="404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None/>
            </a:pPr>
            <a:r>
              <a:rPr b="0" i="0" lang="en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endParaRPr/>
          </a:p>
        </p:txBody>
      </p:sp>
      <p:sp>
        <p:nvSpPr>
          <p:cNvPr id="526" name="Google Shape;526;p83"/>
          <p:cNvSpPr txBox="1"/>
          <p:nvPr/>
        </p:nvSpPr>
        <p:spPr>
          <a:xfrm>
            <a:off x="7405687" y="1730375"/>
            <a:ext cx="3810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None/>
            </a:pPr>
            <a:r>
              <a:rPr b="1" i="0" lang="en" sz="2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Binomial Probability </a:t>
            </a:r>
            <a:endParaRPr/>
          </a:p>
        </p:txBody>
      </p:sp>
      <p:sp>
        <p:nvSpPr>
          <p:cNvPr id="532" name="Google Shape;532;p8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to calculate probability of getting a fixed number of successful outcomes in a fixed number of independent trials where each trial has only two possible outcomes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Answers: “What is the probability of x successes in n trials?”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Assumes:</a:t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A fixed number of trials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Outcomes are binary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Probability of </a:t>
            </a:r>
            <a:r>
              <a:rPr lang="en"/>
              <a:t>success</a:t>
            </a:r>
            <a:r>
              <a:rPr lang="en"/>
              <a:t> is constant across trials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Trials are independent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Trials are identical</a:t>
            </a:r>
            <a:endParaRPr/>
          </a:p>
        </p:txBody>
      </p:sp>
      <p:sp>
        <p:nvSpPr>
          <p:cNvPr id="533" name="Google Shape;533;p84"/>
          <p:cNvSpPr txBox="1"/>
          <p:nvPr/>
        </p:nvSpPr>
        <p:spPr>
          <a:xfrm>
            <a:off x="4762400" y="1152475"/>
            <a:ext cx="42603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Could be used to estimate  the probabilities of: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 certain number of customers purchasing a car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 certain number of defaults in a portfolio of loans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 certain number of defective products in a production process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 certain number of successful treatments of sick patients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Google Shape;538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0243" y="0"/>
            <a:ext cx="670511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619" y="0"/>
            <a:ext cx="809676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Binomial Probability</a:t>
            </a:r>
            <a:endParaRPr/>
          </a:p>
        </p:txBody>
      </p:sp>
      <p:sp>
        <p:nvSpPr>
          <p:cNvPr id="549" name="Google Shape;549;p87"/>
          <p:cNvSpPr txBox="1"/>
          <p:nvPr>
            <p:ph idx="1" type="body"/>
          </p:nvPr>
        </p:nvSpPr>
        <p:spPr>
          <a:xfrm>
            <a:off x="711650" y="3222175"/>
            <a:ext cx="7827000" cy="20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probability of getting two heads in a series of five coin flips?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 =5, x = 2, pi = 0.5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550" name="Google Shape;550;p87"/>
          <p:cNvCxnSpPr/>
          <p:nvPr/>
        </p:nvCxnSpPr>
        <p:spPr>
          <a:xfrm>
            <a:off x="4094162" y="2127250"/>
            <a:ext cx="15303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51" name="Google Shape;551;p87"/>
          <p:cNvSpPr txBox="1"/>
          <p:nvPr/>
        </p:nvSpPr>
        <p:spPr>
          <a:xfrm>
            <a:off x="1219200" y="1828800"/>
            <a:ext cx="22956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P(X=x |n,π)</a:t>
            </a:r>
            <a:endParaRPr/>
          </a:p>
        </p:txBody>
      </p:sp>
      <p:sp>
        <p:nvSpPr>
          <p:cNvPr id="552" name="Google Shape;552;p87"/>
          <p:cNvSpPr txBox="1"/>
          <p:nvPr/>
        </p:nvSpPr>
        <p:spPr>
          <a:xfrm>
            <a:off x="4648200" y="1524000"/>
            <a:ext cx="4065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553" name="Google Shape;553;p87"/>
          <p:cNvSpPr txBox="1"/>
          <p:nvPr/>
        </p:nvSpPr>
        <p:spPr>
          <a:xfrm>
            <a:off x="3859212" y="2127250"/>
            <a:ext cx="5016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x!</a:t>
            </a:r>
            <a:endParaRPr/>
          </a:p>
        </p:txBody>
      </p:sp>
      <p:sp>
        <p:nvSpPr>
          <p:cNvPr id="554" name="Google Shape;554;p87"/>
          <p:cNvSpPr txBox="1"/>
          <p:nvPr/>
        </p:nvSpPr>
        <p:spPr>
          <a:xfrm>
            <a:off x="4532312" y="2143125"/>
            <a:ext cx="4065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555" name="Google Shape;555;p87"/>
          <p:cNvSpPr txBox="1"/>
          <p:nvPr/>
        </p:nvSpPr>
        <p:spPr>
          <a:xfrm>
            <a:off x="5184775" y="2143125"/>
            <a:ext cx="3873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556" name="Google Shape;556;p87"/>
          <p:cNvSpPr txBox="1"/>
          <p:nvPr/>
        </p:nvSpPr>
        <p:spPr>
          <a:xfrm>
            <a:off x="5791200" y="1828800"/>
            <a:ext cx="4620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π</a:t>
            </a:r>
            <a:endParaRPr/>
          </a:p>
        </p:txBody>
      </p:sp>
      <p:sp>
        <p:nvSpPr>
          <p:cNvPr id="557" name="Google Shape;557;p87"/>
          <p:cNvSpPr txBox="1"/>
          <p:nvPr/>
        </p:nvSpPr>
        <p:spPr>
          <a:xfrm>
            <a:off x="6324600" y="1828800"/>
            <a:ext cx="15303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(1-</a:t>
            </a:r>
            <a:r>
              <a:rPr b="0" i="0" lang="en" sz="320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π</a:t>
            </a: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558" name="Google Shape;558;p87"/>
          <p:cNvSpPr txBox="1"/>
          <p:nvPr/>
        </p:nvSpPr>
        <p:spPr>
          <a:xfrm>
            <a:off x="6057900" y="1736725"/>
            <a:ext cx="3699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559" name="Google Shape;559;p87"/>
          <p:cNvSpPr txBox="1"/>
          <p:nvPr/>
        </p:nvSpPr>
        <p:spPr>
          <a:xfrm>
            <a:off x="7175500" y="1752600"/>
            <a:ext cx="3525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2200"/>
              <a:buFont typeface="Arial"/>
              <a:buNone/>
            </a:pPr>
            <a:r>
              <a:rPr b="1" i="0" lang="en" sz="2200" u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560" name="Google Shape;560;p87"/>
          <p:cNvSpPr txBox="1"/>
          <p:nvPr/>
        </p:nvSpPr>
        <p:spPr>
          <a:xfrm>
            <a:off x="7634287" y="1730375"/>
            <a:ext cx="3396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561" name="Google Shape;561;p87"/>
          <p:cNvSpPr txBox="1"/>
          <p:nvPr/>
        </p:nvSpPr>
        <p:spPr>
          <a:xfrm>
            <a:off x="4903787" y="1524000"/>
            <a:ext cx="293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/>
          </a:p>
        </p:txBody>
      </p:sp>
      <p:sp>
        <p:nvSpPr>
          <p:cNvPr id="562" name="Google Shape;562;p87"/>
          <p:cNvSpPr txBox="1"/>
          <p:nvPr/>
        </p:nvSpPr>
        <p:spPr>
          <a:xfrm>
            <a:off x="4392612" y="2127250"/>
            <a:ext cx="3159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endParaRPr/>
          </a:p>
        </p:txBody>
      </p:sp>
      <p:sp>
        <p:nvSpPr>
          <p:cNvPr id="563" name="Google Shape;563;p87"/>
          <p:cNvSpPr txBox="1"/>
          <p:nvPr/>
        </p:nvSpPr>
        <p:spPr>
          <a:xfrm>
            <a:off x="5459412" y="2127250"/>
            <a:ext cx="3159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564" name="Google Shape;564;p87"/>
          <p:cNvSpPr txBox="1"/>
          <p:nvPr/>
        </p:nvSpPr>
        <p:spPr>
          <a:xfrm>
            <a:off x="5602287" y="2160587"/>
            <a:ext cx="293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/>
          </a:p>
        </p:txBody>
      </p:sp>
      <p:sp>
        <p:nvSpPr>
          <p:cNvPr id="565" name="Google Shape;565;p87"/>
          <p:cNvSpPr txBox="1"/>
          <p:nvPr/>
        </p:nvSpPr>
        <p:spPr>
          <a:xfrm>
            <a:off x="3352800" y="1828800"/>
            <a:ext cx="404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None/>
            </a:pPr>
            <a:r>
              <a:rPr b="1" i="0" lang="en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endParaRPr/>
          </a:p>
        </p:txBody>
      </p:sp>
      <p:sp>
        <p:nvSpPr>
          <p:cNvPr id="566" name="Google Shape;566;p87"/>
          <p:cNvSpPr txBox="1"/>
          <p:nvPr/>
        </p:nvSpPr>
        <p:spPr>
          <a:xfrm>
            <a:off x="4849812" y="2127250"/>
            <a:ext cx="404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None/>
            </a:pPr>
            <a:r>
              <a:rPr b="0" i="0" lang="en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endParaRPr/>
          </a:p>
        </p:txBody>
      </p:sp>
      <p:sp>
        <p:nvSpPr>
          <p:cNvPr id="567" name="Google Shape;567;p87"/>
          <p:cNvSpPr txBox="1"/>
          <p:nvPr/>
        </p:nvSpPr>
        <p:spPr>
          <a:xfrm>
            <a:off x="7405687" y="1730375"/>
            <a:ext cx="3810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None/>
            </a:pPr>
            <a:r>
              <a:rPr b="1" i="0" lang="en" sz="2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Binomial in Excel</a:t>
            </a:r>
            <a:endParaRPr/>
          </a:p>
        </p:txBody>
      </p:sp>
      <p:sp>
        <p:nvSpPr>
          <p:cNvPr id="573" name="Google Shape;573;p8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=binom.dist(x, # of trials, probability of success, False) for specific values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=binom.dist(x, # of trials, probability of success,True) for &lt;=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=1 - binom.dist(x, # of trials, probability of success, True) for 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1752" y="739525"/>
            <a:ext cx="6008402" cy="3816874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89"/>
          <p:cNvSpPr txBox="1"/>
          <p:nvPr>
            <p:ph idx="1" type="body"/>
          </p:nvPr>
        </p:nvSpPr>
        <p:spPr>
          <a:xfrm>
            <a:off x="87050" y="601950"/>
            <a:ext cx="3212100" cy="3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probability of getting two heads in a series of 5 coin flips?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 =5, x = 2, pi = 0.5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= 0.312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p(x&lt;2)?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p(0) + p(1)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0.031 + 0.156 = 0.187 = 18.7%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p(x&gt;=2)?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1 - 0.187 = .813 = 81.3%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580" name="Google Shape;580;p89"/>
          <p:cNvCxnSpPr/>
          <p:nvPr/>
        </p:nvCxnSpPr>
        <p:spPr>
          <a:xfrm>
            <a:off x="2349650" y="2038500"/>
            <a:ext cx="3972300" cy="104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Binomial Probability Problems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9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Given a 10% chance of default and 6 loans, what is the probability of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 defaults (=): Calculate p(5)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Less than 5 defaults (&lt;):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Calculate p(0) + p(1) + p(2) + p(3) + p(4)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 of less defaults (&lt;=):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Calculate p(0) + p(1) + p(2) + p(3) + p(4) + p(5)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More than 5 defaults (&gt;):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Calculate 1 - [p(0) + p(1) + p(2) + p(3) + p(4) + p(5)]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5 or more defaults (&gt;=):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Calculate 1 - [p(0) + p(1) + p(2) + p(3) + p(4)] </a:t>
            </a:r>
            <a:endParaRPr/>
          </a:p>
        </p:txBody>
      </p:sp>
      <p:pic>
        <p:nvPicPr>
          <p:cNvPr id="587" name="Google Shape;587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1375" y="1665350"/>
            <a:ext cx="3785049" cy="2903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Problems</a:t>
            </a:r>
            <a:endParaRPr/>
          </a:p>
        </p:txBody>
      </p:sp>
      <p:sp>
        <p:nvSpPr>
          <p:cNvPr id="593" name="Google Shape;593;p9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You’re an attorney with a client facing seven charges.  There is a one percent chance of conviction for each charge.  What is the probability that your client will face at least one conviction?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P(1) + P(2) + P(3) + P(4) + P(5) + P(6) + P(7)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</a:t>
            </a:r>
            <a:r>
              <a:rPr lang="en"/>
              <a:t>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1 - P(0)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= 6.7%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Binomial Distribution Statistics</a:t>
            </a:r>
            <a:endParaRPr/>
          </a:p>
        </p:txBody>
      </p:sp>
      <p:sp>
        <p:nvSpPr>
          <p:cNvPr id="599" name="Google Shape;599;p9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r>
              <a:rPr lang="en"/>
              <a:t> = number of trials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 = probability of success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</a:t>
            </a:r>
            <a:r>
              <a:rPr lang="en"/>
              <a:t>ean = n * 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</a:t>
            </a:r>
            <a:r>
              <a:rPr lang="en"/>
              <a:t>tandard deviation = sqrt(n*p*(1-p))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Poisson Probability</a:t>
            </a:r>
            <a:endParaRPr/>
          </a:p>
        </p:txBody>
      </p:sp>
      <p:sp>
        <p:nvSpPr>
          <p:cNvPr id="605" name="Google Shape;605;p93"/>
          <p:cNvSpPr txBox="1"/>
          <p:nvPr>
            <p:ph idx="1" type="body"/>
          </p:nvPr>
        </p:nvSpPr>
        <p:spPr>
          <a:xfrm>
            <a:off x="311700" y="1152475"/>
            <a:ext cx="412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to calculate the probability of a given number of events occurring in a given interval of time or space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Answers: “What is the probability that an event happens x times in a given amount of time or space?”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Assumes: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Events are independent (no clustering)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Average rate is constant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Probability of two events occurring at the </a:t>
            </a:r>
            <a:r>
              <a:rPr i="1" lang="en"/>
              <a:t>exact</a:t>
            </a:r>
            <a:r>
              <a:rPr lang="en"/>
              <a:t> same time = 0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Mean = Variance*</a:t>
            </a:r>
            <a:endParaRPr/>
          </a:p>
        </p:txBody>
      </p:sp>
      <p:sp>
        <p:nvSpPr>
          <p:cNvPr id="606" name="Google Shape;606;p93"/>
          <p:cNvSpPr txBox="1"/>
          <p:nvPr/>
        </p:nvSpPr>
        <p:spPr>
          <a:xfrm>
            <a:off x="4572000" y="994800"/>
            <a:ext cx="4123500" cy="29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Could be used for estimating the probabilities of a certain number of: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Customers entering a store per hour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Phone calls received by a call center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Employees calling in sick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Potholes in a given length (x width = area) of road.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7" name="Google Shape;607;p93"/>
          <p:cNvSpPr txBox="1"/>
          <p:nvPr/>
        </p:nvSpPr>
        <p:spPr>
          <a:xfrm>
            <a:off x="2185825" y="4480925"/>
            <a:ext cx="53187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Unlike binomial, poisson does not require a fixed number of trials.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Poisson Probability Formula</a:t>
            </a:r>
            <a:endParaRPr/>
          </a:p>
        </p:txBody>
      </p:sp>
      <p:pic>
        <p:nvPicPr>
          <p:cNvPr id="613" name="Google Shape;613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1838" y="1294366"/>
            <a:ext cx="6020325" cy="3398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Google Shape;618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1551" y="0"/>
            <a:ext cx="69408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96"/>
          <p:cNvSpPr txBox="1"/>
          <p:nvPr>
            <p:ph idx="1" type="body"/>
          </p:nvPr>
        </p:nvSpPr>
        <p:spPr>
          <a:xfrm>
            <a:off x="252775" y="364600"/>
            <a:ext cx="4208100" cy="44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Poisson Distribution Table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Non-Cumulative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(Many pages omitted)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Average number of calls in an hour is 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 p(x=4)?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Find lambda = 3 and x = 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.1680 = 16.8%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 p(x&lt;4)?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p(0) + p(1) + p(2)  + p(3)  = .0498 + .1494 + .2240 + .2240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=.6472 = 64.72%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 p(x&gt;=4)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= 1 - 0.6472 = .3528 or 35.28%</a:t>
            </a:r>
            <a:endParaRPr/>
          </a:p>
        </p:txBody>
      </p:sp>
      <p:pic>
        <p:nvPicPr>
          <p:cNvPr id="624" name="Google Shape;624;p96"/>
          <p:cNvPicPr preferRelativeResize="0"/>
          <p:nvPr/>
        </p:nvPicPr>
        <p:blipFill rotWithShape="1">
          <a:blip r:embed="rId3">
            <a:alphaModFix/>
          </a:blip>
          <a:srcRect b="0" l="22929" r="0" t="0"/>
          <a:stretch/>
        </p:blipFill>
        <p:spPr>
          <a:xfrm>
            <a:off x="4572000" y="0"/>
            <a:ext cx="4528474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5" name="Google Shape;625;p96"/>
          <p:cNvCxnSpPr/>
          <p:nvPr/>
        </p:nvCxnSpPr>
        <p:spPr>
          <a:xfrm>
            <a:off x="1257850" y="2908500"/>
            <a:ext cx="7345200" cy="115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97"/>
          <p:cNvSpPr txBox="1"/>
          <p:nvPr>
            <p:ph idx="1" type="body"/>
          </p:nvPr>
        </p:nvSpPr>
        <p:spPr>
          <a:xfrm>
            <a:off x="311700" y="252175"/>
            <a:ext cx="3106500" cy="43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Poisson Distribution Table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/>
              <a:t>Cumulative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(Many pages omitted)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Average number of calls per hour is 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What is p(x&lt;4)?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Find lambda = 3 and x = 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0.6472 or 64.72%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 p(x&gt;4)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1-.6472 =  .3528 = 35.28%</a:t>
            </a:r>
            <a:endParaRPr/>
          </a:p>
        </p:txBody>
      </p:sp>
      <p:pic>
        <p:nvPicPr>
          <p:cNvPr id="631" name="Google Shape;631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8049" y="916350"/>
            <a:ext cx="4928226" cy="3652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2" name="Google Shape;632;p97"/>
          <p:cNvCxnSpPr/>
          <p:nvPr/>
        </p:nvCxnSpPr>
        <p:spPr>
          <a:xfrm flipH="1" rot="10800000">
            <a:off x="1994325" y="3193150"/>
            <a:ext cx="3976800" cy="19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Poisson Probability</a:t>
            </a:r>
            <a:endParaRPr/>
          </a:p>
        </p:txBody>
      </p:sp>
      <p:pic>
        <p:nvPicPr>
          <p:cNvPr id="638" name="Google Shape;638;p98"/>
          <p:cNvPicPr preferRelativeResize="0"/>
          <p:nvPr/>
        </p:nvPicPr>
        <p:blipFill rotWithShape="1">
          <a:blip r:embed="rId3">
            <a:alphaModFix/>
          </a:blip>
          <a:srcRect b="45534" l="0" r="0" t="0"/>
          <a:stretch/>
        </p:blipFill>
        <p:spPr>
          <a:xfrm>
            <a:off x="1561850" y="1294371"/>
            <a:ext cx="6020300" cy="1851276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98"/>
          <p:cNvSpPr txBox="1"/>
          <p:nvPr>
            <p:ph idx="1" type="body"/>
          </p:nvPr>
        </p:nvSpPr>
        <p:spPr>
          <a:xfrm>
            <a:off x="311700" y="3246975"/>
            <a:ext cx="8378700" cy="13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is the probability of getting 10 calls in an hour if the average hourly call rate is 5?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9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Poisson Probability Problems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9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Given an average of 10 customers per hour, what is the probability you’ll have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 customers (=): Calculate p(5)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Less than 5 customers (&lt;):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Calculate p(0) + p(1) + p(2) + p(3) + p(4)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 of less customers (&lt;=):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Calculate p(0) + p(1) + p(2) + p(3) + p(4) + p(5)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More than 5 customers (&gt;):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Calculate 1 - [p(0) + p(1) + p(2) + p(3) + p(4) + p(5)]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5 of more customers (&gt;=):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Calculate 1 - [p(0) + p(1) + p(2) + p(3) + p(4)] </a:t>
            </a:r>
            <a:endParaRPr/>
          </a:p>
        </p:txBody>
      </p:sp>
      <p:pic>
        <p:nvPicPr>
          <p:cNvPr id="646" name="Google Shape;646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578525"/>
            <a:ext cx="4342174" cy="3217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0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Poisson In Excel</a:t>
            </a:r>
            <a:endParaRPr/>
          </a:p>
        </p:txBody>
      </p:sp>
      <p:sp>
        <p:nvSpPr>
          <p:cNvPr id="652" name="Google Shape;652;p10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=poisson.dist(x, mean, False) for specific values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=poisson.dist(x, mean, True) for &lt;=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=1 - poisson.dist(x, mean, True) for 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0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Mean =/= Variance?!</a:t>
            </a:r>
            <a:endParaRPr/>
          </a:p>
        </p:txBody>
      </p:sp>
      <p:sp>
        <p:nvSpPr>
          <p:cNvPr id="658" name="Google Shape;658;p10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variance &gt; mean = </a:t>
            </a:r>
            <a:r>
              <a:rPr lang="en"/>
              <a:t>overdispersion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negative binomial distribution or generalized poisson distribution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variance &lt; mean = underdispersion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 generalized poisson distribution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0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Poisson </a:t>
            </a:r>
            <a:endParaRPr/>
          </a:p>
        </p:txBody>
      </p:sp>
      <p:pic>
        <p:nvPicPr>
          <p:cNvPr id="664" name="Google Shape;664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024295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1720" y="1170125"/>
            <a:ext cx="3779078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0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Geometric Distribution</a:t>
            </a:r>
            <a:endParaRPr/>
          </a:p>
        </p:txBody>
      </p:sp>
      <p:sp>
        <p:nvSpPr>
          <p:cNvPr id="671" name="Google Shape;671;p10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to calculate the probability that the first success occurs on a specific trial.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Answers: What is the probability that the first success happens on trial x?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Outcomes</a:t>
            </a:r>
            <a:r>
              <a:rPr lang="en"/>
              <a:t> are binary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Probability of success is constant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Trials are independent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Number of trials is </a:t>
            </a:r>
            <a:r>
              <a:rPr b="1" lang="en"/>
              <a:t>not fixed in advance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</a:t>
            </a:r>
            <a:r>
              <a:rPr lang="en"/>
              <a:t>experiment</a:t>
            </a:r>
            <a:r>
              <a:rPr lang="en"/>
              <a:t> continues until the first success</a:t>
            </a:r>
            <a:endParaRPr/>
          </a:p>
        </p:txBody>
      </p:sp>
      <p:sp>
        <p:nvSpPr>
          <p:cNvPr id="672" name="Google Shape;672;p10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be used to estimate: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The trial on which a customer first makes a purchase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The call on which a salesperson first closes a deal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The day on which a machine first fails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The attempt on which a student first passes an exam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flip on which a coin first lands heads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10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Geometric </a:t>
            </a:r>
            <a:r>
              <a:rPr lang="en"/>
              <a:t>Probability</a:t>
            </a:r>
            <a:r>
              <a:rPr lang="en"/>
              <a:t> Example</a:t>
            </a:r>
            <a:endParaRPr/>
          </a:p>
        </p:txBody>
      </p:sp>
      <p:sp>
        <p:nvSpPr>
          <p:cNvPr id="678" name="Google Shape;678;p10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probability that the first head occurs on the 4th coin flip?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 = 0.5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</a:t>
            </a:r>
            <a:r>
              <a:rPr lang="en"/>
              <a:t> = 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P(X=4) = [(0.5)^3]*0.5 = 0.0625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Implication: Tails, Tails, Tails, Heads</a:t>
            </a:r>
            <a:endParaRPr/>
          </a:p>
        </p:txBody>
      </p:sp>
      <p:sp>
        <p:nvSpPr>
          <p:cNvPr id="679" name="Google Shape;679;p10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(1-p)^x-1 = probability of no succes in the first X trials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Complement gives at least one success in first X trials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P(X &lt; x) = 1 - (1 - p)^x-1 (no success after first x trials)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P(X &lt;= x) = 1 - (1 - p)^x (at least one success after first x trials)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P(X &gt; x) = (1 - p)^x (no success in trials 1 - x)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P(X &gt;= x) = (1 - p)^x-1 (first success happens on trial x or later)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0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Geometric </a:t>
            </a:r>
            <a:r>
              <a:rPr lang="en"/>
              <a:t>Distribution</a:t>
            </a:r>
            <a:r>
              <a:rPr lang="en"/>
              <a:t> Problems</a:t>
            </a:r>
            <a:endParaRPr/>
          </a:p>
        </p:txBody>
      </p:sp>
      <p:graphicFrame>
        <p:nvGraphicFramePr>
          <p:cNvPr id="685" name="Google Shape;685;p105"/>
          <p:cNvGraphicFramePr/>
          <p:nvPr/>
        </p:nvGraphicFramePr>
        <p:xfrm>
          <a:off x="483538" y="1404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{059390B9-02ED-4081-BB1E-EB714DB9122B}</a:tableStyleId>
              </a:tblPr>
              <a:tblGrid>
                <a:gridCol w="1472200"/>
                <a:gridCol w="2381475"/>
                <a:gridCol w="3139225"/>
              </a:tblGrid>
              <a:tr h="51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Question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Formula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Interpretation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53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 X = x 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 (1-p)^{x-1}p 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First success on trial x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 X &lt; x 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( 1-(1-p)^{x-1} 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Success before x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 X = x 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( 1-(1-p)^x 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Success by x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 X &gt; x 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 (1-p)^x 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Still waiting after x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 X &gt;= x 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 (1-p)^{x-1} 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 or later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0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Geometric Distribution</a:t>
            </a:r>
            <a:endParaRPr/>
          </a:p>
        </p:txBody>
      </p:sp>
      <p:sp>
        <p:nvSpPr>
          <p:cNvPr id="691" name="Google Shape;691;p10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to model the number of attempts until first success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0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20% chance of making a sale.  How many meetings are needed until first sale?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many meetings until a sale?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E(X) = 1 / 0.2 = 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P(sale on 3rd meeting)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3" name="Google Shape;693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700" y="2020575"/>
            <a:ext cx="4343900" cy="220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1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9125" y="3583650"/>
            <a:ext cx="3395000" cy="98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10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 and Variance of Geometric Distributed Data</a:t>
            </a:r>
            <a:endParaRPr/>
          </a:p>
        </p:txBody>
      </p:sp>
      <p:sp>
        <p:nvSpPr>
          <p:cNvPr id="700" name="Google Shape;700;p10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 = probability of success per trial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Mean = E[X] = 1/p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/>
              <a:t>Variance = (1-p)/p^2</a:t>
            </a:r>
            <a:endParaRPr sz="1800"/>
          </a:p>
        </p:txBody>
      </p:sp>
      <p:sp>
        <p:nvSpPr>
          <p:cNvPr id="701" name="Google Shape;701;p10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0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Bernoulli Distribution </a:t>
            </a:r>
            <a:endParaRPr/>
          </a:p>
        </p:txBody>
      </p:sp>
      <p:sp>
        <p:nvSpPr>
          <p:cNvPr id="707" name="Google Shape;707;p10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to model a single </a:t>
            </a:r>
            <a:r>
              <a:rPr lang="en"/>
              <a:t>trial</a:t>
            </a:r>
            <a:r>
              <a:rPr lang="en"/>
              <a:t> with two possible outcomes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 = 1 if success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 = 0 if failure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P(X = 1) = 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P(X = 0) = 1 - p</a:t>
            </a:r>
            <a:endParaRPr/>
          </a:p>
        </p:txBody>
      </p:sp>
      <p:sp>
        <p:nvSpPr>
          <p:cNvPr id="708" name="Google Shape;708;p10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Mean: E[X] = 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Variance = p(1-p)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0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Negative Binomial Probability</a:t>
            </a:r>
            <a:endParaRPr/>
          </a:p>
        </p:txBody>
      </p:sp>
      <p:sp>
        <p:nvSpPr>
          <p:cNvPr id="714" name="Google Shape;714;p10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Used to calculate the probability that r-th success occurs on a specific trial.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Answers: What is the probability that it takes exactly x trials to achieve r successes?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Assumes: </a:t>
            </a:r>
            <a:endParaRPr sz="1800"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arenR"/>
            </a:pPr>
            <a:r>
              <a:rPr lang="en" sz="1800"/>
              <a:t>Outcomes are binary</a:t>
            </a:r>
            <a:endParaRPr sz="1800"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 sz="1800"/>
              <a:t>Probability of success is constant</a:t>
            </a:r>
            <a:endParaRPr sz="1800"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 sz="1800"/>
              <a:t>Trials are independent</a:t>
            </a:r>
            <a:endParaRPr sz="1800"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 sz="1800"/>
              <a:t>The </a:t>
            </a:r>
            <a:r>
              <a:rPr lang="en" sz="1800"/>
              <a:t>experiment</a:t>
            </a:r>
            <a:r>
              <a:rPr lang="en" sz="1800"/>
              <a:t> continues until the r-th success</a:t>
            </a:r>
            <a:endParaRPr sz="1800"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 sz="1800"/>
              <a:t>The number of trials is not fixed in advance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15" name="Google Shape;715;p10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Could be used to estimate the probability of: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call on which a salesperson will close </a:t>
            </a:r>
            <a:r>
              <a:rPr lang="en"/>
              <a:t>their</a:t>
            </a:r>
            <a:r>
              <a:rPr lang="en"/>
              <a:t> 3rd deal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flip on which the coin lands on heads a 4th 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day on which a machine fails for the 10th time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721" name="Google Shape;721;p11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 = total number of trials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 = number of success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 = probability of success</a:t>
            </a:r>
            <a:endParaRPr/>
          </a:p>
        </p:txBody>
      </p:sp>
      <p:sp>
        <p:nvSpPr>
          <p:cNvPr id="722" name="Google Shape;722;p11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Sales calls have a </a:t>
            </a:r>
            <a:r>
              <a:rPr lang="en"/>
              <a:t>probability</a:t>
            </a:r>
            <a:r>
              <a:rPr lang="en"/>
              <a:t> of success of 20%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Sales person keeps calling until they have 3 appointments.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 the </a:t>
            </a:r>
            <a:r>
              <a:rPr lang="en"/>
              <a:t>probability</a:t>
            </a:r>
            <a:r>
              <a:rPr lang="en"/>
              <a:t> that the 3rd meeting is booked on the 10th call?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Interpretation: In first 9 calls, 2 appointments set, on 10th call, 3rd appointment set.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first 9 calls, many ways 2 appointments could be set.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Call 1 and 2, Call 1 and 9, Call 2 and 5…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23" name="Google Shape;723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375" y="2497400"/>
            <a:ext cx="4153226" cy="964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1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808375"/>
            <a:ext cx="3999900" cy="1095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1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60800" y="4111450"/>
            <a:ext cx="1261325" cy="71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1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Continued </a:t>
            </a:r>
            <a:endParaRPr/>
          </a:p>
        </p:txBody>
      </p:sp>
      <p:sp>
        <p:nvSpPr>
          <p:cNvPr id="731" name="Google Shape;731;p1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 = .2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 = 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 = 10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36 * (.2)^3 * (.8)^.7 = 8.8%</a:t>
            </a:r>
            <a:endParaRPr/>
          </a:p>
        </p:txBody>
      </p:sp>
      <p:sp>
        <p:nvSpPr>
          <p:cNvPr id="732" name="Google Shape;732;p11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3" name="Google Shape;733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375" y="2497400"/>
            <a:ext cx="4153226" cy="964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8" name="Google Shape;738;p112"/>
          <p:cNvGraphicFramePr/>
          <p:nvPr/>
        </p:nvGraphicFramePr>
        <p:xfrm>
          <a:off x="551500" y="371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{059390B9-02ED-4081-BB1E-EB714DB9122B}</a:tableStyleId>
              </a:tblPr>
              <a:tblGrid>
                <a:gridCol w="811250"/>
                <a:gridCol w="3507500"/>
                <a:gridCol w="3722250"/>
              </a:tblGrid>
              <a:tr h="74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Question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What it means in English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How to compute it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69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( X = x 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The r-th success happens </a:t>
                      </a:r>
                      <a:r>
                        <a:rPr b="1" lang="en" sz="1100"/>
                        <a:t>exactly on trial x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 \binom{x-1}{r-1} p^r (1-p)^{x-r} 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9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( X &lt; x 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The r-th success happens </a:t>
                      </a:r>
                      <a:r>
                        <a:rPr b="1" lang="en" sz="1100"/>
                        <a:t>before trial x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 P(X &lt;= x-1) 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9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( X &lt;= x 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The r-th success happens </a:t>
                      </a:r>
                      <a:r>
                        <a:rPr b="1" lang="en" sz="1100"/>
                        <a:t>by trial x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( 1 - P(\text{fewer than r successes in x trials}) 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9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( X &gt; x 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Still waiting for the r-th success </a:t>
                      </a:r>
                      <a:r>
                        <a:rPr b="1" lang="en" sz="1100"/>
                        <a:t>after x trials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 P(\text{fewer than r successes in x trials}) 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9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( X &gt;= x 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The r-th success happens </a:t>
                      </a:r>
                      <a:r>
                        <a:rPr b="1" lang="en" sz="1100"/>
                        <a:t>on trial x or later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 P(X &gt; x-1) 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Statistics For Discrete Distributions</a:t>
            </a:r>
            <a:endParaRPr/>
          </a:p>
        </p:txBody>
      </p:sp>
      <p:sp>
        <p:nvSpPr>
          <p:cNvPr id="744" name="Google Shape;744;p1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Variance: </a:t>
            </a:r>
            <a:endParaRPr/>
          </a:p>
        </p:txBody>
      </p:sp>
      <p:pic>
        <p:nvPicPr>
          <p:cNvPr id="745" name="Google Shape;745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7050" y="968475"/>
            <a:ext cx="3421875" cy="95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7050" y="2251550"/>
            <a:ext cx="5132825" cy="115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