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Roboto Slab"/>
      <p:regular r:id="rId23"/>
      <p:bold r:id="rId24"/>
    </p:embeddedFon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B0EF33-34B9-493B-8BD7-87CC1A714727}">
  <a:tblStyle styleId="{63B0EF33-34B9-493B-8BD7-87CC1A7147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Slab-bold.fntdata"/><Relationship Id="rId23" Type="http://schemas.openxmlformats.org/officeDocument/2006/relationships/font" Target="fonts/RobotoSlab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b7dcaf7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7b7dcaf7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7b7dcaf7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d7b7dcaf7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7b7dcaf76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7b7dcaf76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7b7dcaf7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7b7dcaf7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b7dcaf76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7b7dcaf7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7b7dcaf7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d7b7dcaf7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b7dcaf7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7b7dcaf7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7b7dcaf7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7b7dcaf7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7b7dcaf7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7b7dcaf7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7b7dcaf76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d7b7dcaf7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b7dcaf76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7b7dcaf7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7b7dcaf7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7b7dcaf7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7b7dcaf76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d7b7dcaf7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Different than for proportions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7b7dcaf7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7b7dcaf7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3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Sampling</a:t>
            </a:r>
            <a:endParaRPr/>
          </a:p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Population</a:t>
            </a:r>
            <a:r>
              <a:rPr lang="en"/>
              <a:t>: All of the items of interest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Examples: All of the students at Webster University, All registered voters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Sample</a:t>
            </a:r>
            <a:r>
              <a:rPr lang="en"/>
              <a:t>: A subset of the population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Example: Just the students in this room (assuming we’re interested in all of the students at Webster), 100 registered voters selected at random from the voting rolls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Why Sample?	</a:t>
            </a:r>
            <a:endParaRPr/>
          </a:p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91"/>
              <a:t>We collect samples instead of measuring populations because:</a:t>
            </a:r>
            <a:endParaRPr sz="2191"/>
          </a:p>
          <a:p>
            <a:pPr indent="-36778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92"/>
              <a:buAutoNum type="arabicParenR"/>
            </a:pPr>
            <a:r>
              <a:rPr lang="en" sz="2191"/>
              <a:t>It’s easier</a:t>
            </a:r>
            <a:endParaRPr sz="2191"/>
          </a:p>
          <a:p>
            <a:pPr indent="-3677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92"/>
              <a:buAutoNum type="arabicParenR"/>
            </a:pPr>
            <a:r>
              <a:rPr lang="en" sz="2191"/>
              <a:t>It’s faster</a:t>
            </a:r>
            <a:endParaRPr sz="2191"/>
          </a:p>
          <a:p>
            <a:pPr indent="-3677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92"/>
              <a:buAutoNum type="arabicParenR"/>
            </a:pPr>
            <a:r>
              <a:rPr lang="en" sz="2191"/>
              <a:t>It’s cheaper</a:t>
            </a:r>
            <a:endParaRPr sz="2191"/>
          </a:p>
          <a:p>
            <a:pPr indent="-3677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92"/>
              <a:buAutoNum type="arabicParenR"/>
            </a:pPr>
            <a:r>
              <a:rPr lang="en" sz="2191"/>
              <a:t>It’s (more) feasible </a:t>
            </a:r>
            <a:endParaRPr sz="219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Types of Sample - Non Probability</a:t>
            </a:r>
            <a:endParaRPr/>
          </a:p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Non Probability Sampling</a:t>
            </a:r>
            <a:r>
              <a:rPr lang="en"/>
              <a:t>: Items are chosen non-randomly and/or without regard to their probability of occurrence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Types: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Convenience</a:t>
            </a:r>
            <a:r>
              <a:rPr lang="en"/>
              <a:t>: Items are selected because they’re easy to sample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Judgment</a:t>
            </a:r>
            <a:r>
              <a:rPr lang="en"/>
              <a:t>: Items are sampled based on expert / domain knowledge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b="1" lang="en"/>
              <a:t>These are not good ways to sample and risk sampling bias*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Sampling Bias</a:t>
            </a:r>
            <a:endParaRPr/>
          </a:p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Sampling bias occurs when the sample selected for a study is not representative of the population, leading to inaccurate or misleading conclusions.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Types: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Selection Bias: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Occurs when certain groups of the population are systematically more or less likely to be included in the sample.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Conducting a phone survey but only calling landlines, which excludes younger people who primarily use mobile phones.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Undercoverage Bias: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Happens when some members of the population have no chance of being included in the sample.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political poll that only surveys registered voters, ignoring eligible but unregistered voters.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Nonresponse Bias: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Occurs when a significant portion of selected respondents do not participate, and those who do respond differ in a meaningful way from those who don't.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survey about income levels where wealthier individuals are less likely to disclose their earnings.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Sampling Bias (Continued)</a:t>
            </a:r>
            <a:endParaRPr/>
          </a:p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Types: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896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Voluntary Response Bias: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Happens when individuals self-select into the study, meaning only those with strong opinions tend to participate.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 online poll about customer satisfaction where only dissatisfied customers respond.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896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Survivorship Bias: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Occurs when only subjects that have “survived” or persisted are included in the sample, leading to misleading conclusions.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Studying the success of businesses by analyzing only those that still exist, ignoring failed businesses.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896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Convenience Sampling Bias: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Happens when researchers choose a sample that is easy to access rather than one that is representative.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study on college student habits that only surveys students at one university.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62896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Healthy User Bias: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Occurs when participants in a study are healthier than the general population, often affecting medical research.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study on the benefits of exercise that surveys only gym-goers, who are likely to be healthier than average.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ct val="162896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Exclusion Bias: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Happens when certain groups are unintentionally left out due to study design flaws.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medical trial that excludes pregnant women, leading to results that don't generalize to the entire population.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Types of Sample - Probability</a:t>
            </a:r>
            <a:endParaRPr/>
          </a:p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Probability Sampling</a:t>
            </a:r>
            <a:r>
              <a:rPr lang="en"/>
              <a:t>: Sampling based on known probabilities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Types: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Simple Probability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Systematic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Stratified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b="1" lang="en"/>
              <a:t>Cluster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Simple Probability Sampling</a:t>
            </a:r>
            <a:endParaRPr/>
          </a:p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>
            <a:off x="387900" y="1489825"/>
            <a:ext cx="48237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225"/>
              <a:t>Each item in the sample has an equal probability of occurrence / selection.</a:t>
            </a:r>
            <a:endParaRPr sz="1225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/>
              <a:t>Sampling frame: The list of all items in the population</a:t>
            </a:r>
            <a:endParaRPr sz="1225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25"/>
              <a:t>Steps:</a:t>
            </a:r>
            <a:endParaRPr sz="1225"/>
          </a:p>
          <a:p>
            <a:pPr indent="-30638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25"/>
              <a:buAutoNum type="arabicParenR"/>
            </a:pPr>
            <a:r>
              <a:rPr lang="en" sz="1225"/>
              <a:t>Assign Each item a number randomly (using an unbiased and systematic source, like a computer, not your intuition)</a:t>
            </a:r>
            <a:endParaRPr sz="1225"/>
          </a:p>
          <a:p>
            <a:pPr indent="-3063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25"/>
              <a:buAutoNum type="arabicParenR"/>
            </a:pPr>
            <a:r>
              <a:rPr lang="en" sz="1225"/>
              <a:t>The sampling frame by the column of random numbers </a:t>
            </a:r>
            <a:endParaRPr sz="1225"/>
          </a:p>
          <a:p>
            <a:pPr indent="-3063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25"/>
              <a:buAutoNum type="arabicParenR"/>
            </a:pPr>
            <a:r>
              <a:rPr lang="en" sz="1225"/>
              <a:t>Select the top n number of items, where n is the number of items required to meet the significance threshold of your study</a:t>
            </a:r>
            <a:endParaRPr sz="1225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225"/>
          </a:p>
        </p:txBody>
      </p:sp>
      <p:pic>
        <p:nvPicPr>
          <p:cNvPr id="152" name="Google Shape;1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2825" y="1489825"/>
            <a:ext cx="3627600" cy="2377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Systematic Probability Sampling</a:t>
            </a:r>
            <a:endParaRPr/>
          </a:p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Steps: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arenR"/>
            </a:pPr>
            <a:r>
              <a:rPr lang="en" sz="1600"/>
              <a:t>Divide population/frame into k segments, where k = N/n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en" sz="1600"/>
              <a:t>Select a starting point randomly from the first segment, then sample every k’th element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/>
          </a:p>
        </p:txBody>
      </p:sp>
      <p:pic>
        <p:nvPicPr>
          <p:cNvPr id="159" name="Google Shape;1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296525"/>
            <a:ext cx="3245581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Stratified Sampling</a:t>
            </a:r>
            <a:endParaRPr/>
          </a:p>
        </p:txBody>
      </p:sp>
      <p:sp>
        <p:nvSpPr>
          <p:cNvPr id="165" name="Google Shape;165;p34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Steps:</a:t>
            </a:r>
            <a:endParaRPr sz="1460"/>
          </a:p>
          <a:p>
            <a:pPr indent="-32131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0"/>
              <a:buAutoNum type="arabicParenR"/>
            </a:pPr>
            <a:r>
              <a:rPr lang="en" sz="1460"/>
              <a:t>Divide population/frame into subgroups, called strata, based on common attributes</a:t>
            </a:r>
            <a:endParaRPr sz="1460"/>
          </a:p>
          <a:p>
            <a:pPr indent="-3213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0"/>
              <a:buAutoNum type="arabicParenR"/>
            </a:pPr>
            <a:r>
              <a:rPr lang="en" sz="1460"/>
              <a:t>Randomly sample from the strata (largest random number used)</a:t>
            </a:r>
            <a:endParaRPr sz="1460"/>
          </a:p>
          <a:p>
            <a:pPr indent="-3213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0"/>
              <a:buAutoNum type="arabicParenR"/>
            </a:pPr>
            <a:r>
              <a:rPr lang="en" sz="1460"/>
              <a:t>Combine the samples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Can be proportionate to the population or not - Since 3/4 of the population is female, 3/4 of the sample should come from the female strata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Can also be disproportionate and evenly sampled from each strata, but this is potentially biasing </a:t>
            </a:r>
            <a:endParaRPr sz="14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460"/>
          </a:p>
        </p:txBody>
      </p:sp>
      <p:pic>
        <p:nvPicPr>
          <p:cNvPr id="166" name="Google Shape;16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7675" y="653575"/>
            <a:ext cx="3658355" cy="369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Cluster Sampling</a:t>
            </a:r>
            <a:endParaRPr/>
          </a:p>
        </p:txBody>
      </p:sp>
      <p:sp>
        <p:nvSpPr>
          <p:cNvPr id="172" name="Google Shape;172;p35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Steps: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Divide population into clusters based on some relevant attribute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Each cluster should be representative of the whole population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Randomly select clusters (lowest  random values, this time)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Use all observations from each cluster to calculate statistics</a:t>
            </a:r>
            <a:endParaRPr/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400" y="804800"/>
            <a:ext cx="3572942" cy="369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Sampling Methods</a:t>
            </a:r>
            <a:endParaRPr/>
          </a:p>
        </p:txBody>
      </p:sp>
      <p:graphicFrame>
        <p:nvGraphicFramePr>
          <p:cNvPr id="179" name="Google Shape;179;p36"/>
          <p:cNvGraphicFramePr/>
          <p:nvPr/>
        </p:nvGraphicFramePr>
        <p:xfrm>
          <a:off x="952500" y="207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{63B0EF33-34B9-493B-8BD7-87CC1A714727}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Method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When to Use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Simple Random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Full list, no subgroups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Stratified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Known subgroups matter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Systematic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Ordered list available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Cluster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No full list, geographically dispersed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Necessary Sample Size* </a:t>
            </a:r>
            <a:endParaRPr/>
          </a:p>
        </p:txBody>
      </p:sp>
      <p:sp>
        <p:nvSpPr>
          <p:cNvPr id="185" name="Google Shape;185;p3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*We’ll revisit this later</a:t>
            </a:r>
            <a:endParaRPr/>
          </a:p>
        </p:txBody>
      </p:sp>
      <p:pic>
        <p:nvPicPr>
          <p:cNvPr id="186" name="Google Shape;18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50" y="1839100"/>
            <a:ext cx="4453050" cy="202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2094" y="1839100"/>
            <a:ext cx="4038281" cy="202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Necessary Sample Size Example - Means</a:t>
            </a:r>
            <a:endParaRPr/>
          </a:p>
        </p:txBody>
      </p:sp>
      <p:sp>
        <p:nvSpPr>
          <p:cNvPr id="193" name="Google Shape;193;p38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Z for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90% = 1.65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95% = 1.96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99% = 2.33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n"/>
              <a:t>E = Margin of Error = +/- Point estimate</a:t>
            </a:r>
            <a:endParaRPr/>
          </a:p>
        </p:txBody>
      </p:sp>
      <p:sp>
        <p:nvSpPr>
          <p:cNvPr id="194" name="Google Shape;194;p38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How many apples needed to be 95% confident in your estimate of the mean, with a margin of error of +/- 0.5 oz, given a standard deviation (estimated) of 2 oz.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n = (Z^2 * stdev^2) / E^2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…Math…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n"/>
              <a:t>n = 61.4656, which we round up to 62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So, what exactly is a statistic?</a:t>
            </a:r>
            <a:endParaRPr/>
          </a:p>
        </p:txBody>
      </p:sp>
      <p:sp>
        <p:nvSpPr>
          <p:cNvPr id="200" name="Google Shape;200;p3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When a number is used to summarize an aspect of a population, it is called a </a:t>
            </a:r>
            <a:r>
              <a:rPr b="1" lang="en"/>
              <a:t>parameter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When a number is used to summarize an aspect of a sample, it is called a </a:t>
            </a:r>
            <a:r>
              <a:rPr b="1" lang="en"/>
              <a:t>statistic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