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Playfair Display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C79C69-0F37-4906-8A81-3B392ADED885}">
  <a:tblStyle styleId="{BDC79C69-0F37-4906-8A81-3B392ADED8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A420634-287F-48FE-8CFB-120709E5AF4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PlayfairDisplay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ayfairDispl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-boldItalic.fntdata"/><Relationship Id="rId30" Type="http://schemas.openxmlformats.org/officeDocument/2006/relationships/font" Target="fonts/PlayfairDisplay-italic.fntdata"/><Relationship Id="rId11" Type="http://schemas.openxmlformats.org/officeDocument/2006/relationships/slide" Target="slides/slide5.xml"/><Relationship Id="rId33" Type="http://schemas.openxmlformats.org/officeDocument/2006/relationships/font" Target="fonts/Lato-bold.fntdata"/><Relationship Id="rId10" Type="http://schemas.openxmlformats.org/officeDocument/2006/relationships/slide" Target="slides/slide4.xml"/><Relationship Id="rId32" Type="http://schemas.openxmlformats.org/officeDocument/2006/relationships/font" Target="fonts/Lato-regular.fntdata"/><Relationship Id="rId13" Type="http://schemas.openxmlformats.org/officeDocument/2006/relationships/slide" Target="slides/slide7.xml"/><Relationship Id="rId35" Type="http://schemas.openxmlformats.org/officeDocument/2006/relationships/font" Target="fonts/Lato-boldItalic.fntdata"/><Relationship Id="rId12" Type="http://schemas.openxmlformats.org/officeDocument/2006/relationships/slide" Target="slides/slide6.xml"/><Relationship Id="rId34" Type="http://schemas.openxmlformats.org/officeDocument/2006/relationships/font" Target="fonts/Lat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cc9f2dbb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cc9f2dbb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33ef3d73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33ef3d73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Ideally all expected counts are at least 5, or at least no more than 20% are below 5 and none are below 1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5e87691f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5e87691f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cc7383d96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cc7383d96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cc7383d9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cc7383d9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cc7383d96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cc7383d96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Male Dogs = (55 * 50) / 100 = 27.5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cc7383d96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cc7383d96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cc7383d96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cc7383d96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5e87691f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5e87691f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cc7383d96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cc7383d96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cc979fc06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cc979fc06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cc979fc06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cc979fc06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5e87691f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5e87691f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cc7383d96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cc7383d96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cc7383d96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cc7383d96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Df = degrees of freedom = categories - parameters estimated in obtaining expected frequencies - 1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3ef3d734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3ef3d734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df</a:t>
            </a:r>
            <a:r>
              <a:rPr lang="en" sz="1200">
                <a:solidFill>
                  <a:srgbClr val="0D0D0D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= categories - parameters estimated in obtaining expected frequencies - 1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Chi-Square Tests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Association, Homogeneity, and Goodness of Fit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Chi-Square Tests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Independence / Association: Are two categorical variables related in one sample?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Homogeneity: Do multiple groups have the same </a:t>
            </a:r>
            <a:r>
              <a:rPr lang="en"/>
              <a:t>distribution</a:t>
            </a:r>
            <a:r>
              <a:rPr lang="en"/>
              <a:t> of a categorical variable?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Goodness of Fit: Does one categorical variable follow a claimed distribution?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Variables are categorical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Data are in counts of cases, not percentages, means, or measurements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Observations are independent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Expected counts should be </a:t>
            </a:r>
            <a:r>
              <a:rPr lang="en"/>
              <a:t>sufficiently</a:t>
            </a:r>
            <a:r>
              <a:rPr lang="en"/>
              <a:t> large, typically at least 5 as a rule of thumb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Each count should contribute to only one cell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8417" l="3828" r="5246" t="8987"/>
          <a:stretch/>
        </p:blipFill>
        <p:spPr>
          <a:xfrm>
            <a:off x="3459897" y="3101950"/>
            <a:ext cx="3072299" cy="192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of Association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it does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Tests whether two categorical variables are related.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to use it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this test when: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have one sample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individual is measured on two categorical variables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want to know whether the variables are associated or independent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researcher surveys 200 college students and records: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 year: freshman, sophomore, junior, senior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 ownership: yes or no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Question: Is car ownership associated with class year?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variables are categorical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are counts of individuals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observations are independent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expected counts are sufficiently large, usually at least 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1148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Test of Association…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pet preference associated with gender?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H0: There is no association / variables  are independent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HA: There is an association / variables are not independent </a:t>
            </a:r>
            <a:endParaRPr/>
          </a:p>
        </p:txBody>
      </p:sp>
      <p:graphicFrame>
        <p:nvGraphicFramePr>
          <p:cNvPr id="87" name="Google Shape;87;p17"/>
          <p:cNvGraphicFramePr/>
          <p:nvPr/>
        </p:nvGraphicFramePr>
        <p:xfrm>
          <a:off x="952500" y="270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{BDC79C69-0F37-4906-8A81-3B392ADED885}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Dogs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Observed</a:t>
            </a:r>
            <a:r>
              <a:rPr lang="en"/>
              <a:t> Counts and Totals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4" name="Google Shape;94;p18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{BDC79C69-0F37-4906-8A81-3B392ADED885}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Dogs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95" name="Google Shape;95;p18"/>
          <p:cNvGraphicFramePr/>
          <p:nvPr/>
        </p:nvGraphicFramePr>
        <p:xfrm>
          <a:off x="952500" y="302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{BDC79C69-0F37-4906-8A81-3B392ADED885}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Dogs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Counts</a:t>
            </a:r>
            <a:endParaRPr/>
          </a:p>
        </p:txBody>
      </p:sp>
      <p:graphicFrame>
        <p:nvGraphicFramePr>
          <p:cNvPr id="101" name="Google Shape;101;p19"/>
          <p:cNvGraphicFramePr/>
          <p:nvPr/>
        </p:nvGraphicFramePr>
        <p:xfrm>
          <a:off x="952500" y="21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{BDC79C69-0F37-4906-8A81-3B392ADED885}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Observed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Dogs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2" name="Google Shape;102;p19"/>
          <p:cNvGraphicFramePr/>
          <p:nvPr/>
        </p:nvGraphicFramePr>
        <p:xfrm>
          <a:off x="952500" y="376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{BDC79C69-0F37-4906-8A81-3B392ADED885}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Expected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Dogs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22.5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22.5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39950"/>
            <a:ext cx="8520600" cy="10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counts: What would be expected if gender and pet preference are independent.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Expected counts = (Row total * Column total) / Grand Total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The Chi-Square Statistic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541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cell: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Calculate observed minus expected 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Square the differences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Divide by expected 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Sum up all the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Chi-Square Test Statistic= 0.364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df</a:t>
            </a:r>
            <a:r>
              <a:rPr lang="en"/>
              <a:t> = (rows - 1) * (columns -1) =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Critical value at alpha=5% with df=1 = 3.841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Reject H0 if statistic &gt; critical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Conclusion: Fail to reject the null.  There is not </a:t>
            </a:r>
            <a:r>
              <a:rPr lang="en"/>
              <a:t>sufficient</a:t>
            </a:r>
            <a:r>
              <a:rPr lang="en"/>
              <a:t> evidence of an association between gender and pet preference.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4350" y="3289500"/>
            <a:ext cx="2647950" cy="76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0"/>
          <p:cNvGraphicFramePr/>
          <p:nvPr/>
        </p:nvGraphicFramePr>
        <p:xfrm>
          <a:off x="6084825" y="152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{BDC79C69-0F37-4906-8A81-3B392ADED885}</a:tableStyleId>
              </a:tblPr>
              <a:tblGrid>
                <a:gridCol w="949000"/>
                <a:gridCol w="949000"/>
                <a:gridCol w="949000"/>
              </a:tblGrid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Dogs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Female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 Square Table</a:t>
            </a: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700" y="1351850"/>
            <a:ext cx="3890599" cy="344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of Homogeneity 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it does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Tests whether different groups have the same distribution of a categorical variable.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to use it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this test when: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have separate samples from two or more groups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measure one categorical variable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want to compare the distribution of that variable across groups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researcher samples students from three colleges and records their preferred class format: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person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Question: Do the three colleges have the same distribution of class format preferences?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are counts in categories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samples/groups are independent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observations within each group are independent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expected counts are sufficiently large, usually at least 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2) Test of Homogeneity 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men and women have different fruit preference distributions?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H0: There is no difference in the fruit preferences of men and women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HA: There is a difference in the fruit preferences of men and women</a:t>
            </a:r>
            <a:endParaRPr/>
          </a:p>
        </p:txBody>
      </p:sp>
      <p:graphicFrame>
        <p:nvGraphicFramePr>
          <p:cNvPr id="131" name="Google Shape;131;p23"/>
          <p:cNvGraphicFramePr/>
          <p:nvPr/>
        </p:nvGraphicFramePr>
        <p:xfrm>
          <a:off x="2488725" y="28883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{8A420634-287F-48FE-8CFB-120709E5AF46}</a:tableStyleId>
              </a:tblPr>
              <a:tblGrid>
                <a:gridCol w="841200"/>
                <a:gridCol w="965425"/>
                <a:gridCol w="971075"/>
                <a:gridCol w="694425"/>
                <a:gridCol w="694425"/>
              </a:tblGrid>
              <a:tr h="456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Apples</a:t>
                      </a:r>
                      <a:endParaRPr b="1"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Bananas</a:t>
                      </a:r>
                      <a:endParaRPr b="1"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Cherries</a:t>
                      </a:r>
                      <a:endParaRPr b="1"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</a:t>
                      </a:r>
                      <a:endParaRPr b="1"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Male</a:t>
                      </a:r>
                      <a:endParaRPr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17</a:t>
                      </a:r>
                      <a:endParaRPr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24</a:t>
                      </a:r>
                      <a:endParaRPr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9</a:t>
                      </a:r>
                      <a:endParaRPr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50</a:t>
                      </a:r>
                      <a:endParaRPr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Female</a:t>
                      </a:r>
                      <a:endParaRPr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19</a:t>
                      </a:r>
                      <a:endParaRPr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14</a:t>
                      </a:r>
                      <a:endParaRPr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17</a:t>
                      </a:r>
                      <a:endParaRPr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50</a:t>
                      </a:r>
                      <a:endParaRPr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</a:t>
                      </a:r>
                      <a:endParaRPr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36</a:t>
                      </a:r>
                      <a:endParaRPr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38</a:t>
                      </a:r>
                      <a:endParaRPr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26</a:t>
                      </a:r>
                      <a:endParaRPr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714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0D0D0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100</a:t>
                      </a:r>
                      <a:endParaRPr sz="950">
                        <a:solidFill>
                          <a:srgbClr val="0D0D0D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3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The Chi-Square Statistic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152475"/>
            <a:ext cx="541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cell: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Calculate expected ((row total x column total) / total)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Calculate observed minus expected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Square the differences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Divide by expected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Sum up all the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Chi- Square Test Statistic: 5.204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df </a:t>
            </a:r>
            <a:r>
              <a:rPr lang="en"/>
              <a:t> = (rows - 1) * (columns -1):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Critical value at alpha=5% with</a:t>
            </a:r>
            <a:r>
              <a:rPr lang="en"/>
              <a:t> and degrees of freedom =2 : 5.991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Reject the null if Stat &gt; CV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Conclusion: Fail to reject the null.  There is not </a:t>
            </a:r>
            <a:r>
              <a:rPr lang="en"/>
              <a:t>sufficient</a:t>
            </a:r>
            <a:r>
              <a:rPr lang="en"/>
              <a:t> evidence that fruit preference distributions differ between men and women.</a:t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4350" y="3937750"/>
            <a:ext cx="264795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6200" y="1094975"/>
            <a:ext cx="3770900" cy="261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 Square Table</a:t>
            </a:r>
            <a:endParaRPr/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700" y="1351850"/>
            <a:ext cx="3890599" cy="344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of Goodness of Fit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it does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Tests whether the distribution of one categorical variable matches a claimed or expected distribution.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to use it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this test when: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have one categorical variable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have a claimed, theoretical, or expected distribution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want to compare observed counts to expected counts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candy company claims its candies are: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30% red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20% blue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20% green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15% yellow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15% orange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Question: Does a sample of candies match this claimed color distribution?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are counts in categories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observations are independent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expected counts are sufficiently large, usually at least 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3) Test of Goodness of Fit</a:t>
            </a:r>
            <a:endParaRPr/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H0: Observed frequencies follow expected / theoretical distribution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HA: Observed frequencies do not follow expected / theoretical distribution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9" name="Google Shape;159;p27"/>
          <p:cNvGraphicFramePr/>
          <p:nvPr/>
        </p:nvGraphicFramePr>
        <p:xfrm>
          <a:off x="952500" y="219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{BDC79C69-0F37-4906-8A81-3B392ADED885}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Dice Side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Observed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Expected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100/6 = 16.6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11700" y="3402425"/>
            <a:ext cx="4898400" cy="15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Summed DS/E = Chi Square Statistic = 1.0458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df =k -1 = 6 -1 = 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Compare to Chi Square Critical Value for given alpha (5%) and degrees of freedom = 11.07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Reject the null that the observed frequencies follow the expected frequencies  if Stat &gt; CV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Conclusion: Fail to reject the null.  There is not sufficient evidence that the dice is unfair.</a:t>
            </a:r>
            <a:endParaRPr/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700" y="3496050"/>
            <a:ext cx="3331825" cy="979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6" name="Google Shape;166;p28"/>
          <p:cNvGraphicFramePr/>
          <p:nvPr/>
        </p:nvGraphicFramePr>
        <p:xfrm>
          <a:off x="952500" y="44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{BDC79C69-0F37-4906-8A81-3B392ADED885}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Dice Side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Observed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Expected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Difference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Diff Squared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(O - E)^2 / E</a:t>
                      </a:r>
                      <a:endParaRPr/>
                    </a:p>
                  </a:txBody>
                  <a:tcPr marT="9525" marB="91425" marR="9525" marL="95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16.6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</a:t>
                      </a:r>
                      <a:endParaRPr sz="1200"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0.16</a:t>
                      </a:r>
                      <a:endParaRPr sz="1200"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0.00963855</a:t>
                      </a:r>
                      <a:endParaRPr sz="1200"/>
                    </a:p>
                  </a:txBody>
                  <a:tcPr marT="9525" marB="91425" marR="9525" marL="95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14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16.6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-2.6</a:t>
                      </a:r>
                      <a:endParaRPr sz="1200"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6.76</a:t>
                      </a:r>
                      <a:endParaRPr sz="1200"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0.40722892</a:t>
                      </a:r>
                      <a:endParaRPr sz="1200"/>
                    </a:p>
                  </a:txBody>
                  <a:tcPr marT="9525" marB="91425" marR="9525" marL="95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16.6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-1.6</a:t>
                      </a:r>
                      <a:endParaRPr sz="1200"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2.56</a:t>
                      </a:r>
                      <a:endParaRPr sz="1200"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0.15421687</a:t>
                      </a:r>
                      <a:endParaRPr sz="1200"/>
                    </a:p>
                  </a:txBody>
                  <a:tcPr marT="9525" marB="91425" marR="9525" marL="95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17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16.6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</a:t>
                      </a:r>
                      <a:endParaRPr sz="1200"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0.16</a:t>
                      </a:r>
                      <a:endParaRPr sz="1200"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0.00963855</a:t>
                      </a:r>
                      <a:endParaRPr sz="1200"/>
                    </a:p>
                  </a:txBody>
                  <a:tcPr marT="9525" marB="91425" marR="9525" marL="95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16.6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2.4</a:t>
                      </a:r>
                      <a:endParaRPr sz="1200"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5.76</a:t>
                      </a:r>
                      <a:endParaRPr sz="1200"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0.34698795</a:t>
                      </a:r>
                      <a:endParaRPr sz="1200"/>
                    </a:p>
                  </a:txBody>
                  <a:tcPr marT="9525" marB="91425" marR="9525" marL="9525" anchor="b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16.6</a:t>
                      </a:r>
                      <a:endParaRPr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1.4</a:t>
                      </a:r>
                      <a:endParaRPr sz="1200"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1.96</a:t>
                      </a:r>
                      <a:endParaRPr sz="1200"/>
                    </a:p>
                  </a:txBody>
                  <a:tcPr marT="9525" marB="91425" marR="9525" marL="952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0.11807229</a:t>
                      </a:r>
                      <a:endParaRPr sz="1200"/>
                    </a:p>
                  </a:txBody>
                  <a:tcPr marT="9525" marB="91425" marR="9525" marL="9525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311700" y="3233675"/>
            <a:ext cx="4898400" cy="15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955"/>
              <a:t>Summed DS/E = Chi Square Statistic = 28.27 </a:t>
            </a:r>
            <a:endParaRPr sz="9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955"/>
              <a:t>Compare to Chi Square Critical Value for given alpha and degrees of freedom = 11.07</a:t>
            </a:r>
            <a:endParaRPr sz="9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955"/>
              <a:t>d</a:t>
            </a:r>
            <a:r>
              <a:rPr lang="en" sz="955"/>
              <a:t>f  = number of categories - 1* = 6 - 1 - 5</a:t>
            </a:r>
            <a:endParaRPr sz="9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955"/>
              <a:t>Reject the null that the observed frequencies follow the expected frequencies  if Stat &gt; CV</a:t>
            </a:r>
            <a:endParaRPr sz="955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rPr lang="en" sz="955"/>
              <a:t>Conclusion: Reject the null. There is </a:t>
            </a:r>
            <a:r>
              <a:rPr lang="en" sz="955"/>
              <a:t>sufficient</a:t>
            </a:r>
            <a:r>
              <a:rPr lang="en" sz="955"/>
              <a:t> </a:t>
            </a:r>
            <a:r>
              <a:rPr lang="en" sz="955"/>
              <a:t>evidence</a:t>
            </a:r>
            <a:r>
              <a:rPr lang="en" sz="955"/>
              <a:t> that the die’s outcome distribution is not uniform.</a:t>
            </a:r>
            <a:endParaRPr sz="955"/>
          </a:p>
        </p:txBody>
      </p:sp>
      <p:pic>
        <p:nvPicPr>
          <p:cNvPr id="172" name="Google Shape;1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700" y="3496050"/>
            <a:ext cx="3331825" cy="979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29"/>
          <p:cNvGraphicFramePr/>
          <p:nvPr/>
        </p:nvGraphicFramePr>
        <p:xfrm>
          <a:off x="784525" y="33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{8A420634-287F-48FE-8CFB-120709E5AF46}</a:tableStyleId>
              </a:tblPr>
              <a:tblGrid>
                <a:gridCol w="1127500"/>
                <a:gridCol w="1127500"/>
                <a:gridCol w="1159250"/>
                <a:gridCol w="1191050"/>
                <a:gridCol w="1445125"/>
                <a:gridCol w="1524525"/>
              </a:tblGrid>
              <a:tr h="54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Dice Side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Observed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Expected 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Difference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Diff Squared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(O - E)^2</a:t>
                      </a:r>
                      <a:r>
                        <a:rPr lang="en" sz="1200"/>
                        <a:t> / E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24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16.6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7.4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54.76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3.298795181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19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16.6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2.4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5.76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0.346987952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16.6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-10.6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112.36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6.768674699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16.6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8.4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70.56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4.25060241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16.6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-13.6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184.96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11.14216867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5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23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16.6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6.4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40.96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2.46746988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D0D0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