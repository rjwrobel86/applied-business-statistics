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6E4E23-B760-45FB-BABD-57F2651EC2F8}">
  <a:tblStyle styleId="{1F6E4E23-B760-45FB-BABD-57F2651EC2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822563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822563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3822563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3822563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3822563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3822563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3822563b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3822563b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3822563b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3822563b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3822563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3822563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3822563b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3822563b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3822563b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3822563b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3822563b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3822563b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3822563b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3822563b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Data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Data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panel data?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mix of cross-sectional and time-series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Contains repeated </a:t>
            </a:r>
            <a:r>
              <a:rPr lang="en"/>
              <a:t>observations</a:t>
            </a:r>
            <a:r>
              <a:rPr lang="en"/>
              <a:t> on the same units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Yit = Outcome of unit i at time 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Unemployment by state and year*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panel data / panel regression models?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Controls for unobserved, time-invariant factors (innate ability, company culture.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More data = more precision (lower standard errors)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Can model dynamics (past outcomes affecting current / future)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Reduces omitted variable bias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More realistic causal modeling (changes take place over 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Panel Data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952500" y="135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{1F6E4E23-B760-45FB-BABD-57F2651EC2F8}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State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Year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Unemployment Rate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Missouri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2005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4.4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Missouri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4.3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Missouri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2007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4.1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Illinois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2005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5.3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Illinois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5.8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Illinois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2007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6.0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Kansas…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2005…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3.9…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Data Models: Fixed Effects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Control for unobserved, time-invariant factors for each unit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 unit differences aren’t random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when data is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Data is in panel format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You suspect unobserved, time-invariant characteristics of units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Interest is in within-unit variation (over 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How does worker A’s wage change from year 1 to year 2 as training hours increase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comparing A to B, comparing At1 to At2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 answers “for a given worker, when they train more, does their wage rise?”, while cross-sectional OLS answers “do workers who train more have higher wages than those who train less”</a:t>
            </a:r>
            <a:endParaRPr/>
          </a:p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Yit = B0 + Ai + B(Xit) + Uit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B0 = Intercept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= Unit specific intercept modifier (each unit gets an intercept </a:t>
            </a:r>
            <a:r>
              <a:rPr lang="en"/>
              <a:t>adjustment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 = Effect of Xit on Yit within the same unit over time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Uit = Error term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Effects Continued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Error isn’t correlated with the regressors for any time period (strict exogeneity)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No perfect collinearity (time invariant variables like gender are dropped)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Sufficient within-unit variation in 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No dynamic panel bias (if lagged Y)</a:t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Diagnostics / Tests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Hausman test for fixed vs random effects* model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Check for autocorrelation and heteroskedasticity (maybe use clustered standard errors)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Check for time invariant variables (if all are time-invariant, FE is pointless)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Effects Model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00" y="1017725"/>
            <a:ext cx="3472855" cy="39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3402" y="1054475"/>
            <a:ext cx="5094775" cy="39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1549"/>
            <a:ext cx="9143999" cy="3760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 Data Models: Random Effects 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Incorporates both within-unit variation and between-unit variation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 unit differences are random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when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Data is in panel format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You suspect unit-specific effects (Ai) are random and </a:t>
            </a:r>
            <a:r>
              <a:rPr lang="en"/>
              <a:t>uncorrelated</a:t>
            </a:r>
            <a:r>
              <a:rPr lang="en"/>
              <a:t> with Xit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You want to leverage both </a:t>
            </a:r>
            <a:r>
              <a:rPr lang="en"/>
              <a:t>within</a:t>
            </a:r>
            <a:r>
              <a:rPr lang="en"/>
              <a:t>-unit changes and cross-unit differences for efficiency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Do workers who train more (both over time and compared to other workers) tend to earn higher wages, assuming that unobserved worker ability is random and unrelated to training?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 answers: “Across workers and over time, does training correlate with higher wages, assuming differences in worker ability are random and uncorrelated with training?</a:t>
            </a:r>
            <a:endParaRPr/>
          </a:p>
        </p:txBody>
      </p:sp>
      <p:sp>
        <p:nvSpPr>
          <p:cNvPr id="103" name="Google Shape;10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Yit = B0 + Bk(Xkit) + Ai + Uit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B0 = Overall intercept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 = Slope (effect of Xit on Yit)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= Random effect for unit 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Uit = Error term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Effects Continued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Unit specific random effect Ai is not correlated with Xit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No perfect </a:t>
            </a:r>
            <a:r>
              <a:rPr lang="en"/>
              <a:t>multicollinearity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No heteroskedasticity or autocorrelation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Random effects are normally distributed </a:t>
            </a:r>
            <a:endParaRPr/>
          </a:p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Diagnostics / Tests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Hausman test for fixed vs random effects* model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Breusch-Pagan LM test for pooled OLS vs 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Check for autocorrelation and heteroskedasticity (maybe use clustered standard errors)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"/>
              <a:t>Check for time invariant variables (if all are time-invariant, FE is pointless)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Effects 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152475"/>
            <a:ext cx="4724651" cy="32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80274"/>
            <a:ext cx="4071099" cy="296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306"/>
            <a:ext cx="9144000" cy="4366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