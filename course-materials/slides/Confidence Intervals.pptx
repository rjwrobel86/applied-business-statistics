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</p:sldIdLst>
  <p:sldSz cy="5143500" cx="9144000"/>
  <p:notesSz cx="6858000" cy="9144000"/>
  <p:embeddedFontLst>
    <p:embeddedFont>
      <p:font typeface="Playfair Display"/>
      <p:regular r:id="rId33"/>
      <p:bold r:id="rId34"/>
      <p:italic r:id="rId35"/>
      <p:boldItalic r:id="rId36"/>
    </p:embeddedFont>
    <p:embeddedFont>
      <p:font typeface="Montserrat"/>
      <p:regular r:id="rId37"/>
      <p:bold r:id="rId38"/>
      <p:italic r:id="rId39"/>
      <p:boldItalic r:id="rId40"/>
    </p:embeddedFont>
    <p:embeddedFont>
      <p:font typeface="Oswald"/>
      <p:regular r:id="rId41"/>
      <p:bold r:id="rId4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Montserrat-boldItalic.fntdata"/><Relationship Id="rId20" Type="http://schemas.openxmlformats.org/officeDocument/2006/relationships/slide" Target="slides/slide15.xml"/><Relationship Id="rId42" Type="http://schemas.openxmlformats.org/officeDocument/2006/relationships/font" Target="fonts/Oswald-bold.fntdata"/><Relationship Id="rId41" Type="http://schemas.openxmlformats.org/officeDocument/2006/relationships/font" Target="fonts/Oswald-regular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PlayfairDisplay-regular.fntdata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PlayfairDisplay-italic.fntdata"/><Relationship Id="rId12" Type="http://schemas.openxmlformats.org/officeDocument/2006/relationships/slide" Target="slides/slide7.xml"/><Relationship Id="rId34" Type="http://schemas.openxmlformats.org/officeDocument/2006/relationships/font" Target="fonts/PlayfairDisplay-bold.fntdata"/><Relationship Id="rId15" Type="http://schemas.openxmlformats.org/officeDocument/2006/relationships/slide" Target="slides/slide10.xml"/><Relationship Id="rId37" Type="http://schemas.openxmlformats.org/officeDocument/2006/relationships/font" Target="fonts/Montserrat-regular.fntdata"/><Relationship Id="rId14" Type="http://schemas.openxmlformats.org/officeDocument/2006/relationships/slide" Target="slides/slide9.xml"/><Relationship Id="rId36" Type="http://schemas.openxmlformats.org/officeDocument/2006/relationships/font" Target="fonts/PlayfairDisplay-boldItalic.fntdata"/><Relationship Id="rId17" Type="http://schemas.openxmlformats.org/officeDocument/2006/relationships/slide" Target="slides/slide12.xml"/><Relationship Id="rId39" Type="http://schemas.openxmlformats.org/officeDocument/2006/relationships/font" Target="fonts/Montserrat-italic.fntdata"/><Relationship Id="rId16" Type="http://schemas.openxmlformats.org/officeDocument/2006/relationships/slide" Target="slides/slide11.xml"/><Relationship Id="rId38" Type="http://schemas.openxmlformats.org/officeDocument/2006/relationships/font" Target="fonts/Montserrat-bold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2e6bac9d9b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2e6bac9d9b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2ef0918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262ef0918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262ef0918e5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262ef0918e5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2a28750e99c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2a28750e99c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262f6d02ac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262f6d02ac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a28750e99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a28750e99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cf37e053b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cf37e053b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262ef0918e5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262ef0918e5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2a2875108e5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2a2875108e5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262ef0918e5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262ef0918e5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63e95459d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63e95459d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a28750e99c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a28750e99c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2a2875108e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2a2875108e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a2875108e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2a2875108e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2a28750e99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2a28750e99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2a28750e99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2a28750e99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2a28750e99c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2a28750e99c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2a28750e99c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2a28750e99c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2a2875108e5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2a2875108e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f37e053b8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cf37e053b8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cf37e053b8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cf37e053b8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60f9cbcc5a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60f9cbcc5a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g3cf37e053b8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1" name="Google Shape;211;g3cf37e053b8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3701f39b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7" name="Google Shape;217;g33701f39b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2a2875108e5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2a2875108e5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2a2875108e5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2a2875108e5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2a2875108e5_0_6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2a2875108e5_0_6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4286250" y="0"/>
            <a:ext cx="723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4358475" y="0"/>
            <a:ext cx="38532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6800"/>
              <a:buFont typeface="Playfair Display"/>
              <a:buNone/>
              <a:defRPr b="1" sz="6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44250" y="3550650"/>
            <a:ext cx="4910100" cy="577800"/>
          </a:xfrm>
          <a:prstGeom prst="rect">
            <a:avLst/>
          </a:prstGeom>
          <a:solidFill>
            <a:schemeClr val="dk2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Montserrat"/>
              <a:buNone/>
              <a:defRPr b="1" sz="24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4"/>
        </a:solid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rot="5400000">
            <a:off x="4550700" y="-498600"/>
            <a:ext cx="42600" cy="84558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  <a:solidFill>
            <a:srgbClr val="FFFFFF"/>
          </a:solidFill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Font typeface="Playfair Display"/>
              <a:buNone/>
              <a:defRPr b="1" sz="4800"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5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0" name="Google Shape;30;p6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Font typeface="Playfair Display"/>
              <a:buNone/>
              <a:defRPr sz="5400">
                <a:solidFill>
                  <a:schemeClr val="lt1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37" name="Google Shape;37;p8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4572000" y="-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0" name="Google Shape;40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1" name="Google Shape;41;p9"/>
          <p:cNvSpPr txBox="1"/>
          <p:nvPr>
            <p:ph type="title"/>
          </p:nvPr>
        </p:nvSpPr>
        <p:spPr>
          <a:xfrm>
            <a:off x="265500" y="1081675"/>
            <a:ext cx="4045200" cy="178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2" name="Google Shape;42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3" name="Google Shape;43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lt1"/>
                </a:highlight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lt1"/>
                </a:highlight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lt1"/>
                </a:highlight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lt1"/>
                </a:highlight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>
                <a:highlight>
                  <a:schemeClr val="dk1"/>
                </a:highlight>
              </a:defRPr>
            </a:lvl1pPr>
          </a:lstStyle>
          <a:p/>
        </p:txBody>
      </p:sp>
      <p:sp>
        <p:nvSpPr>
          <p:cNvPr id="47" name="Google Shape;47;p10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1"/>
          <p:cNvSpPr txBox="1"/>
          <p:nvPr>
            <p:ph hasCustomPrompt="1" type="title"/>
          </p:nvPr>
        </p:nvSpPr>
        <p:spPr>
          <a:xfrm>
            <a:off x="311700" y="999925"/>
            <a:ext cx="8520600" cy="214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14000"/>
              <a:buFont typeface="Montserrat"/>
              <a:buNone/>
              <a:defRPr sz="14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t>xx%</a:t>
            </a:r>
          </a:p>
        </p:txBody>
      </p:sp>
      <p:sp>
        <p:nvSpPr>
          <p:cNvPr id="50" name="Google Shape;50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>
                <a:highlight>
                  <a:schemeClr val="dk1"/>
                </a:highlight>
              </a:defRPr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>
                <a:highlight>
                  <a:schemeClr val="dk1"/>
                </a:highlight>
              </a:defRPr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>
                <a:highlight>
                  <a:schemeClr val="dk1"/>
                </a:highlight>
              </a:defRPr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>
                <a:highlight>
                  <a:schemeClr val="dk1"/>
                </a:highlight>
              </a:defRPr>
            </a:lvl9pPr>
          </a:lstStyle>
          <a:p/>
        </p:txBody>
      </p:sp>
      <p:sp>
        <p:nvSpPr>
          <p:cNvPr id="51" name="Google Shape;51;p1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2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pop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highlight>
                  <a:schemeClr val="dk1"/>
                </a:highlight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Playfair Display"/>
              <a:buChar char="●"/>
              <a:defRPr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●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○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Playfair Display"/>
              <a:buChar char="■"/>
              <a:defRPr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7999" y="468875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Relationship Id="rId4" Type="http://schemas.openxmlformats.org/officeDocument/2006/relationships/image" Target="../media/image7.png"/><Relationship Id="rId5" Type="http://schemas.openxmlformats.org/officeDocument/2006/relationships/image" Target="../media/image1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Relationship Id="rId4" Type="http://schemas.openxmlformats.org/officeDocument/2006/relationships/image" Target="../media/image13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5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7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3"/>
          <p:cNvSpPr txBox="1"/>
          <p:nvPr>
            <p:ph type="ctr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</a:t>
            </a:r>
            <a:r>
              <a:rPr lang="en"/>
              <a:t> Intervals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Point Estimates	</a:t>
            </a:r>
            <a:endParaRPr/>
          </a:p>
        </p:txBody>
      </p:sp>
      <p:sp>
        <p:nvSpPr>
          <p:cNvPr id="64" name="Google Shape;64;p14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Point Estimate: </a:t>
            </a:r>
            <a:r>
              <a:rPr lang="en"/>
              <a:t>A single-number estimate of a population parameter.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Sampling statistics usually differ from the population parameter because of sampling variability /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We need a way to quantify the uncertainty around a sample estimate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That’s where confidence intervals come in!</a:t>
            </a:r>
            <a:endParaRPr/>
          </a:p>
        </p:txBody>
      </p:sp>
      <p:pic>
        <p:nvPicPr>
          <p:cNvPr id="65" name="Google Shape;65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24400" y="1170125"/>
            <a:ext cx="4267199" cy="2786587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5193375" y="4109100"/>
            <a:ext cx="3510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p</a:t>
            </a:r>
            <a:r>
              <a:rPr lang="en" sz="1800">
                <a:solidFill>
                  <a:schemeClr val="dk2"/>
                </a:solidFill>
              </a:rPr>
              <a:t>opulation mean = 99.72, 100 samples, max mean = 108.26, min mean = 92.26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 and Formula (Z)</a:t>
            </a:r>
            <a:endParaRPr/>
          </a:p>
        </p:txBody>
      </p:sp>
      <p:sp>
        <p:nvSpPr>
          <p:cNvPr id="72" name="Google Shape;72;p15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</a:t>
            </a:r>
            <a:endParaRPr/>
          </a:p>
          <a:p>
            <a:pPr indent="-325755" lvl="0" marL="457200" rtl="0" algn="l">
              <a:spcBef>
                <a:spcPts val="120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Random sampling 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Independent observations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Population </a:t>
            </a:r>
            <a:r>
              <a:rPr lang="en"/>
              <a:t>standard</a:t>
            </a:r>
            <a:r>
              <a:rPr lang="en"/>
              <a:t> deviation is known (for Z)</a:t>
            </a:r>
            <a:endParaRPr/>
          </a:p>
          <a:p>
            <a:pPr indent="-325755" lvl="0" marL="457200" rtl="0" algn="l">
              <a:spcBef>
                <a:spcPts val="0"/>
              </a:spcBef>
              <a:spcAft>
                <a:spcPts val="0"/>
              </a:spcAft>
              <a:buSzPct val="100000"/>
              <a:buAutoNum type="arabicParenR"/>
            </a:pPr>
            <a:r>
              <a:rPr lang="en"/>
              <a:t>Sample is normally distributed or larger than n = 30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Margin of Error = Z Critical Value  * Standard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Upper bound = Sample Mean </a:t>
            </a:r>
            <a:r>
              <a:rPr lang="en"/>
              <a:t>+ MOE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Lower bound = Sample Mean - MOE</a:t>
            </a:r>
            <a:endParaRPr/>
          </a:p>
        </p:txBody>
      </p:sp>
      <p:pic>
        <p:nvPicPr>
          <p:cNvPr id="73" name="Google Shape;7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25100" y="1398175"/>
            <a:ext cx="3676650" cy="1695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5100" y="3474066"/>
            <a:ext cx="3676651" cy="85150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1575" y="438974"/>
            <a:ext cx="4145400" cy="4265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7027" y="406197"/>
            <a:ext cx="4145400" cy="43311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 Confidence Intervals?</a:t>
            </a:r>
            <a:endParaRPr/>
          </a:p>
        </p:txBody>
      </p:sp>
      <p:sp>
        <p:nvSpPr>
          <p:cNvPr id="86" name="Google Shape;86;p17"/>
          <p:cNvSpPr txBox="1"/>
          <p:nvPr>
            <p:ph idx="1" type="body"/>
          </p:nvPr>
        </p:nvSpPr>
        <p:spPr>
          <a:xfrm>
            <a:off x="311700" y="1152475"/>
            <a:ext cx="8520600" cy="179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Confidence Interval Interpretation: </a:t>
            </a:r>
            <a:r>
              <a:rPr lang="en"/>
              <a:t>If we repeatedly took random samples from the same population and built confidence intervals the same way each time, 1 - alpha of those intervals would contain the true population parameter.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 narrower interval indicates a more precise estimate.</a:t>
            </a:r>
            <a:endParaRPr/>
          </a:p>
        </p:txBody>
      </p:sp>
      <p:pic>
        <p:nvPicPr>
          <p:cNvPr id="87" name="Google Shape;87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6" y="3318150"/>
            <a:ext cx="6664558" cy="15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 Confidence Intervals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Of 20 samples, 20 sample means, and 20 confidence intervals…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None are equal to the actual population mean, as we would expect, due to sampling error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Of the 20 intervals, 10 contain the actual population parameter being estimated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Ergo, this table shows intervals for 50% confidence (if </a:t>
            </a:r>
            <a:r>
              <a:rPr lang="en"/>
              <a:t>correctly</a:t>
            </a:r>
            <a:r>
              <a:rPr lang="en"/>
              <a:t> constructed)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Note that 50% refers to the long-run success rate of the method, not the probability for a single finished interval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4" name="Google Shape;94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47450" y="1001887"/>
            <a:ext cx="3717575" cy="3717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Interpreting</a:t>
            </a:r>
            <a:r>
              <a:rPr lang="en"/>
              <a:t> Confidence Intervals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95% CI for average monthly customer spending [$84, $96]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Interpretation: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We estimate the population mean monthly spend is between $84 and $96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AREN’T Confidence Intervals</a:t>
            </a:r>
            <a:endParaRPr/>
          </a:p>
        </p:txBody>
      </p:sp>
      <p:sp>
        <p:nvSpPr>
          <p:cNvPr id="106" name="Google Shape;106;p20"/>
          <p:cNvSpPr txBox="1"/>
          <p:nvPr>
            <p:ph idx="1" type="body"/>
          </p:nvPr>
        </p:nvSpPr>
        <p:spPr>
          <a:xfrm>
            <a:off x="311700" y="1152475"/>
            <a:ext cx="8520600" cy="154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32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are constantly misinterpreted.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Incorrect interpretations: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1) </a:t>
            </a:r>
            <a:r>
              <a:rPr b="1" lang="en"/>
              <a:t>There is a 1-Alpha % chance that the true population mean falls within the interval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2) 1-Alpha% of the data fall inside the interval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3) 1-Alpha% of sample means fall inside the interval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4) The interval contains 1-Alpha% of the possible values of the parameter</a:t>
            </a:r>
            <a:endParaRPr b="1"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39716" y="3318150"/>
            <a:ext cx="6664558" cy="15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373773"/>
            <a:ext cx="4260301" cy="2727037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538151" y="246597"/>
            <a:ext cx="3301048" cy="232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538151" y="2689475"/>
            <a:ext cx="3301050" cy="23251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20" name="Google Shape;120;p22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Mean: 100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Sample Size: 81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Population Standard Deviation: 15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Standard Error = 15/sqrt(81) = 1.67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Confidence = 95% / Alpha = 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Alpha / 2 = 2.5%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CV from Z Table = 1.96</a:t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4730025" y="10177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Upper Bound =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</a:t>
            </a:r>
            <a:r>
              <a:rPr lang="en"/>
              <a:t> + 1.96 * (15 / sqrt(81))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 + 1.96 * 1.67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 + 3.27 = </a:t>
            </a:r>
            <a:r>
              <a:rPr lang="en"/>
              <a:t>103.27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Lower Bound = 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100 - 1.96 * (15 / sqrt(81))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en"/>
              <a:t>100 - 1.96 * 1.67 =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100 - 3.27 = 96.73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Interval =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"/>
              <a:t>[96.73, 103.27]</a:t>
            </a:r>
            <a:endParaRPr b="1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for Proportions</a:t>
            </a:r>
            <a:endParaRPr/>
          </a:p>
        </p:txBody>
      </p:sp>
      <p:sp>
        <p:nvSpPr>
          <p:cNvPr id="127" name="Google Shape;127;p23"/>
          <p:cNvSpPr txBox="1"/>
          <p:nvPr>
            <p:ph idx="1" type="body"/>
          </p:nvPr>
        </p:nvSpPr>
        <p:spPr>
          <a:xfrm>
            <a:off x="311700" y="1234075"/>
            <a:ext cx="55485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Assumptions: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Random Sample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Independent Observations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Large enough sample for normal approximation: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n*p&gt;=10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n(1-p)&gt;=10</a:t>
            </a:r>
            <a:endParaRPr/>
          </a:p>
        </p:txBody>
      </p:sp>
      <p:pic>
        <p:nvPicPr>
          <p:cNvPr id="128" name="Google Shape;128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60200" y="221788"/>
            <a:ext cx="2360200" cy="10191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3"/>
          <p:cNvSpPr txBox="1"/>
          <p:nvPr/>
        </p:nvSpPr>
        <p:spPr>
          <a:xfrm>
            <a:off x="5540300" y="1464200"/>
            <a:ext cx="3000000" cy="3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60% of customers purchase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P-hat = 0.60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Z for 95% = 1.96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…math…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0.6 + 0.096 = 0.696 = Upper bound</a:t>
            </a:r>
            <a:endParaRPr sz="1800"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0.6 - 0.096 = 0.504 = Lower bound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With Z - Using Excel</a:t>
            </a:r>
            <a:endParaRPr/>
          </a:p>
        </p:txBody>
      </p:sp>
      <p:sp>
        <p:nvSpPr>
          <p:cNvPr id="135" name="Google Shape;135;p24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 1: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Margin of Error  </a:t>
            </a:r>
            <a:r>
              <a:rPr lang="en" sz="1800"/>
              <a:t>=confidence.norm(alpha, population standard deviation, sample size)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Add/subtract MOE to/from the sample mean to get intervals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/>
          </a:p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45720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 2: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Z Critical Value = norm.s.inv(1-alpha/2)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Standard Error = stdev.p(x) / sqrt(n)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Margin of Error = CV * SE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 sz="1800"/>
              <a:t>Add/subtract MOE to/from the sample mean to get intervals</a:t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With Z - Using Python</a:t>
            </a:r>
            <a:endParaRPr/>
          </a:p>
        </p:txBody>
      </p:sp>
      <p:sp>
        <p:nvSpPr>
          <p:cNvPr id="142" name="Google Shape;142;p25"/>
          <p:cNvSpPr txBox="1"/>
          <p:nvPr>
            <p:ph idx="2" type="body"/>
          </p:nvPr>
        </p:nvSpPr>
        <p:spPr>
          <a:xfrm>
            <a:off x="506225" y="1152475"/>
            <a:ext cx="406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import scipy.stats as stats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import numpy as np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x = [1, 2, 3, 4, 5]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mean_x = np.mean(x)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stdev_x = np.std(x)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n = len(x)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s</a:t>
            </a:r>
            <a:r>
              <a:rPr lang="en" sz="1650"/>
              <a:t>qrt_n = np.sqrt(n)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cv = stats.norm.ppf(1-(alpha/2))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/>
          </a:p>
        </p:txBody>
      </p:sp>
      <p:sp>
        <p:nvSpPr>
          <p:cNvPr id="143" name="Google Shape;143;p25"/>
          <p:cNvSpPr txBox="1"/>
          <p:nvPr>
            <p:ph idx="2" type="body"/>
          </p:nvPr>
        </p:nvSpPr>
        <p:spPr>
          <a:xfrm>
            <a:off x="4572125" y="1152475"/>
            <a:ext cx="406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s</a:t>
            </a:r>
            <a:r>
              <a:rPr lang="en" sz="1650"/>
              <a:t>e = stdev_x / sqrt_n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m</a:t>
            </a:r>
            <a:r>
              <a:rPr lang="en" sz="1650"/>
              <a:t>oe = se * cv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u</a:t>
            </a:r>
            <a:r>
              <a:rPr lang="en" sz="1650"/>
              <a:t>pper = mean_x + moe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l</a:t>
            </a:r>
            <a:r>
              <a:rPr lang="en" sz="1650"/>
              <a:t>ower = mean_x - moe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vs Interval Size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 intervals relate to confidence?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Higher confidence = More likely to contain the population parameter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More likely to contain the population parameter = Wider!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Higher confidence -&gt; Larger critical value -&gt; Larger margin of error -&gt; Wider interval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92550" y="3760796"/>
            <a:ext cx="5758899" cy="1200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if you don’t know the population standard deviation?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0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 almost never will!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 this case use the T-Distribution instead of Z-Distribution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Use sample standard deviation instead of population standard deviation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The t distribution is determined by degrees of freedom.  The critical value chosen depends on alpha and </a:t>
            </a:r>
            <a:r>
              <a:rPr lang="en"/>
              <a:t>whether</a:t>
            </a:r>
            <a:r>
              <a:rPr lang="en"/>
              <a:t> the interval is one or two sided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DOF = n - 1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Tails =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Fun Fact: As sample size increases, T approaches the normal distribution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 rotWithShape="1">
          <a:blip r:embed="rId3">
            <a:alphaModFix/>
          </a:blip>
          <a:srcRect b="6938" l="0" r="0" t="6234"/>
          <a:stretch/>
        </p:blipFill>
        <p:spPr>
          <a:xfrm>
            <a:off x="5260700" y="1877013"/>
            <a:ext cx="3067050" cy="138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3616" y="0"/>
            <a:ext cx="5356766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168" name="Google Shape;168;p29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Sample Mean: 50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Sample Size: 25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Sample Standard Deviation: 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SE: 3 / sqrt(25) = 0.6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Confidence = 95% / Alpha = 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Alpha / 2 = 2.5%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CV from T Table = 2.064</a:t>
            </a:r>
            <a:endParaRPr/>
          </a:p>
        </p:txBody>
      </p:sp>
      <p:sp>
        <p:nvSpPr>
          <p:cNvPr id="169" name="Google Shape;169;p29"/>
          <p:cNvSpPr txBox="1"/>
          <p:nvPr>
            <p:ph idx="1" type="body"/>
          </p:nvPr>
        </p:nvSpPr>
        <p:spPr>
          <a:xfrm>
            <a:off x="4572000" y="101772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Upper Bound</a:t>
            </a:r>
            <a:r>
              <a:rPr lang="en"/>
              <a:t>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50 + 2.064 * 3 / 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MOE = 2.064 * 0.6 = 1.23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50 + 1.23 = 51.23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Lower Bound</a:t>
            </a:r>
            <a:r>
              <a:rPr lang="en"/>
              <a:t> =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50 - 1.23 = 48.77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Interval =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/>
              <a:t>[48.77, 51.23]</a:t>
            </a:r>
            <a:endParaRPr b="1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 rotWithShape="1">
          <a:blip r:embed="rId3">
            <a:alphaModFix/>
          </a:blip>
          <a:srcRect b="6938" l="0" r="0" t="6234"/>
          <a:stretch/>
        </p:blipFill>
        <p:spPr>
          <a:xfrm>
            <a:off x="7063850" y="509445"/>
            <a:ext cx="1768450" cy="801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With T - Using Excel</a:t>
            </a:r>
            <a:endParaRPr/>
          </a:p>
        </p:txBody>
      </p:sp>
      <p:sp>
        <p:nvSpPr>
          <p:cNvPr id="176" name="Google Shape;176;p30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 1: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MOE</a:t>
            </a:r>
            <a:r>
              <a:rPr lang="en" sz="1800"/>
              <a:t> =confidence.t(alpha, sample standard deviation, sample size)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800"/>
              <a:t>Add/subtract MOE to/from the sample mean to get intervals</a:t>
            </a:r>
            <a:endParaRPr b="1"/>
          </a:p>
        </p:txBody>
      </p:sp>
      <p:sp>
        <p:nvSpPr>
          <p:cNvPr id="177" name="Google Shape;177;p30"/>
          <p:cNvSpPr txBox="1"/>
          <p:nvPr>
            <p:ph idx="1" type="body"/>
          </p:nvPr>
        </p:nvSpPr>
        <p:spPr>
          <a:xfrm>
            <a:off x="4311600" y="101772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Method 2: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Critical Value = t.inv.2t(alpha, n-1)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Standard Error = stdev.s(x) / sqrt(n)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Margin of Error = CV * SE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800"/>
              <a:t>Add/subtract MOE to/from the sample mean to get intervals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Intervals With T - Using Python</a:t>
            </a:r>
            <a:endParaRPr/>
          </a:p>
        </p:txBody>
      </p:sp>
      <p:sp>
        <p:nvSpPr>
          <p:cNvPr id="183" name="Google Shape;183;p31"/>
          <p:cNvSpPr txBox="1"/>
          <p:nvPr>
            <p:ph idx="2" type="body"/>
          </p:nvPr>
        </p:nvSpPr>
        <p:spPr>
          <a:xfrm>
            <a:off x="506225" y="1152475"/>
            <a:ext cx="406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50"/>
              <a:t>Python w/ Scipy</a:t>
            </a:r>
            <a:endParaRPr b="1"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import scipy.stats as stats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import numpy as np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x = [1, 2, 3, 4, 5]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mean_x = np.mean(x)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stdev_x = np.std(x, ddof=1)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n = len(x)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sqrt_n = np.sqrt(n)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650"/>
              <a:t>cv = stats.t.ppf(1-(0.05/2), df=n-1)</a:t>
            </a:r>
            <a:endParaRPr b="1"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/>
          </a:p>
        </p:txBody>
      </p:sp>
      <p:sp>
        <p:nvSpPr>
          <p:cNvPr id="184" name="Google Shape;184;p31"/>
          <p:cNvSpPr txBox="1"/>
          <p:nvPr>
            <p:ph idx="2" type="body"/>
          </p:nvPr>
        </p:nvSpPr>
        <p:spPr>
          <a:xfrm>
            <a:off x="4572125" y="1152475"/>
            <a:ext cx="4065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50"/>
              <a:t>se = stdev_x / sqrt_n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moe = se * cv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upper = mean_x + moe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650"/>
              <a:t>lower = mean_x - moe</a:t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65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50"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0" st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1" st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2" st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>
                                            <p:txEl>
                                              <p:pRg end="13" st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Difference in Means</a:t>
            </a:r>
            <a:endParaRPr/>
          </a:p>
        </p:txBody>
      </p:sp>
      <p:sp>
        <p:nvSpPr>
          <p:cNvPr id="190" name="Google Shape;190;p32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CI = (Mean 1 - Mean 2) +/- CV * 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Point estimate: Mean 1 - Mean 2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None/>
            </a:pPr>
            <a:r>
              <a:rPr lang="en"/>
              <a:t>T Stat = (Mean 1 - Mean 2) / 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 = Welch’s DF formula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Example: </a:t>
            </a:r>
            <a:endParaRPr/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SzPts val="1400"/>
              <a:buAutoNum type="alphaUcParenR"/>
            </a:pPr>
            <a:r>
              <a:rPr lang="en"/>
              <a:t>Mean: 84, SD 10, n: 40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AutoNum type="alphaUcParenR"/>
            </a:pPr>
            <a:r>
              <a:rPr lang="en"/>
              <a:t>Mean 79, SD: 12, n: 35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Difference = 5</a:t>
            </a:r>
            <a:endParaRPr/>
          </a:p>
        </p:txBody>
      </p:sp>
      <p:sp>
        <p:nvSpPr>
          <p:cNvPr id="191" name="Google Shape;191;p32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SE: …math… 2.57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DF = 66.47 = 66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CV = 1.997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MOE = 1.997 * 2.57 = 5.14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Interval = 5 +/- 5.14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[-0.14, 10.14]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Clr>
                <a:schemeClr val="dk2"/>
              </a:buClr>
              <a:buSzPct val="78571"/>
              <a:buFont typeface="Arial"/>
              <a:buNone/>
            </a:pPr>
            <a:r>
              <a:rPr lang="en"/>
              <a:t>Because 0 is in the </a:t>
            </a:r>
            <a:r>
              <a:rPr lang="en"/>
              <a:t>interval</a:t>
            </a:r>
            <a:r>
              <a:rPr lang="en"/>
              <a:t>, </a:t>
            </a:r>
            <a:r>
              <a:rPr lang="en"/>
              <a:t>it's</a:t>
            </a:r>
            <a:r>
              <a:rPr lang="en"/>
              <a:t> possible the true difference is zero.</a:t>
            </a:r>
            <a:endParaRPr/>
          </a:p>
        </p:txBody>
      </p:sp>
      <p:pic>
        <p:nvPicPr>
          <p:cNvPr id="192" name="Google Shape;192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13550" y="299063"/>
            <a:ext cx="1974625" cy="864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6975" y="180725"/>
            <a:ext cx="2584500" cy="115010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32"/>
          <p:cNvSpPr txBox="1"/>
          <p:nvPr/>
        </p:nvSpPr>
        <p:spPr>
          <a:xfrm>
            <a:off x="1987650" y="4568850"/>
            <a:ext cx="5168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rPr lang="en">
                <a:solidFill>
                  <a:schemeClr val="dk2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Note: Uses T dist and has same assumptions as T intervals</a:t>
            </a:r>
            <a:endParaRPr>
              <a:solidFill>
                <a:schemeClr val="dk2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Confidence Interval for Correlation</a:t>
            </a:r>
            <a:endParaRPr/>
          </a:p>
        </p:txBody>
      </p:sp>
      <p:sp>
        <p:nvSpPr>
          <p:cNvPr id="200" name="Google Shape;200;p33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Since sampling distribution for correlation </a:t>
            </a:r>
            <a:r>
              <a:rPr lang="en"/>
              <a:t>coefficient</a:t>
            </a:r>
            <a:r>
              <a:rPr lang="en"/>
              <a:t> is not symmetric, we must transform using Fisher z transformation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</a:t>
            </a:r>
            <a:r>
              <a:rPr lang="en"/>
              <a:t> = ½</a:t>
            </a:r>
            <a:r>
              <a:rPr lang="en"/>
              <a:t>*ln((1+r)/(1-r))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se = 1 / (sqrt(n-3))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cv = Z for given level of confidence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Confidence interval (in Z space) = z+/- CV*SE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Convert each endpoint back into correlation using: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33"/>
          <p:cNvSpPr txBox="1"/>
          <p:nvPr>
            <p:ph idx="2" type="body"/>
          </p:nvPr>
        </p:nvSpPr>
        <p:spPr>
          <a:xfrm>
            <a:off x="48324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</a:t>
            </a:r>
            <a:r>
              <a:rPr lang="en"/>
              <a:t> = 0.60, n = 50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v for 95% = 1.96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</a:t>
            </a:r>
            <a:r>
              <a:rPr lang="en"/>
              <a:t> = ½*ln((1 + .6)/(1 - .6)) = 0.693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s</a:t>
            </a:r>
            <a:r>
              <a:rPr lang="en"/>
              <a:t>e = 1 /(sqrt(50) -3) = 0.146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</a:t>
            </a:r>
            <a:r>
              <a:rPr lang="en"/>
              <a:t>i = 0.693 +/- 1.96*0.146 = [0.407, 0.979]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But this needs to be converted back to correlation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c</a:t>
            </a:r>
            <a:r>
              <a:rPr lang="en"/>
              <a:t>i = [0.39, 0.75]</a:t>
            </a:r>
            <a:endParaRPr/>
          </a:p>
        </p:txBody>
      </p:sp>
      <p:pic>
        <p:nvPicPr>
          <p:cNvPr id="202" name="Google Shape;202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00200" y="4114800"/>
            <a:ext cx="1625850" cy="89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Understanding Polling</a:t>
            </a:r>
            <a:endParaRPr/>
          </a:p>
        </p:txBody>
      </p:sp>
      <p:sp>
        <p:nvSpPr>
          <p:cNvPr id="208" name="Google Shape;208;p34"/>
          <p:cNvSpPr txBox="1"/>
          <p:nvPr>
            <p:ph idx="1" type="body"/>
          </p:nvPr>
        </p:nvSpPr>
        <p:spPr>
          <a:xfrm>
            <a:off x="311700" y="1234050"/>
            <a:ext cx="39999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Candidate A is at 51%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Candidate B is at 49%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Margin of Error is +/- 3%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Who is winning?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Too close to call. 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Observed difference isn’t statistically significant!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To Build The Right Confidence Interval</a:t>
            </a:r>
            <a:endParaRPr/>
          </a:p>
        </p:txBody>
      </p:sp>
      <p:sp>
        <p:nvSpPr>
          <p:cNvPr id="214" name="Google Shape;214;p35"/>
          <p:cNvSpPr txBox="1"/>
          <p:nvPr>
            <p:ph idx="1" type="body"/>
          </p:nvPr>
        </p:nvSpPr>
        <p:spPr>
          <a:xfrm>
            <a:off x="311700" y="1234075"/>
            <a:ext cx="8520600" cy="33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Identify parameter (mean or proportion)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Check </a:t>
            </a:r>
            <a:r>
              <a:rPr lang="en"/>
              <a:t>assumptions</a:t>
            </a:r>
            <a:r>
              <a:rPr lang="en"/>
              <a:t> (random, independent, normal / large 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Decide Z or T (Z if population stdev known)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Compute standard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Find critical value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Compute margin of error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Build interval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arenR"/>
            </a:pPr>
            <a:r>
              <a:rPr lang="en"/>
              <a:t>Interpret 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9" name="Google Shape;219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0400" y="190500"/>
            <a:ext cx="2743200" cy="4762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7"/>
          <p:cNvSpPr txBox="1"/>
          <p:nvPr>
            <p:ph type="title"/>
          </p:nvPr>
        </p:nvSpPr>
        <p:spPr>
          <a:xfrm>
            <a:off x="344250" y="1403850"/>
            <a:ext cx="8455500" cy="2146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Necessary Sample Size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Necessary</a:t>
            </a:r>
            <a:r>
              <a:rPr lang="en"/>
              <a:t> Sample Size For Estimating A Mean</a:t>
            </a:r>
            <a:endParaRPr/>
          </a:p>
        </p:txBody>
      </p:sp>
      <p:sp>
        <p:nvSpPr>
          <p:cNvPr id="230" name="Google Shape;230;p38"/>
          <p:cNvSpPr txBox="1"/>
          <p:nvPr>
            <p:ph idx="1" type="body"/>
          </p:nvPr>
        </p:nvSpPr>
        <p:spPr>
          <a:xfrm>
            <a:off x="311700" y="1152475"/>
            <a:ext cx="63408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For a confidence level and an acceptable margin of error, how large must our sample be?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</a:t>
            </a:r>
            <a:r>
              <a:rPr lang="en"/>
              <a:t> = desired margin of error (added and subtracted to get confidence intervals)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</a:t>
            </a:r>
            <a:r>
              <a:rPr lang="en"/>
              <a:t> = necessary sample size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31" name="Google Shape;231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2500" y="2009775"/>
            <a:ext cx="19050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Necessary Sample Size Example</a:t>
            </a:r>
            <a:endParaRPr/>
          </a:p>
        </p:txBody>
      </p:sp>
      <p:sp>
        <p:nvSpPr>
          <p:cNvPr id="237" name="Google Shape;237;p39"/>
          <p:cNvSpPr txBox="1"/>
          <p:nvPr>
            <p:ph idx="1" type="body"/>
          </p:nvPr>
        </p:nvSpPr>
        <p:spPr>
          <a:xfrm>
            <a:off x="311700" y="1152475"/>
            <a:ext cx="6013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 Deviation = 45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If you wanted to know the mean +/-5 at the 90% confidence level, you’d need…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(1.645^2 * 45^2) / 5^2 = 219.19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Round up to 220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n</a:t>
            </a:r>
            <a:r>
              <a:rPr lang="en"/>
              <a:t> must be at least 220</a:t>
            </a:r>
            <a:endParaRPr/>
          </a:p>
        </p:txBody>
      </p:sp>
      <p:pic>
        <p:nvPicPr>
          <p:cNvPr id="238" name="Google Shape;238;p3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52500" y="2009775"/>
            <a:ext cx="1905000" cy="112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Pop">
  <a:themeElements>
    <a:clrScheme name="Pop">
      <a:dk1>
        <a:srgbClr val="F8E71C"/>
      </a:dk1>
      <a:lt1>
        <a:srgbClr val="FFFFFF"/>
      </a:lt1>
      <a:dk2>
        <a:srgbClr val="000000"/>
      </a:dk2>
      <a:lt2>
        <a:srgbClr val="D9D9D9"/>
      </a:lt2>
      <a:accent1>
        <a:srgbClr val="666666"/>
      </a:accent1>
      <a:accent2>
        <a:srgbClr val="483165"/>
      </a:accent2>
      <a:accent3>
        <a:srgbClr val="EB1E95"/>
      </a:accent3>
      <a:accent4>
        <a:srgbClr val="01AFD1"/>
      </a:accent4>
      <a:accent5>
        <a:srgbClr val="0F9D58"/>
      </a:accent5>
      <a:accent6>
        <a:srgbClr val="9C27B0"/>
      </a:accent6>
      <a:hlink>
        <a:srgbClr val="0F9D58"/>
      </a:hlink>
      <a:folHlink>
        <a:srgbClr val="0F9D5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