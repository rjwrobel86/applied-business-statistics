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y="5143500" cx="9144000"/>
  <p:notesSz cx="6858000" cy="9144000"/>
  <p:embeddedFontLst>
    <p:embeddedFont>
      <p:font typeface="Roboto Slab"/>
      <p:regular r:id="rId84"/>
      <p:bold r:id="rId85"/>
    </p:embeddedFont>
    <p:embeddedFont>
      <p:font typeface="Roboto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B260EE-E380-4E3C-A298-C46DE4CC85CA}">
  <a:tblStyle styleId="{B7B260EE-E380-4E3C-A298-C46DE4CC85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7E989AA-6B0E-4C7A-B992-21D8D003B14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RobotoSlab-regular.fntdata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font" Target="fonts/Roboto-regular.fntdata"/><Relationship Id="rId41" Type="http://schemas.openxmlformats.org/officeDocument/2006/relationships/slide" Target="slides/slide35.xml"/><Relationship Id="rId85" Type="http://schemas.openxmlformats.org/officeDocument/2006/relationships/font" Target="fonts/RobotoSlab-bold.fntdata"/><Relationship Id="rId44" Type="http://schemas.openxmlformats.org/officeDocument/2006/relationships/slide" Target="slides/slide38.xml"/><Relationship Id="rId88" Type="http://schemas.openxmlformats.org/officeDocument/2006/relationships/font" Target="fonts/Roboto-italic.fntdata"/><Relationship Id="rId43" Type="http://schemas.openxmlformats.org/officeDocument/2006/relationships/slide" Target="slides/slide37.xml"/><Relationship Id="rId87" Type="http://schemas.openxmlformats.org/officeDocument/2006/relationships/font" Target="fonts/Roboto-bold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Roboto-boldItalic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275aefb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275aefb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fa4fee95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fa4fee95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5a8b660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5a8b660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https://docs.google.com/spreadsheets/d/1wqjOjf7lZ38MH8qTfnSt7Mgys-fS0sdpJRLiyVBBWIQ/edit?usp=sharing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acc3cb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04acc3cb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https://docs.google.com/spreadsheets/d/1wqjOjf7lZ38MH8qTfnSt7Mgys-fS0sdpJRLiyVBBWIQ/edit?usp=sharing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2d3cb91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02d3cb91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275aefba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275aefba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285842b8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285842b8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5ed53462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5ed5346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e6c18ac6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e6c18ac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285842b8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285842b8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02d3cb91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02d3cb91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5dd6052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5dd6052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285842b8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285842b8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275aefba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275aefba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https://docs.google.com/spreadsheets/d/1wqjOjf7lZ38MH8qTfnSt7Mgys-fS0sdpJRLiyVBBWIQ/edit?usp=sharing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285842b8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285842b8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275aefba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6275aefba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05b38c6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05b38c6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2b7d53e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2b7d53e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2b7d53e1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2b7d53e1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02b7d53e1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02b7d53e1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2b7d53e1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2b7d53e1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6285842b8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6285842b8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3d67edd4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03d67edd4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03d67edd4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03d67edd4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3d67edd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3d67edd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03d67edd4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03d67edd4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d2082b8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d2082b8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d2082b83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9d2082b8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d2082b83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d2082b83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03d67edd4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03d67edd4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285842b8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6285842b8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5ed53462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5ed53462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5ed53462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5ed53462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5ed53462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5ed53462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5ed53462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5ed53462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5ed53462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5ed53462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5ed53462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5ed53462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5ed53462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5ed53462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5ed53462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5ed53462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5ed53462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5ed53462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5ed53462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5ed53462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Turning point vs inflection point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5ed53462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e5ed53462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06a08b4f8f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06a08b4f8f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6c13a7ed5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6c13a7ed5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0306705c8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0306705c8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01b048165d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01b048165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f21a94c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cf21a94c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f21a94c2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cf21a94c2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87552a9b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87552a9b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87552a9b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87552a9b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87552a9b4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87552a9b4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8dd17e75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8dd17e75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306705c8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306705c8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06c13a7ed5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06c13a7ed5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04acc3cb4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04acc3cb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04acc3cb4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04acc3cb4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31ad1d36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631ad1d36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7b5caff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d7b5caff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04acc3cb4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04acc3cb4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0306705c8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0306705c8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d1277936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d1277936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09c6af7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a09c6af7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5d2d5a757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5d2d5a75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d2d5a757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5d2d5a757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d2d5a75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5d2d5a75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631ad1d36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631ad1d36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31ad1d36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631ad1d36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31ad1d36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31ad1d36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631ad1d36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631ad1d36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5d2d5a75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5d2d5a75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70238726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70238726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c9901b3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c9901b3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50024bd3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50024bd3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6275aefba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6275aefba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02b71cb67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02b71cb67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9d2082b83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9d2082b83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Relationship Id="rId4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Relationship Id="rId4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png"/><Relationship Id="rId4" Type="http://schemas.openxmlformats.org/officeDocument/2006/relationships/image" Target="../media/image3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3.png"/><Relationship Id="rId4" Type="http://schemas.openxmlformats.org/officeDocument/2006/relationships/image" Target="../media/image2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8.png"/><Relationship Id="rId4" Type="http://schemas.openxmlformats.org/officeDocument/2006/relationships/image" Target="../media/image1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	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Dependent variable:</a:t>
            </a:r>
            <a:r>
              <a:rPr lang="en"/>
              <a:t> The variable we are attempting to predict or explain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Independent variable(s):</a:t>
            </a:r>
            <a:r>
              <a:rPr lang="en"/>
              <a:t>  The variables we are using to predict or explain our dependent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" name="Google Shape;70;p14"/>
          <p:cNvGraphicFramePr/>
          <p:nvPr/>
        </p:nvGraphicFramePr>
        <p:xfrm>
          <a:off x="710025" y="306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{B7B260EE-E380-4E3C-A298-C46DE4CC85CA}</a:tableStyleId>
              </a:tblPr>
              <a:tblGrid>
                <a:gridCol w="3887050"/>
                <a:gridCol w="388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Dependent Variable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Independent Variables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Square feet, # of bedrooms, # of bathrooms….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Homicides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Average prison sentence, number of police…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Sales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Price, advertising budget, sales promotion…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Analysis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Regression analysis</a:t>
            </a:r>
            <a:r>
              <a:rPr lang="en"/>
              <a:t>: A set of statistical techniques used to estimate the relationships between a dependent variable and one or more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allows us to: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A) </a:t>
            </a:r>
            <a:r>
              <a:rPr b="1" lang="en"/>
              <a:t>Quantify the relationship between variables.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What is the relationship between housing price and size?  An additional 100 square feet of housing is worth approximately $x more.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B) Predict the values of one variable given the values of another. 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How expensive will a house that has 2,000 sqft be?  It will be approximately $x.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C) Test hypotheses about relationships between variables.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Example: Does proximity to a park / power plant make a home more / less valuable?  There is a statistically significant negative relationship between housing prices and proximity to a power plant.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2256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Housing Prices vs. Size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300" y="911775"/>
            <a:ext cx="7195399" cy="3926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15750" y="2256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Regression Line = The Line That “Best” Fits The Data </a:t>
            </a:r>
            <a:endParaRPr sz="2600"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300" y="911775"/>
            <a:ext cx="7195399" cy="3926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8575" y="1640221"/>
            <a:ext cx="4688976" cy="257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</a:t>
            </a:r>
            <a:r>
              <a:rPr lang="en"/>
              <a:t>Regression Equation 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600"/>
              <a:t>Y = B0 + </a:t>
            </a:r>
            <a:r>
              <a:rPr b="1" lang="en" sz="3600"/>
              <a:t>B1X</a:t>
            </a:r>
            <a:r>
              <a:rPr b="1" lang="en" sz="3600"/>
              <a:t> + E</a:t>
            </a:r>
            <a:endParaRPr b="1" sz="3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5720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Y: The dependent variable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X: The independent variable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B0: The constant value (Y-intercept)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B1: The slope value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E: Stochastic error term </a:t>
            </a:r>
            <a:endParaRPr b="1"/>
          </a:p>
        </p:txBody>
      </p:sp>
      <p:sp>
        <p:nvSpPr>
          <p:cNvPr id="97" name="Google Shape;97;p18"/>
          <p:cNvSpPr txBox="1"/>
          <p:nvPr/>
        </p:nvSpPr>
        <p:spPr>
          <a:xfrm>
            <a:off x="260400" y="4131975"/>
            <a:ext cx="84957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 that this is essentially the same as the equation of a line: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 = mx + b, where m is the slope and b is the y-intercept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Math 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50" y="1549200"/>
            <a:ext cx="74485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3625" y="3457000"/>
            <a:ext cx="4936191" cy="13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</a:t>
            </a:r>
            <a:r>
              <a:rPr lang="en"/>
              <a:t>Regression Beta </a:t>
            </a:r>
            <a:r>
              <a:rPr lang="en"/>
              <a:t>Coefficient</a:t>
            </a:r>
            <a:r>
              <a:rPr lang="en"/>
              <a:t> Interpretation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B0:</a:t>
            </a:r>
            <a:r>
              <a:rPr b="1" lang="en"/>
              <a:t> The value of the dependent variable when the independent variable equals zero (not always a coherent interpretation)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B1: The change in the dependent variable associated with a single unit increase in the independent variable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60"/>
              <a:t>Price (Thousands of Dollars) = 51.951 + 0.1389 * Square Feet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60"/>
              <a:t>B0: 51.951 - When a house has zero square footage, price is equal to $51k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lang="en" sz="1460"/>
              <a:t>B1: 0.1389 - A single additional square foot is worth $138.9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t/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lang="en" sz="1460"/>
              <a:t>*When variables are transformed, interpretations change.</a:t>
            </a:r>
            <a:endParaRPr sz="146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Confidence Intervals - </a:t>
            </a:r>
            <a:r>
              <a:rPr lang="en"/>
              <a:t>Coefficients</a:t>
            </a:r>
            <a:r>
              <a:rPr lang="en"/>
              <a:t> 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Interpretation: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the </a:t>
            </a:r>
            <a:r>
              <a:rPr lang="en"/>
              <a:t>intervals</a:t>
            </a:r>
            <a:r>
              <a:rPr lang="en"/>
              <a:t> were constructed </a:t>
            </a:r>
            <a:r>
              <a:rPr lang="en"/>
              <a:t>repeatedly</a:t>
            </a:r>
            <a:r>
              <a:rPr lang="en"/>
              <a:t> on different samples, 95% of the intervals would contain the actual population parameter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(Can also be done with y-hat*)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68425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Formula: B +/- t * SE(B)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Alpha = 1 - confidence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Degrees of freedom = n - k - 1, where k is the number of predictors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interval contains zero, variable is statistically insignificant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Fitted Values / Predicted Values / Y-Hat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Fitted values are the estimated values of the dependent variable given each value of the </a:t>
            </a:r>
            <a:r>
              <a:rPr lang="en"/>
              <a:t>independent</a:t>
            </a:r>
            <a:r>
              <a:rPr lang="en"/>
              <a:t> variable(s)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They’re the points on the regression line that correspond to each value of x in the data 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values found</a:t>
            </a:r>
            <a:r>
              <a:rPr lang="en"/>
              <a:t> by plugging the X values into the regression equation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can essentially think of them as the model’s predictions for each observation</a:t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271300"/>
            <a:ext cx="4267199" cy="290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355" y="4299050"/>
            <a:ext cx="3412445" cy="6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Prediction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460"/>
              <a:t>To predict values of the dependent variable using a regression equation, plug values in for the </a:t>
            </a:r>
            <a:r>
              <a:rPr b="1" lang="en" sz="1460"/>
              <a:t>independent</a:t>
            </a:r>
            <a:r>
              <a:rPr b="1" lang="en" sz="1460"/>
              <a:t> variable(s) in the estimated </a:t>
            </a:r>
            <a:r>
              <a:rPr b="1" lang="en" sz="1460"/>
              <a:t>regression</a:t>
            </a:r>
            <a:r>
              <a:rPr b="1" lang="en" sz="1460"/>
              <a:t> equation</a:t>
            </a:r>
            <a:endParaRPr b="1"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460"/>
              <a:t>Price = </a:t>
            </a:r>
            <a:r>
              <a:rPr lang="en" sz="1460"/>
              <a:t>50.951 + 0.1389 * Square Footage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When </a:t>
            </a:r>
            <a:r>
              <a:rPr lang="en" sz="1460"/>
              <a:t>square</a:t>
            </a:r>
            <a:r>
              <a:rPr lang="en" sz="1460"/>
              <a:t> feet = 1000, price equals…?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50.951 + 0.1389 * 1000 = 189.851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When square feet = 2000, price equals…? 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50.951 + 0.1389 * 2000 = 328.751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n" sz="1460"/>
              <a:t>Be careful when using or estimating values outside of the range of your sample.  The relationships that exist within your sample may not exist outside of it!  </a:t>
            </a:r>
            <a:endParaRPr sz="146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for Y-Hat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are 95% confident that the true mean of Y when X = 10 lies between Yl and Yh</a:t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325" y="1811300"/>
            <a:ext cx="3040400" cy="103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3725" y="3198725"/>
            <a:ext cx="36576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Residuals / Errors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Residuals are the difference between the actual values of the dependent variable (Y)  and the predicted/fitted values of the dependent variable (Y-hat)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They are also known as 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Found by subtracting Y-hat from 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 rotWithShape="1">
          <a:blip r:embed="rId3">
            <a:alphaModFix/>
          </a:blip>
          <a:srcRect b="23111" l="0" r="0" t="9649"/>
          <a:stretch/>
        </p:blipFill>
        <p:spPr>
          <a:xfrm>
            <a:off x="5155813" y="4064700"/>
            <a:ext cx="3258126" cy="7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275" y="1144125"/>
            <a:ext cx="4267200" cy="2713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87900" y="2256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Fit = Line That Minimizes The Sum Of Squared </a:t>
            </a:r>
            <a:r>
              <a:rPr lang="en"/>
              <a:t>Residuals</a:t>
            </a:r>
            <a:r>
              <a:rPr lang="en"/>
              <a:t> / Errors…Hence “Least Squares”</a:t>
            </a:r>
            <a:r>
              <a:rPr lang="en"/>
              <a:t> </a:t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4175"/>
            <a:ext cx="8839204" cy="383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Regression Output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87900" y="1489825"/>
            <a:ext cx="42450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190"/>
              <a:t>R^2*</a:t>
            </a:r>
            <a:r>
              <a:rPr lang="en" sz="1190"/>
              <a:t>: The percentage of variation in Y explained by X 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190"/>
              <a:t>Adjusted R^2:</a:t>
            </a:r>
            <a:r>
              <a:rPr lang="en" sz="1190"/>
              <a:t> R^2, but penalized for the inclusion of potentially irrelevant variables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190"/>
              <a:t>Standard Error (of the Regression): </a:t>
            </a:r>
            <a:r>
              <a:rPr lang="en" sz="1190"/>
              <a:t>A measure of the average distance that the observed values fall from the regression line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190"/>
              <a:t>Beta Coefficient(s)</a:t>
            </a:r>
            <a:r>
              <a:rPr lang="en" sz="1190"/>
              <a:t>: The relationship between the X variables and Y variable (holding other variables constant*)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190"/>
              <a:t>T-Statistic: </a:t>
            </a:r>
            <a:r>
              <a:rPr lang="en" sz="1190"/>
              <a:t>B / SE(B)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190"/>
              <a:t>P-Values</a:t>
            </a:r>
            <a:r>
              <a:rPr lang="en" sz="1190"/>
              <a:t>: The p-value associated with the null-hypothesis that the regression coefficient is actually equal to zero (meaningless), based on the T-Statistic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b="1" lang="en" sz="1190"/>
              <a:t>Confidence Intervals</a:t>
            </a:r>
            <a:r>
              <a:rPr lang="en" sz="1190"/>
              <a:t>: Bands around which we can be 95% confident the true value is*** =  Bj +/- T(alpha/2)*SE(Bj)</a:t>
            </a:r>
            <a:endParaRPr sz="1190"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5050" y="1144125"/>
            <a:ext cx="4030824" cy="259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 rotWithShape="1">
          <a:blip r:embed="rId4">
            <a:alphaModFix/>
          </a:blip>
          <a:srcRect b="0" l="7287" r="0" t="0"/>
          <a:stretch/>
        </p:blipFill>
        <p:spPr>
          <a:xfrm>
            <a:off x="4844825" y="4234500"/>
            <a:ext cx="3911274" cy="6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R-Squared (R^2)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Total Sum of Squares (SST)</a:t>
            </a:r>
            <a:r>
              <a:rPr lang="en"/>
              <a:t> = Variation of Y values around their Mean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Sum((Yi - Y-Bar)^2)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Regression Sum of Squares (SSR)</a:t>
            </a:r>
            <a:r>
              <a:rPr lang="en"/>
              <a:t> = Variation attributable to the relationship between X and 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Sum((Y-Hat - Y-Bar)^2)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Error Sum of Squares (SSE)</a:t>
            </a:r>
            <a:r>
              <a:rPr lang="en"/>
              <a:t> = Variation in Y attributable to factors other than X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Sum((Yi - Y-Hat)^2)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R^2 = SSR / SST</a:t>
            </a:r>
            <a:endParaRPr b="1"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468425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R^2 almost always increases with the inclusion of new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doesn’t mean the model is better!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 not focus on maximizing R^2.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Also, don’t compare R^2 between models with different or transformed dependent variables!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R-Squared (R^2)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goal is inference (</a:t>
            </a:r>
            <a:r>
              <a:rPr lang="en"/>
              <a:t>coefficient</a:t>
            </a:r>
            <a:r>
              <a:rPr lang="en"/>
              <a:t> values, confidence intervals, hypothesis testing, etc.), R^2 is not terribly important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goal is prediction (future values), R^2 is more important, but you’d still likely be better off using other metrics (RMSE, MAE, Test R^2)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4815425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Common R^2 Values by Field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Physics: 0.9-0.99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Economics: 0.2-0.6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Psychology: 0.05-0.3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Marketing: 0.01-0.2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Many well-established relationships have significant variable </a:t>
            </a:r>
            <a:r>
              <a:rPr lang="en"/>
              <a:t>coefficients</a:t>
            </a:r>
            <a:r>
              <a:rPr lang="en"/>
              <a:t> but low R^2 values.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F-Test For Overall Significance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test for the statistical significance of the entire 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Tests the model vs a model with no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H0: B1 = B2 = B3…= BN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HA: At least one coefficient =/=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 = number of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- k -1  = degrees of freedom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1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MSR: Mean Square Regression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MSR = SSR / k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MSE: Mean Square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MSE = SSE / n - k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 = MSR / MSE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Test / Table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87900" y="1489825"/>
            <a:ext cx="3999900" cy="16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table based on alpha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 = number of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DF1 / DFN = k 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DF2 / DFD = n - k 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299" y="403650"/>
            <a:ext cx="4431714" cy="4245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00" y="2900275"/>
            <a:ext cx="3136225" cy="20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 Test for Coefficient Significance </a:t>
            </a:r>
            <a:endParaRPr/>
          </a:p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slope coefficients for statistical significance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the slope coefficient actually different that zero?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 = B / Standard Error (B)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DoF = n - k - 1, where k is number of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Get critical values from T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stats software outputs T values and associated p-values for null hypothesis of no linear relationship (B = 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3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slope coefficients for difference from hypothetical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the slope coefficient actually different than x?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 = (B - Value) / Standard Error (B)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DoF = n - k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3"/>
          <p:cNvPicPr preferRelativeResize="0"/>
          <p:nvPr/>
        </p:nvPicPr>
        <p:blipFill rotWithShape="1">
          <a:blip r:embed="rId3">
            <a:alphaModFix/>
          </a:blip>
          <a:srcRect b="18234" l="0" r="16353" t="0"/>
          <a:stretch/>
        </p:blipFill>
        <p:spPr>
          <a:xfrm>
            <a:off x="5593937" y="3743650"/>
            <a:ext cx="1623900" cy="9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 Table (Again)</a:t>
            </a:r>
            <a:endParaRPr/>
          </a:p>
        </p:txBody>
      </p:sp>
      <p:sp>
        <p:nvSpPr>
          <p:cNvPr id="211" name="Google Shape;211;p34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994" y="359024"/>
            <a:ext cx="4608940" cy="44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Regression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controls  = No science</a:t>
            </a:r>
            <a:endParaRPr/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387900" y="1489825"/>
            <a:ext cx="8368200" cy="16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 B grew 3 inches taller per month during the study and received 5mg more of the chemical being tested.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Did the chemical cause the growth?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 was it the additional 10 hours of sunlight, 5 degrees of warmth, or both, or all of them AND the dosage???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 what if dosage has a negative effect, but it’s overwhelmed by the effect of the additional sunlight and heat?</a:t>
            </a:r>
            <a:endParaRPr/>
          </a:p>
        </p:txBody>
      </p:sp>
      <p:graphicFrame>
        <p:nvGraphicFramePr>
          <p:cNvPr id="224" name="Google Shape;224;p36"/>
          <p:cNvGraphicFramePr/>
          <p:nvPr/>
        </p:nvGraphicFramePr>
        <p:xfrm>
          <a:off x="952500" y="341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{B7B260EE-E380-4E3C-A298-C46DE4CC85CA}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Plant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Dosage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Growth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Sun Hours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Temperature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50mg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inches/month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55mg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 inches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/month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But…in real life / business / social sciences we often can’t run controlled </a:t>
            </a:r>
            <a:r>
              <a:rPr lang="en"/>
              <a:t>experiments</a:t>
            </a:r>
            <a:endParaRPr/>
          </a:p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don’t have the luxury of </a:t>
            </a:r>
            <a:r>
              <a:rPr lang="en"/>
              <a:t>controlling</a:t>
            </a:r>
            <a:r>
              <a:rPr lang="en"/>
              <a:t> certain factors like we would if this were chemistry.  Consider the question of stimulus spending efficacy during a recession…Does stimulus spending decrease unemployment?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1" name="Google Shape;231;p37"/>
          <p:cNvGraphicFramePr/>
          <p:nvPr/>
        </p:nvGraphicFramePr>
        <p:xfrm>
          <a:off x="952500" y="266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{B7B260EE-E380-4E3C-A298-C46DE4CC85CA}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Country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Unemployment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Interest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Stimulus Spending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Shared Currency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700b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200b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France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00b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Germany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100b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Regression</a:t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like the simple regression model, but not so simple!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Instead of measuring a single independent </a:t>
            </a:r>
            <a:r>
              <a:rPr lang="en"/>
              <a:t>variable’s</a:t>
            </a:r>
            <a:r>
              <a:rPr lang="en"/>
              <a:t> impact on a </a:t>
            </a:r>
            <a:r>
              <a:rPr lang="en"/>
              <a:t>dependent</a:t>
            </a:r>
            <a:r>
              <a:rPr lang="en"/>
              <a:t> variable, we measure the impact of multiple independent variables (Xi…Xn)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Now here’s the cool part…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…the coefficients (B1…Bn) are interpreted as the impact of each variable upon the dependent variable, </a:t>
            </a:r>
            <a:r>
              <a:rPr b="1" i="1" lang="en" u="sng"/>
              <a:t>holding all the other included variables “constant”</a:t>
            </a:r>
            <a:endParaRPr b="1" i="1"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Regression = Statistical Controls</a:t>
            </a:r>
            <a:endParaRPr/>
          </a:p>
        </p:txBody>
      </p:sp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387900" y="1219324"/>
            <a:ext cx="8368200" cy="14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Kind of like converting prior table into the table below (setting all of each country’s attributes as the same, except for what we’re attempting to calculate, for each variable)</a:t>
            </a:r>
            <a:endParaRPr/>
          </a:p>
        </p:txBody>
      </p:sp>
      <p:graphicFrame>
        <p:nvGraphicFramePr>
          <p:cNvPr id="244" name="Google Shape;244;p39"/>
          <p:cNvGraphicFramePr/>
          <p:nvPr/>
        </p:nvGraphicFramePr>
        <p:xfrm>
          <a:off x="952500" y="234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{B7B260EE-E380-4E3C-A298-C46DE4CC85CA}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Country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Unemployment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Interest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Stimulus Spending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Shared Currency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700b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200b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France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100b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Germany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100b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387900" y="4539575"/>
            <a:ext cx="9144000" cy="14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Unemployment = B0 + B1(Interest Rate) + B2(Stimulus Spending) + B3(Currency Type) + Error</a:t>
            </a:r>
            <a:endParaRPr sz="1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vs X (2D), Y vs X1 and X2 (3D)</a:t>
            </a:r>
            <a:endParaRPr/>
          </a:p>
        </p:txBody>
      </p:sp>
      <p:pic>
        <p:nvPicPr>
          <p:cNvPr id="251" name="Google Shape;2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5" y="1218900"/>
            <a:ext cx="794385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875" y="423799"/>
            <a:ext cx="5854249" cy="429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4+ variables?</a:t>
            </a:r>
            <a:endParaRPr/>
          </a:p>
        </p:txBody>
      </p:sp>
      <p:sp>
        <p:nvSpPr>
          <p:cNvPr id="262" name="Google Shape;262;p42"/>
          <p:cNvSpPr txBox="1"/>
          <p:nvPr>
            <p:ph idx="1" type="body"/>
          </p:nvPr>
        </p:nvSpPr>
        <p:spPr>
          <a:xfrm>
            <a:off x="387900" y="1489825"/>
            <a:ext cx="4234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no way to visualize 4+ dimensions in a universe with 3 </a:t>
            </a:r>
            <a:r>
              <a:rPr lang="en"/>
              <a:t>spatial</a:t>
            </a:r>
            <a:r>
              <a:rPr lang="en"/>
              <a:t> dimensions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need matrix algebra </a:t>
            </a:r>
            <a:endParaRPr/>
          </a:p>
        </p:txBody>
      </p:sp>
      <p:pic>
        <p:nvPicPr>
          <p:cNvPr id="263" name="Google Shape;2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48" y="3172112"/>
            <a:ext cx="3786102" cy="14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575" y="1408675"/>
            <a:ext cx="28194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2700" y="3200063"/>
            <a:ext cx="4158049" cy="1412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 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387900" y="1489825"/>
            <a:ext cx="3134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Arial"/>
                <a:ea typeface="Arial"/>
                <a:cs typeface="Arial"/>
                <a:sym typeface="Arial"/>
              </a:rPr>
              <a:t>Unemployment = 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Arial"/>
                <a:ea typeface="Arial"/>
                <a:cs typeface="Arial"/>
                <a:sym typeface="Arial"/>
              </a:rPr>
              <a:t>B0 + 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Arial"/>
                <a:ea typeface="Arial"/>
                <a:cs typeface="Arial"/>
                <a:sym typeface="Arial"/>
              </a:rPr>
              <a:t>B1(Interest Rate) + 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Arial"/>
                <a:ea typeface="Arial"/>
                <a:cs typeface="Arial"/>
                <a:sym typeface="Arial"/>
              </a:rPr>
              <a:t>B2(Stimulus Spending) + 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Arial"/>
                <a:ea typeface="Arial"/>
                <a:cs typeface="Arial"/>
                <a:sym typeface="Arial"/>
              </a:rPr>
              <a:t>B3(Currency Type) + 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Arial"/>
                <a:ea typeface="Arial"/>
                <a:cs typeface="Arial"/>
                <a:sym typeface="Arial"/>
              </a:rPr>
              <a:t>Error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4802350" y="209950"/>
            <a:ext cx="4028100" cy="45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798">
                <a:latin typeface="Arial"/>
                <a:ea typeface="Arial"/>
                <a:cs typeface="Arial"/>
                <a:sym typeface="Arial"/>
              </a:rPr>
              <a:t>B0 = Constant (Do not interpret without a good reason, nor should you remove it)</a:t>
            </a:r>
            <a:endParaRPr sz="179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798">
                <a:latin typeface="Arial"/>
                <a:ea typeface="Arial"/>
                <a:cs typeface="Arial"/>
                <a:sym typeface="Arial"/>
              </a:rPr>
              <a:t>B1 = Effect of a single point increase in interest rates, </a:t>
            </a:r>
            <a:r>
              <a:rPr i="1" lang="en" sz="1798" u="sng">
                <a:latin typeface="Arial"/>
                <a:ea typeface="Arial"/>
                <a:cs typeface="Arial"/>
                <a:sym typeface="Arial"/>
              </a:rPr>
              <a:t>controlling for the impact of stimulus spending and currency unions</a:t>
            </a:r>
            <a:endParaRPr i="1" sz="1798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798">
                <a:latin typeface="Arial"/>
                <a:ea typeface="Arial"/>
                <a:cs typeface="Arial"/>
                <a:sym typeface="Arial"/>
              </a:rPr>
              <a:t>B2 = Effect of a single unit increase in stimulus spending, </a:t>
            </a:r>
            <a:r>
              <a:rPr i="1" lang="en" sz="1798" u="sng">
                <a:latin typeface="Arial"/>
                <a:ea typeface="Arial"/>
                <a:cs typeface="Arial"/>
                <a:sym typeface="Arial"/>
              </a:rPr>
              <a:t>controlling for the impact of interest rates and currency unions</a:t>
            </a:r>
            <a:endParaRPr i="1" sz="1798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798">
                <a:latin typeface="Arial"/>
                <a:ea typeface="Arial"/>
                <a:cs typeface="Arial"/>
                <a:sym typeface="Arial"/>
              </a:rPr>
              <a:t>B3 = Effect of being in a currency union on unemployment, </a:t>
            </a:r>
            <a:r>
              <a:rPr i="1" lang="en" sz="1798" u="sng">
                <a:latin typeface="Arial"/>
                <a:ea typeface="Arial"/>
                <a:cs typeface="Arial"/>
                <a:sym typeface="Arial"/>
              </a:rPr>
              <a:t>controlling for the impact of stimulus spending and interest rates</a:t>
            </a:r>
            <a:endParaRPr i="1" sz="1798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798">
                <a:latin typeface="Arial"/>
                <a:ea typeface="Arial"/>
                <a:cs typeface="Arial"/>
                <a:sym typeface="Arial"/>
              </a:rPr>
              <a:t>E = Error term capturing omitted influences on unemployment</a:t>
            </a:r>
            <a:endParaRPr sz="1798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00"/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00"/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00"/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00"/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Adjusted R^2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387900" y="1489825"/>
            <a:ext cx="3647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R^2, but increases only if additional variables provide additional predictive power / penalizes the inclusion of irrelevant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Better than R^2 for selecting between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010" y="2112287"/>
            <a:ext cx="4572039" cy="9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4"/>
          <p:cNvSpPr txBox="1"/>
          <p:nvPr/>
        </p:nvSpPr>
        <p:spPr>
          <a:xfrm>
            <a:off x="5046000" y="3351800"/>
            <a:ext cx="30000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= sample size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 = number of predictors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Form and Variable Transformations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Forms</a:t>
            </a:r>
            <a:endParaRPr/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form is the shape of the relationship you assume between the independent variable and the dependent variable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every relationship is a straight line. Some relationships are curved, percentage-based, diminishing, accelerating, or leveling off. Functional forms let us model those different shapes.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Altering functional forms from the linear model are achieved by transforming variables or adding new terms (interactions, dummy variables, lagged variables, etc.)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Form</a:t>
            </a:r>
            <a:endParaRPr/>
          </a:p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387900" y="1304800"/>
            <a:ext cx="3919200" cy="3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32"/>
              <a:t>Linear: Y = B0 + B1x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Log-linear: ln(Y) = B0 + B1*x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Linear-log: Y = B0 + B1*ln(x)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Double-log: ln(Y) = B0 +B1*ln(x)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Polynomial (2nd): Y = B0 + B1*x + B2*x^2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Polynomial (Nth): Y = B0 + B1*x + B2*x^2…Bn*x^n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Inverse: Y = B0 + B1*(1/x)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Square Root: Sqrt(Y) = B0 + B1*x1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Interaction: Y = B0 + B1*x1 + B2*x2 + B3*(x1*x2) + e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32"/>
              <a:t>Logistic* (NOT OLS)</a:t>
            </a:r>
            <a:endParaRPr sz="4932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5245" y="1144125"/>
            <a:ext cx="4716355" cy="314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33" y="0"/>
            <a:ext cx="771713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387900" y="879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Coefficient Interpretation </a:t>
            </a:r>
            <a:endParaRPr/>
          </a:p>
        </p:txBody>
      </p:sp>
      <p:pic>
        <p:nvPicPr>
          <p:cNvPr id="309" name="Google Shape;30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277" y="738875"/>
            <a:ext cx="7248175" cy="43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Log-Linear Model</a:t>
            </a:r>
            <a:endParaRPr/>
          </a:p>
        </p:txBody>
      </p:sp>
      <p:sp>
        <p:nvSpPr>
          <p:cNvPr id="315" name="Google Shape;315;p50"/>
          <p:cNvSpPr txBox="1"/>
          <p:nvPr>
            <p:ph idx="1" type="body"/>
          </p:nvPr>
        </p:nvSpPr>
        <p:spPr>
          <a:xfrm>
            <a:off x="387900" y="1489825"/>
            <a:ext cx="81867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change non-linear equations into linear equations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natural logarithm of the dependent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ln(Y) = B0 + B1*X1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Coefficient interpretation: For small coefficients, a one-unit increase in X is associated with an approximate 100 x B% change in Y.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 For larger coefficients, use 100((e^B) -1)%</a:t>
            </a:r>
            <a:endParaRPr b="1"/>
          </a:p>
        </p:txBody>
      </p:sp>
      <p:pic>
        <p:nvPicPr>
          <p:cNvPr id="316" name="Google Shape;31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375" y="3359525"/>
            <a:ext cx="4724275" cy="141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Linear-Log Model</a:t>
            </a:r>
            <a:endParaRPr/>
          </a:p>
        </p:txBody>
      </p:sp>
      <p:sp>
        <p:nvSpPr>
          <p:cNvPr id="322" name="Google Shape;322;p51"/>
          <p:cNvSpPr txBox="1"/>
          <p:nvPr>
            <p:ph idx="1" type="body"/>
          </p:nvPr>
        </p:nvSpPr>
        <p:spPr>
          <a:xfrm>
            <a:off x="387900" y="1489825"/>
            <a:ext cx="81867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change non-linear equations into linear equations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natural logarithm of the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B0 + B1*ln(X1)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Coefficient interpretation: A one percent change in X leads to a B/100 unit change in 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323" name="Google Shape;32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4028" y="3226700"/>
            <a:ext cx="5260198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Log-Log</a:t>
            </a:r>
            <a:endParaRPr/>
          </a:p>
        </p:txBody>
      </p:sp>
      <p:sp>
        <p:nvSpPr>
          <p:cNvPr id="329" name="Google Shape;329;p52"/>
          <p:cNvSpPr txBox="1"/>
          <p:nvPr>
            <p:ph idx="1" type="body"/>
          </p:nvPr>
        </p:nvSpPr>
        <p:spPr>
          <a:xfrm>
            <a:off x="185550" y="1365075"/>
            <a:ext cx="77379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change non-linear equations into linear equations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50"/>
              <a:t>ln(Y) = B0 + B1*ln(X) + E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natural logarithm of the dependent variable and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50"/>
              <a:t>Coefficient interpretation: A one % change in X leads to a B percent change in Y = Elasticity</a:t>
            </a:r>
            <a:endParaRPr b="1"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50"/>
          </a:p>
        </p:txBody>
      </p:sp>
      <p:pic>
        <p:nvPicPr>
          <p:cNvPr id="330" name="Google Shape;33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554" y="3277075"/>
            <a:ext cx="6662899" cy="16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Inverse</a:t>
            </a:r>
            <a:endParaRPr/>
          </a:p>
        </p:txBody>
      </p:sp>
      <p:sp>
        <p:nvSpPr>
          <p:cNvPr id="336" name="Google Shape;336;p53"/>
          <p:cNvSpPr txBox="1"/>
          <p:nvPr>
            <p:ph idx="1" type="body"/>
          </p:nvPr>
        </p:nvSpPr>
        <p:spPr>
          <a:xfrm>
            <a:off x="387900" y="1489825"/>
            <a:ext cx="81867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Y = B0 + B1(1/X) + E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A one unit increase in x leads to a non-linear change in Y by  B1.  B1 &gt; 0, y is decreasing as x increase</a:t>
            </a:r>
            <a:endParaRPr sz="2300"/>
          </a:p>
        </p:txBody>
      </p:sp>
      <p:pic>
        <p:nvPicPr>
          <p:cNvPr id="337" name="Google Shape;33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94" y="2919681"/>
            <a:ext cx="7830725" cy="1873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 / Quadratic Form</a:t>
            </a:r>
            <a:endParaRPr/>
          </a:p>
        </p:txBody>
      </p:sp>
      <p:sp>
        <p:nvSpPr>
          <p:cNvPr id="343" name="Google Shape;343;p54"/>
          <p:cNvSpPr txBox="1"/>
          <p:nvPr>
            <p:ph idx="1" type="body"/>
          </p:nvPr>
        </p:nvSpPr>
        <p:spPr>
          <a:xfrm>
            <a:off x="387900" y="1489825"/>
            <a:ext cx="4902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If a relationship between X and Y is concave or convex, a quadratic form may be needed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Y = B0 + B1(X1) + B2(X1^2) + E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Example: Income = f(Age)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As age rises (16-60) earned income rises too, but at a certain point, people retire and their earned income falls (60-100…)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A properly formed model would include an age^2 variable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Income = f(Age + Age^2)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325"/>
              <a:t>Can be more than quadratic polynomial, depending on inflection points (X^2 = 1 inflection point, X^3 = 2 inflection points)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325"/>
              <a:t>Interpretation is complex but can still be used for prediction</a:t>
            </a:r>
            <a:endParaRPr sz="1325"/>
          </a:p>
        </p:txBody>
      </p:sp>
      <p:pic>
        <p:nvPicPr>
          <p:cNvPr id="344" name="Google Shape;34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050" y="1324175"/>
            <a:ext cx="3523049" cy="2111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5226" y="3616100"/>
            <a:ext cx="3778699" cy="141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 / Quadratic Form</a:t>
            </a:r>
            <a:endParaRPr/>
          </a:p>
        </p:txBody>
      </p:sp>
      <p:pic>
        <p:nvPicPr>
          <p:cNvPr id="351" name="Google Shape;3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423" y="1111038"/>
            <a:ext cx="6529676" cy="38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6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Dummy, Categorical, and Interaction Variables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7"/>
          <p:cNvSpPr txBox="1"/>
          <p:nvPr>
            <p:ph type="title"/>
          </p:nvPr>
        </p:nvSpPr>
        <p:spPr>
          <a:xfrm>
            <a:off x="387900" y="555600"/>
            <a:ext cx="6766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Dummy  / Categorical Variables</a:t>
            </a:r>
            <a:endParaRPr/>
          </a:p>
        </p:txBody>
      </p:sp>
      <p:sp>
        <p:nvSpPr>
          <p:cNvPr id="362" name="Google Shape;362;p57"/>
          <p:cNvSpPr txBox="1"/>
          <p:nvPr>
            <p:ph idx="1" type="body"/>
          </p:nvPr>
        </p:nvSpPr>
        <p:spPr>
          <a:xfrm>
            <a:off x="387900" y="1594025"/>
            <a:ext cx="40284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640"/>
              <a:t>Binary variables indicating:</a:t>
            </a:r>
            <a:endParaRPr sz="16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40"/>
              <a:t>Yes or No</a:t>
            </a:r>
            <a:endParaRPr sz="16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40"/>
              <a:t>On or off</a:t>
            </a:r>
            <a:endParaRPr sz="16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40"/>
              <a:t>True or false</a:t>
            </a:r>
            <a:endParaRPr sz="16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40"/>
              <a:t>Event or not event</a:t>
            </a:r>
            <a:endParaRPr sz="16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40"/>
              <a:t>Anything or not-anything</a:t>
            </a:r>
            <a:endParaRPr sz="16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40"/>
              <a:t>Create using 1 for whenever the condition is met and 0 for whenever it is not met</a:t>
            </a:r>
            <a:endParaRPr sz="16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640"/>
          </a:p>
        </p:txBody>
      </p:sp>
      <p:pic>
        <p:nvPicPr>
          <p:cNvPr id="363" name="Google Shape;36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727" y="1594021"/>
            <a:ext cx="5167622" cy="213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02" y="0"/>
            <a:ext cx="896059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Terms</a:t>
            </a:r>
            <a:endParaRPr/>
          </a:p>
        </p:txBody>
      </p:sp>
      <p:sp>
        <p:nvSpPr>
          <p:cNvPr id="376" name="Google Shape;376;p59"/>
          <p:cNvSpPr txBox="1"/>
          <p:nvPr>
            <p:ph idx="1" type="body"/>
          </p:nvPr>
        </p:nvSpPr>
        <p:spPr>
          <a:xfrm>
            <a:off x="387900" y="1313863"/>
            <a:ext cx="2873700" cy="30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95"/>
              <a:t>If you suspect that one variable’s effect is different under some conditions, create a new interaction variable by multiplying the two variables together and including it, alongside the original variables, in a new model</a:t>
            </a:r>
            <a:endParaRPr sz="13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95"/>
              <a:t>X1 = Experience (years)</a:t>
            </a:r>
            <a:endParaRPr sz="13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95"/>
              <a:t>X2 = Gender (1 if male, 0 if female)</a:t>
            </a:r>
            <a:endParaRPr sz="13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95"/>
              <a:t>B(X1*X2) = Difference in the experience slope for men and women</a:t>
            </a:r>
            <a:endParaRPr sz="13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9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395"/>
          </a:p>
        </p:txBody>
      </p:sp>
      <p:pic>
        <p:nvPicPr>
          <p:cNvPr id="377" name="Google Shape;37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9150" y="1519575"/>
            <a:ext cx="5329330" cy="30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Interactions </a:t>
            </a:r>
            <a:endParaRPr/>
          </a:p>
        </p:txBody>
      </p:sp>
      <p:sp>
        <p:nvSpPr>
          <p:cNvPr id="383" name="Google Shape;383;p6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Continuous x Continuous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Salary = B0 + B1(Experience) + B2(Education) + B3 (Experience x Education)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B1 = Effect of experience when education = 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B2 = Effect of education when experience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B3 = Change in the experience slope for each additional unit of education</a:t>
            </a:r>
            <a:endParaRPr/>
          </a:p>
        </p:txBody>
      </p:sp>
      <p:sp>
        <p:nvSpPr>
          <p:cNvPr id="384" name="Google Shape;384;p6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Continuous x Categorical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Salary = B0 + B1(Experience) + B2(MBA) + B3 (Experience x MBA)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B0 = Expected outcome when experience = 0 and MBA = 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B1 = Effect of experience on salary for non-MBA workers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B2 = Difference in salary between MBA and non-MBA workers when experience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B3 = </a:t>
            </a:r>
            <a:r>
              <a:rPr lang="en"/>
              <a:t>Difference</a:t>
            </a:r>
            <a:r>
              <a:rPr lang="en"/>
              <a:t> in the experience slope between MBA and non-MBA workers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Interactions (cont)</a:t>
            </a:r>
            <a:endParaRPr/>
          </a:p>
        </p:txBody>
      </p:sp>
      <p:sp>
        <p:nvSpPr>
          <p:cNvPr id="390" name="Google Shape;390;p61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Categorical x Categorical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 major = </a:t>
            </a:r>
            <a:r>
              <a:rPr lang="en"/>
              <a:t>Engineering</a:t>
            </a:r>
            <a:r>
              <a:rPr lang="en"/>
              <a:t> = 1, Sociology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School type = Private = 1, </a:t>
            </a:r>
            <a:r>
              <a:rPr lang="en"/>
              <a:t>Public</a:t>
            </a:r>
            <a:r>
              <a:rPr lang="en"/>
              <a:t>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Salary = B0 +  B1(Major) + B2(School Type) + B3(Major x School Type)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B0 = Mean salary for reference group (sociology, public)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B1 = Difference in mean salary between engineering and sociology among public school students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B2 = Difference in mean salary between private and public school for sociology majors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B3 = The change in the engineering-sociology salary difference when moving from </a:t>
            </a:r>
            <a:r>
              <a:rPr lang="en"/>
              <a:t>public</a:t>
            </a:r>
            <a:r>
              <a:rPr lang="en"/>
              <a:t> to private schools</a:t>
            </a:r>
            <a:endParaRPr/>
          </a:p>
        </p:txBody>
      </p:sp>
      <p:sp>
        <p:nvSpPr>
          <p:cNvPr id="391" name="Google Shape;391;p61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Main effects are conditional when interactions exist.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Meaning: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B1 is conditional on Z = 0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B2 is conditional on X = 0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1"/>
          <p:cNvSpPr txBox="1"/>
          <p:nvPr/>
        </p:nvSpPr>
        <p:spPr>
          <a:xfrm>
            <a:off x="1740125" y="1951650"/>
            <a:ext cx="553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Periodic / Seasonal Dummy Variables</a:t>
            </a:r>
            <a:endParaRPr/>
          </a:p>
        </p:txBody>
      </p:sp>
      <p:sp>
        <p:nvSpPr>
          <p:cNvPr id="398" name="Google Shape;398;p62"/>
          <p:cNvSpPr txBox="1"/>
          <p:nvPr>
            <p:ph idx="1" type="body"/>
          </p:nvPr>
        </p:nvSpPr>
        <p:spPr>
          <a:xfrm>
            <a:off x="387900" y="1489825"/>
            <a:ext cx="8368200" cy="34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one less variable than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Four quarters per year, so make three binary variables corresponding to any three quarters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B0 + B1(Q2) + B2(Q3) + B3(Q4)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beta coefficient is the difference between Q1 and the other quarters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B1 is the effect of being in the second quarter, relative to the first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B2 is the effect of being in the </a:t>
            </a:r>
            <a:r>
              <a:rPr lang="en"/>
              <a:t>third</a:t>
            </a:r>
            <a:r>
              <a:rPr lang="en"/>
              <a:t> quarter, relative to the first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B3 is the effect of being in the fourth quarter relative to the first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Seasonal Variables</a:t>
            </a:r>
            <a:endParaRPr/>
          </a:p>
        </p:txBody>
      </p:sp>
      <p:graphicFrame>
        <p:nvGraphicFramePr>
          <p:cNvPr id="404" name="Google Shape;404;p63"/>
          <p:cNvGraphicFramePr/>
          <p:nvPr/>
        </p:nvGraphicFramePr>
        <p:xfrm>
          <a:off x="895125" y="201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{B7B260EE-E380-4E3C-A298-C46DE4CC85CA}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Y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X1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Quarter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Q2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Q3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Q4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2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3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4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5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6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7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8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Seasonal Variables</a:t>
            </a:r>
            <a:endParaRPr/>
          </a:p>
        </p:txBody>
      </p:sp>
      <p:sp>
        <p:nvSpPr>
          <p:cNvPr id="410" name="Google Shape;410;p6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you do this with months?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11 variables…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Omitted month is baseline - If January is omitted, then all monthly indicators are the difference between that month and January.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Example: If the June </a:t>
            </a:r>
            <a:r>
              <a:rPr lang="en"/>
              <a:t>coefficient</a:t>
            </a:r>
            <a:r>
              <a:rPr lang="en"/>
              <a:t> is 50, then Y is estimated to be 50 units higher than January in June.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Lagging and Leading Variables</a:t>
            </a:r>
            <a:endParaRPr/>
          </a:p>
        </p:txBody>
      </p:sp>
      <p:sp>
        <p:nvSpPr>
          <p:cNvPr id="416" name="Google Shape;416;p65"/>
          <p:cNvSpPr txBox="1"/>
          <p:nvPr>
            <p:ph idx="1" type="body"/>
          </p:nvPr>
        </p:nvSpPr>
        <p:spPr>
          <a:xfrm>
            <a:off x="387900" y="1489825"/>
            <a:ext cx="32190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know how past values relate to present/future values?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 Marketing, monetary policy,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Create a lagging or leading variable by shifting the variable forward or backward</a:t>
            </a:r>
            <a:endParaRPr/>
          </a:p>
        </p:txBody>
      </p:sp>
      <p:pic>
        <p:nvPicPr>
          <p:cNvPr id="417" name="Google Shape;41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675" y="2188163"/>
            <a:ext cx="4705350" cy="168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Assessing Models</a:t>
            </a:r>
            <a:endParaRPr/>
          </a:p>
        </p:txBody>
      </p:sp>
      <p:sp>
        <p:nvSpPr>
          <p:cNvPr id="423" name="Google Shape;423;p6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Compare models using: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</a:t>
            </a:r>
            <a:r>
              <a:rPr lang="en"/>
              <a:t>heory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F-Test of overall significance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F-Test of Nested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R^2 (usually rises with new variables, even if bad)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Adjusted R^2 - Like R^2, but </a:t>
            </a:r>
            <a:r>
              <a:rPr lang="en"/>
              <a:t>penalized</a:t>
            </a:r>
            <a:r>
              <a:rPr lang="en"/>
              <a:t> for adding variables (higher = better)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AIC and BIC tests (lower = better)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Out of sample testing / cross-validation - Leave some data out of fitting process, then see how well that data is predicted by the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Other research / literature review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R^2, Adjusted R^2, AIC, &amp; BIC</a:t>
            </a:r>
            <a:endParaRPr/>
          </a:p>
        </p:txBody>
      </p:sp>
      <p:sp>
        <p:nvSpPr>
          <p:cNvPr id="429" name="Google Shape;429;p6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multiple models with the same dependent variable only.  If you transform the dependent variable, you cannot compare using the criteria below: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R^2: Higher is better (but be careful because more variables raises R^2)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Adjusted R^2: Higher is better (penalizes for </a:t>
            </a:r>
            <a:r>
              <a:rPr lang="en"/>
              <a:t>irrelevant</a:t>
            </a:r>
            <a:r>
              <a:rPr lang="en"/>
              <a:t> variables)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Akaike Information Criterion (AIC): Lower is better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Bayesian I</a:t>
            </a:r>
            <a:r>
              <a:rPr lang="en"/>
              <a:t>nformation</a:t>
            </a:r>
            <a:r>
              <a:rPr lang="en"/>
              <a:t> Criterion (BIC): Lower is better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 Evaluation / Comparison</a:t>
            </a:r>
            <a:endParaRPr/>
          </a:p>
        </p:txBody>
      </p:sp>
      <p:sp>
        <p:nvSpPr>
          <p:cNvPr id="435" name="Google Shape;435;p68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Sum of Squared Errors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8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Mean Absolute Deviation</a:t>
            </a:r>
            <a:endParaRPr b="1"/>
          </a:p>
        </p:txBody>
      </p:sp>
      <p:pic>
        <p:nvPicPr>
          <p:cNvPr id="437" name="Google Shape;437;p68"/>
          <p:cNvPicPr preferRelativeResize="0"/>
          <p:nvPr/>
        </p:nvPicPr>
        <p:blipFill rotWithShape="1">
          <a:blip r:embed="rId3">
            <a:alphaModFix/>
          </a:blip>
          <a:srcRect b="0" l="35840" r="0" t="0"/>
          <a:stretch/>
        </p:blipFill>
        <p:spPr>
          <a:xfrm>
            <a:off x="686325" y="2279650"/>
            <a:ext cx="245670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68"/>
          <p:cNvPicPr preferRelativeResize="0"/>
          <p:nvPr/>
        </p:nvPicPr>
        <p:blipFill rotWithShape="1">
          <a:blip r:embed="rId4">
            <a:alphaModFix/>
          </a:blip>
          <a:srcRect b="0" l="45495" r="0" t="0"/>
          <a:stretch/>
        </p:blipFill>
        <p:spPr>
          <a:xfrm>
            <a:off x="5541625" y="2394450"/>
            <a:ext cx="1696775" cy="15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/ Comparison</a:t>
            </a:r>
            <a:endParaRPr/>
          </a:p>
        </p:txBody>
      </p:sp>
      <p:sp>
        <p:nvSpPr>
          <p:cNvPr id="444" name="Google Shape;444;p69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Root Mean Squared Error</a:t>
            </a:r>
            <a:endParaRPr/>
          </a:p>
        </p:txBody>
      </p:sp>
      <p:sp>
        <p:nvSpPr>
          <p:cNvPr id="445" name="Google Shape;445;p69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Absolute Percentage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500" y="2228725"/>
            <a:ext cx="3879700" cy="16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797" y="2228722"/>
            <a:ext cx="3879700" cy="16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2" name="Google Shape;452;p70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{D7E989AA-6B0E-4C7A-B992-21D8D003B14A}</a:tableStyleId>
              </a:tblPr>
              <a:tblGrid>
                <a:gridCol w="1352550"/>
                <a:gridCol w="1628775"/>
                <a:gridCol w="2076450"/>
                <a:gridCol w="2019300"/>
                <a:gridCol w="19526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Metric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Interpretation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Strengths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Weaknesses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When to Use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SSE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(Sum of Squared Errors)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Total squared error. Bigger number = worse fit.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Penalizes large errors; useful for optimization (e.g., least squares)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interpretable across datasets; scale-dependent; sensitive to outliers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Internal model fitting, not for reporting accuracy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MAD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(Mean Absolute Deviation)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Average size of error, in original units.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Easy to interpret; robust to outliers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Doesn’t punish big errors much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General-purpose error metric; good for reporting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RMSE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(Root Mean Squared Error)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Like MAD but gives more weight to big errors.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Same units as target; common in stats and ML; sensitive to variance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Sensitive to large errors and outliers; less intuitive for some audiences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When large errors are especially bad (e.g., risk-sensitive domains)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MAPE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(Mean Absolute Percentage Error)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Average percent error. Unitless.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Easy to explain (“on average, X% off”); allows comparison across scales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Breaks down when actuals are near zero; undefined if actual = 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Business reporting, forecasting dashboards, cross-unit comparisons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Bias-Variance Tradeoff </a:t>
            </a:r>
            <a:endParaRPr/>
          </a:p>
        </p:txBody>
      </p:sp>
      <p:sp>
        <p:nvSpPr>
          <p:cNvPr id="458" name="Google Shape;458;p7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Bias: Model is systematically wrong and performs poorly on new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Causes: Too simple of a model or incorrect functional form.  </a:t>
            </a:r>
            <a:r>
              <a:rPr lang="en"/>
              <a:t>Under-fitted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Variance: Model is too sensitive to a specific sample of data.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Causes: Too complex a model.  Over-fitted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have to balance the two effects.  Find the middle ground.  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Validation</a:t>
            </a:r>
            <a:endParaRPr/>
          </a:p>
        </p:txBody>
      </p:sp>
      <p:sp>
        <p:nvSpPr>
          <p:cNvPr id="464" name="Google Shape;464;p72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Train-Test-Split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Split the series into training and testing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Training data = First 80% of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Testing data = Last 20% of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Estimate model coefficients on the training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 values using the testing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Assess accuracy and/or compare alternative models using R^2, AIC, BIC, MSE, RMSE, etc.</a:t>
            </a:r>
            <a:endParaRPr/>
          </a:p>
        </p:txBody>
      </p:sp>
      <p:sp>
        <p:nvSpPr>
          <p:cNvPr id="465" name="Google Shape;465;p72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Cross-Validation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Split the series into k number of folds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all but one of the folds as the training data and the remaining fold as the testing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Iterate through the process using each fold as the testing data and the others as the training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Assess accuracy and/or compare alternative models using average of comparison criteria (R^2, AIC, BIC, MSE, RMSE, etc.)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Analysis &amp; Full Reporting</a:t>
            </a:r>
            <a:endParaRPr/>
          </a:p>
        </p:txBody>
      </p:sp>
      <p:sp>
        <p:nvSpPr>
          <p:cNvPr id="471" name="Google Shape;471;p73"/>
          <p:cNvSpPr txBox="1"/>
          <p:nvPr>
            <p:ph idx="1" type="body"/>
          </p:nvPr>
        </p:nvSpPr>
        <p:spPr>
          <a:xfrm>
            <a:off x="387900" y="1489825"/>
            <a:ext cx="7940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Honest research likely requires publishing the results of many models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Summarize the coefficients, providing averages, ranges, or just a table of results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Create separate models to address different </a:t>
            </a:r>
            <a:r>
              <a:rPr lang="en" sz="2000"/>
              <a:t>deficiencies</a:t>
            </a:r>
            <a:r>
              <a:rPr lang="en" sz="2000"/>
              <a:t> and report their strengths and weaknesses.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Don’t hide methods or weaknesses.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Extensions</a:t>
            </a:r>
            <a:endParaRPr/>
          </a:p>
        </p:txBody>
      </p:sp>
      <p:sp>
        <p:nvSpPr>
          <p:cNvPr id="477" name="Google Shape;477;p7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Logistic:  Dependent variable is binary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Ordinal Logistic: Dependent variable is ordered 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Multinomial Logistic: Dependent variable is categorical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Poisson and Negative Binomial: Dependent variable is count data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Survival Analysis: Dependent variable is time till failure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Zero Inflated: Lots of zeros in the dependent variable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Ridge, Lasso, &amp; Elastic Net…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Quantile Regression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Generalized Least Squares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Generalized Linear Models</a:t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n" sz="1290"/>
              <a:t>Time Series Methods</a:t>
            </a:r>
            <a:endParaRPr sz="1290"/>
          </a:p>
        </p:txBody>
      </p:sp>
      <p:pic>
        <p:nvPicPr>
          <p:cNvPr id="478" name="Google Shape;47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899" y="1917625"/>
            <a:ext cx="2960775" cy="2223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74"/>
          <p:cNvCxnSpPr/>
          <p:nvPr/>
        </p:nvCxnSpPr>
        <p:spPr>
          <a:xfrm>
            <a:off x="4670700" y="2398475"/>
            <a:ext cx="688500" cy="16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Quantile Regression</a:t>
            </a:r>
            <a:endParaRPr/>
          </a:p>
        </p:txBody>
      </p:sp>
      <p:sp>
        <p:nvSpPr>
          <p:cNvPr id="485" name="Google Shape;485;p75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OLS gives the mean of Y, conditional upon the values of 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if you want something other than the mean?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Quantile Regression!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OLS Interpretation: “a one unit increase in X changes the mean value of Y by B”,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Quantile Interpretation: “a one unit increase in X changes the T’th quantile value of Y by B”</a:t>
            </a:r>
            <a:endParaRPr/>
          </a:p>
        </p:txBody>
      </p:sp>
      <p:sp>
        <p:nvSpPr>
          <p:cNvPr id="486" name="Google Shape;486;p75"/>
          <p:cNvSpPr txBox="1"/>
          <p:nvPr>
            <p:ph idx="1" type="body"/>
          </p:nvPr>
        </p:nvSpPr>
        <p:spPr>
          <a:xfrm>
            <a:off x="4666325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when: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Effects differ at different levels of 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data are skewed or heavy tailed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you care about extremes, not averages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heteroskedasticity is </a:t>
            </a:r>
            <a:r>
              <a:rPr lang="en"/>
              <a:t>present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LASSO: Least Absolute Shrinkage &amp; Selection Operator</a:t>
            </a:r>
            <a:endParaRPr/>
          </a:p>
        </p:txBody>
      </p:sp>
      <p:sp>
        <p:nvSpPr>
          <p:cNvPr id="492" name="Google Shape;492;p76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Linear </a:t>
            </a:r>
            <a:r>
              <a:rPr b="1" lang="en"/>
              <a:t>regression</a:t>
            </a:r>
            <a:r>
              <a:rPr b="1" lang="en"/>
              <a:t> + L1 Penalty (sum of absolute value of coefficients)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Good to use when: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Lots of variables - Helps select most important / drops unimportant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variables than data points (p &gt; 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Multicollinearity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Concerns about overfitting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52625"/>
            <a:ext cx="42481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 Steps and Considerations </a:t>
            </a:r>
            <a:endParaRPr/>
          </a:p>
        </p:txBody>
      </p:sp>
      <p:sp>
        <p:nvSpPr>
          <p:cNvPr id="499" name="Google Shape;499;p77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Standardize X variables (Subtract mean and divide by standard deviation)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Use cross-validation to find lambda penalty term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Fit model (use Scikit-Learn)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Interpret* output, get rich, live well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77"/>
          <p:cNvSpPr txBox="1"/>
          <p:nvPr>
            <p:ph idx="1" type="body"/>
          </p:nvPr>
        </p:nvSpPr>
        <p:spPr>
          <a:xfrm>
            <a:off x="4725525" y="1440200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Considerations: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Coefficients are biased and hard to interpret.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Direction and relative magnitude matter but can’t treat like OLS coefficients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 for prediction, bad for inference.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run OLS on selected for variables, for inference, but strictly speaking, this is not correct / valid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vs OLS</a:t>
            </a:r>
            <a:endParaRPr/>
          </a:p>
        </p:txBody>
      </p:sp>
      <p:sp>
        <p:nvSpPr>
          <p:cNvPr id="506" name="Google Shape;506;p78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07" name="Google Shape;507;p78" title="output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126" y="1817912"/>
            <a:ext cx="4065252" cy="24227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8" name="Google Shape;508;p78"/>
          <p:cNvGraphicFramePr/>
          <p:nvPr/>
        </p:nvGraphicFramePr>
        <p:xfrm>
          <a:off x="452200" y="205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{B7B260EE-E380-4E3C-A298-C46DE4CC85CA}</a:tableStyleId>
              </a:tblPr>
              <a:tblGrid>
                <a:gridCol w="979925"/>
                <a:gridCol w="979925"/>
                <a:gridCol w="979925"/>
                <a:gridCol w="979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Variables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R^2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RMSE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67%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LASSO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99%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Ridge Regression</a:t>
            </a:r>
            <a:endParaRPr/>
          </a:p>
        </p:txBody>
      </p:sp>
      <p:sp>
        <p:nvSpPr>
          <p:cNvPr id="514" name="Google Shape;514;p79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Linear regression + L2 Penalty (sum of squares of coefficients)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 to use when: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Multicollinearity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Many predictors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You believe most variables matter (not looking to </a:t>
            </a:r>
            <a:r>
              <a:rPr lang="en"/>
              <a:t>eliminate</a:t>
            </a:r>
            <a:r>
              <a:rPr lang="en"/>
              <a:t> like with LASSO)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15" name="Google Shape;51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012288"/>
            <a:ext cx="3876249" cy="11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Ridge Regression Steps and Considerations</a:t>
            </a:r>
            <a:endParaRPr/>
          </a:p>
        </p:txBody>
      </p:sp>
      <p:sp>
        <p:nvSpPr>
          <p:cNvPr id="521" name="Google Shape;521;p80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Standardize X variables (Subtract mean and divide by standard deviation)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Use cross-validation to find lambda penalty term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Fit model (use Scikit-Learn)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Interpret* output, get rich, live well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80"/>
          <p:cNvSpPr txBox="1"/>
          <p:nvPr>
            <p:ph idx="1" type="body"/>
          </p:nvPr>
        </p:nvSpPr>
        <p:spPr>
          <a:xfrm>
            <a:off x="4725525" y="1440200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Considerations: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Coefficients are biased and hard to interpret.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Direction and relative magnitude matter but can’t treat like OLS coefficients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 for prediction, bad for inference.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 Regression </a:t>
            </a:r>
            <a:endParaRPr/>
          </a:p>
        </p:txBody>
      </p:sp>
      <p:sp>
        <p:nvSpPr>
          <p:cNvPr id="528" name="Google Shape;528;p8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Combines L1 Penalty from Lasso and L2 Penalty from Ridge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Lasso is great for variable selection but not as great with multicollinearity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Ridge is great at multicollinearity but doesn’t eliminate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Elastic Net handles correlation and drops irrelevant variables </a:t>
            </a:r>
            <a:endParaRPr/>
          </a:p>
        </p:txBody>
      </p:sp>
      <p:pic>
        <p:nvPicPr>
          <p:cNvPr id="529" name="Google Shape;52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3462275"/>
            <a:ext cx="73152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 Regression Steps and </a:t>
            </a:r>
            <a:r>
              <a:rPr lang="en"/>
              <a:t>Considerations</a:t>
            </a:r>
            <a:r>
              <a:rPr lang="en"/>
              <a:t> </a:t>
            </a:r>
            <a:endParaRPr/>
          </a:p>
        </p:txBody>
      </p:sp>
      <p:sp>
        <p:nvSpPr>
          <p:cNvPr id="535" name="Google Shape;535;p82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Standardize predictors (not 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Choose a mixing parameter (alpha) using </a:t>
            </a:r>
            <a:r>
              <a:rPr lang="en"/>
              <a:t>cross validation or theory (1 = LASSO, 0 = Ridge, In between = Mix)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For each alpha, use cross validation to find the best penalty (lambda)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Fit the model</a:t>
            </a:r>
            <a:endParaRPr/>
          </a:p>
        </p:txBody>
      </p:sp>
      <p:sp>
        <p:nvSpPr>
          <p:cNvPr id="536" name="Google Shape;536;p82"/>
          <p:cNvSpPr txBox="1"/>
          <p:nvPr/>
        </p:nvSpPr>
        <p:spPr>
          <a:xfrm>
            <a:off x="5322625" y="1489825"/>
            <a:ext cx="3000000" cy="3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Considerations: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Coefficients are biased and hard to interpret.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Direction and relative magnitude matter but can’t treat like OLS coefficients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Good for prediction, bad for inference.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Linear Model (GLM)</a:t>
            </a:r>
            <a:endParaRPr/>
          </a:p>
        </p:txBody>
      </p:sp>
      <p:sp>
        <p:nvSpPr>
          <p:cNvPr id="542" name="Google Shape;542;p8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linear regression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Allows for response variables with error distributions other than normal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Components: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Random component: Distribution of the response variable (Normal, Binomial, Poisson)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Systematic component: Linear predictor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Link </a:t>
            </a:r>
            <a:r>
              <a:rPr lang="en"/>
              <a:t>function</a:t>
            </a:r>
            <a:r>
              <a:rPr lang="en"/>
              <a:t>: Connects linear predictor to the mean of the distribution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8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GLM Families &amp; Link Functions</a:t>
            </a:r>
            <a:endParaRPr/>
          </a:p>
        </p:txBody>
      </p:sp>
      <p:graphicFrame>
        <p:nvGraphicFramePr>
          <p:cNvPr id="548" name="Google Shape;548;p84"/>
          <p:cNvGraphicFramePr/>
          <p:nvPr/>
        </p:nvGraphicFramePr>
        <p:xfrm>
          <a:off x="952500" y="114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{B7B260EE-E380-4E3C-A298-C46DE4CC85CA}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Response Type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Example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GLM 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Function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Binary (0/1)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Yes/No, Pass/Fail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Binomial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Proportions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Conversion Rate, % Clicked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Binomial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Counts (integers &gt; 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Number of calls, Crimes, Events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Poisson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Overdispersed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Counts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 Binomial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 Continuous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Duration, Cost, Income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Gamma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Inverse or Log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Continuous (normal-ish)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Height, Weight, Test scores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Gaussian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Identity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5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HOWEVER…</a:t>
            </a:r>
            <a:endParaRPr/>
          </a:p>
        </p:txBody>
      </p:sp>
      <p:sp>
        <p:nvSpPr>
          <p:cNvPr id="554" name="Google Shape;554;p85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answers will be wrong if assumptions aren’t met!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Matrix Form</a:t>
            </a:r>
            <a:endParaRPr/>
          </a:p>
        </p:txBody>
      </p:sp>
      <p:pic>
        <p:nvPicPr>
          <p:cNvPr id="560" name="Google Shape;56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375" y="1277875"/>
            <a:ext cx="3668725" cy="11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48055"/>
            <a:ext cx="4649723" cy="160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8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With Software! - Excel</a:t>
            </a:r>
            <a:endParaRPr/>
          </a:p>
        </p:txBody>
      </p:sp>
      <p:pic>
        <p:nvPicPr>
          <p:cNvPr id="567" name="Google Shape;56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50" y="1634125"/>
            <a:ext cx="5143499" cy="279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0550" y="2089299"/>
            <a:ext cx="3418601" cy="18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With Software! - Python / Statsmodels</a:t>
            </a:r>
            <a:endParaRPr/>
          </a:p>
        </p:txBody>
      </p:sp>
      <p:pic>
        <p:nvPicPr>
          <p:cNvPr id="574" name="Google Shape;57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6525"/>
            <a:ext cx="4419601" cy="2848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88"/>
          <p:cNvPicPr preferRelativeResize="0"/>
          <p:nvPr/>
        </p:nvPicPr>
        <p:blipFill rotWithShape="1">
          <a:blip r:embed="rId4">
            <a:alphaModFix/>
          </a:blip>
          <a:srcRect b="0" l="7287" r="0" t="0"/>
          <a:stretch/>
        </p:blipFill>
        <p:spPr>
          <a:xfrm>
            <a:off x="4844825" y="2495525"/>
            <a:ext cx="3911274" cy="6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Regression Plots </a:t>
            </a:r>
            <a:endParaRPr/>
          </a:p>
        </p:txBody>
      </p:sp>
      <p:sp>
        <p:nvSpPr>
          <p:cNvPr id="581" name="Google Shape;581;p89"/>
          <p:cNvSpPr txBox="1"/>
          <p:nvPr>
            <p:ph idx="1" type="body"/>
          </p:nvPr>
        </p:nvSpPr>
        <p:spPr>
          <a:xfrm>
            <a:off x="387900" y="1489825"/>
            <a:ext cx="4411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Plot the effect of X on Y holding constant other variables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arenR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Regress y on the </a:t>
            </a:r>
            <a:r>
              <a:rPr i="1" lang="en"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predictors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arenR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Regress x₁ on the </a:t>
            </a:r>
            <a:r>
              <a:rPr i="1" lang="en"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predictors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arenR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Plot the residuals against each other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arenR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Fit a line to the residuals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89825"/>
            <a:ext cx="4267200" cy="256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