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96F785-D3F7-4D68-9E20-60470E7A89A0}">
  <a:tblStyle styleId="{5296F785-D3F7-4D68-9E20-60470E7A89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517993d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517993d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34dc887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34dc887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7bee7cd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7bee7cd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9438a65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9438a65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3c308f5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3c308f5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5ea65e6b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5ea65e6b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5ea65e6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5ea65e6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e35ca437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e35ca437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4e41f89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4e41f89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3c308f5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a3c308f5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fef1e0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8fef1e0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8fef1e0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8fef1e0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e35ca437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e35ca437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f4ea22d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ef4ea22d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f4ea22d3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ef4ea22d3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f4ea22d3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f4ea22d3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f4ea22d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f4ea22d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02b8ddbdf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02b8ddbdf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9438a65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9438a65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a3c308f5d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a3c308f5d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8fef1e01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8fef1e01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8fef1e01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8fef1e01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8fef1e01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8fef1e01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8fef1e01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8fef1e01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3c308f5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3c308f5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3c308f5d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a3c308f5d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c308f5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c308f5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4e41f89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4e41f89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4e41f89f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44e41f89f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3c308f5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3c308f5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3c308f5d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a3c308f5d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3c308f5d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a3c308f5d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a3c308f5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a3c308f5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a3c308f5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a3c308f5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a5ea65e6b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a5ea65e6b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a3c308f5d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a3c308f5d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dc32264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dc32264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dc322648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dc322648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8e1e2f5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8e1e2f5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dc32264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dc32264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dc32264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dc32264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4e5f895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44e5f895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a3c308f5d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a3c308f5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57ceabc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357ceabc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09efbe9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409efbe9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357ceabc3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357ceabc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a644d8544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a644d8544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a644d8544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a644d8544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8fef1e0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8fef1e0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44e41f89f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44e41f89f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02b8ddbd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02b8ddbd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8fef1e01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68fef1e01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Relationship Id="rId4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 / Formats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Sectional Data: Multiple entities at a given time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US, China, India, etc. unemployment rates </a:t>
            </a:r>
            <a:r>
              <a:rPr i="1" lang="en"/>
              <a:t>in 2010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Time Series Data: One entity at multiple time periods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US unemployment from 2010 to 2020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Panel Data: Multiple entities over multiple time periods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Example: US, China, India, etc. unemployment rates 2010 to 2020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time series data?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Data: Data that is collected / </a:t>
            </a:r>
            <a:r>
              <a:rPr lang="en"/>
              <a:t>recorded</a:t>
            </a:r>
            <a:r>
              <a:rPr lang="en"/>
              <a:t> at regular intervals that is indexed / ordered chronologically.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Examples: Daily sales, monthly inflation,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consideration: ORDER MATTERS!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312" y="3028400"/>
            <a:ext cx="4461375" cy="194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Forecasting vs Explaining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 = Accuracy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can be “black box”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Validation matters most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Explaining: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Goal = Interpretation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Coefficients</a:t>
            </a:r>
            <a:r>
              <a:rPr lang="en"/>
              <a:t> must make sense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Theory matters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Forecasting vs Explaining</a:t>
            </a:r>
            <a:endParaRPr/>
          </a:p>
        </p:txBody>
      </p:sp>
      <p:graphicFrame>
        <p:nvGraphicFramePr>
          <p:cNvPr id="80" name="Google Shape;80;p17"/>
          <p:cNvGraphicFramePr/>
          <p:nvPr/>
        </p:nvGraphicFramePr>
        <p:xfrm>
          <a:off x="952500" y="121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{5296F785-D3F7-4D68-9E20-60470E7A89A0}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Explaining / Causal Inference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Forecasting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Estimate causal effects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 future values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Variable Selections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Theory driven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driven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Coefficient interpretation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 of sample performance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Important Metrics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P-values, confidence intervals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RMSE, MAE, R^2,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Example Question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does X </a:t>
                      </a:r>
                      <a:r>
                        <a:rPr lang="en"/>
                        <a:t>impact</a:t>
                      </a:r>
                      <a:r>
                        <a:rPr lang="en"/>
                        <a:t> Y?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will Y be next month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1" name="Google Shape;81;p17"/>
          <p:cNvSpPr txBox="1"/>
          <p:nvPr/>
        </p:nvSpPr>
        <p:spPr>
          <a:xfrm>
            <a:off x="709450" y="4236975"/>
            <a:ext cx="77250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Variables and functional form are theory driven when interpretation matters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Smoothing Methods - Moving Averages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Average: </a:t>
            </a:r>
            <a:r>
              <a:rPr lang="en"/>
              <a:t>A succession of averages derived from successive segments of values, typically overlapping and equal length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to reveal underlying trends / remove seasonal / cyclical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Also used for baseline forecasting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MA2 = Y = (Yt + Yt-1) /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MA3 = Y = (Yt + Yt-1 + Yt-2) /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And so on…</a:t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600" y="3297778"/>
            <a:ext cx="2691649" cy="1510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8650" y="1230387"/>
            <a:ext cx="2583549" cy="18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600" y="56075"/>
            <a:ext cx="6656799" cy="24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800" y="2571750"/>
            <a:ext cx="6624409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Smoothing Methods - Simple Exponential Smoothing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Essentially a weighted moving average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E1 = Y1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Et = WYt + (1-W)Et-1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 ranges from 0 to 1 and is selected </a:t>
            </a:r>
            <a:r>
              <a:rPr lang="en"/>
              <a:t>subjectively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Smaller W = Slower reaction to new info, more smoothing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Larger W = Faster reaction to new info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Yi+1 = Ei for forecasting one period ahead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(Use </a:t>
            </a:r>
            <a:r>
              <a:rPr lang="en"/>
              <a:t>Holt's</a:t>
            </a:r>
            <a:r>
              <a:rPr lang="en"/>
              <a:t> Linear Trend Method to add a trend and Holt-Winters Exponential Smoothing to add trend and seasonality)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Simple exponential smoothing is for no strong trend and no strong seasonality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5775" y="1017725"/>
            <a:ext cx="2283401" cy="18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3109575"/>
            <a:ext cx="3960388" cy="18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937" y="57400"/>
            <a:ext cx="6572124" cy="242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925" y="2571750"/>
            <a:ext cx="6572127" cy="240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Average vs Exponential Smoothing 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 when you’re looking to smooth out short-term fluctuations and there’s no strong trend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Simple to calculate and explain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data is equally weighted 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82435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ES when recent observations matter, there’s no strong trend (simple ES), and/or you want a one-step-ahead forecast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Strengths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responsive to change than 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for one-period forecast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Weaknesses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Harder to compute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Must select tuning parameter (0 to 1)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Components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Trend</a:t>
            </a:r>
            <a:r>
              <a:rPr lang="en"/>
              <a:t>: The long term progression of a series that </a:t>
            </a:r>
            <a:r>
              <a:rPr lang="en"/>
              <a:t>excludes short term fluctuations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Seasonality</a:t>
            </a:r>
            <a:r>
              <a:rPr lang="en"/>
              <a:t>: Fluctuations that repeat over a specific period - regular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Cycle</a:t>
            </a:r>
            <a:r>
              <a:rPr lang="en"/>
              <a:t>: Fluctuations that do not repeat over a specific period - irregular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Noise / Error / Random</a:t>
            </a:r>
            <a:r>
              <a:rPr lang="en"/>
              <a:t>: Fluctuations in the data that occur after trend, seasonality, and cyclical factors are accounted for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Splitting apart these components is often referred to as </a:t>
            </a:r>
            <a:r>
              <a:rPr b="1" lang="en"/>
              <a:t>decomposition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Not every series has all four components</a:t>
            </a:r>
            <a:endParaRPr b="1"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3" y="1526150"/>
            <a:ext cx="4218550" cy="231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 (Additive) 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426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= T + S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 = MA that smooths out the seasonality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- T = S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 = </a:t>
            </a:r>
            <a:r>
              <a:rPr lang="en"/>
              <a:t>Average</a:t>
            </a:r>
            <a:r>
              <a:rPr lang="en"/>
              <a:t> values for “seasons” (or months or days)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(Y - T) - S =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 just use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198" cy="343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426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are either additive or multiplicative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Additive: Y = T + S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Multiplicative Y = T x S x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(= log(Y) = log(T) + log(S) + log(E))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Multiplicative if </a:t>
            </a:r>
            <a:r>
              <a:rPr lang="en"/>
              <a:t>magnitude</a:t>
            </a:r>
            <a:r>
              <a:rPr lang="en"/>
              <a:t> of seasonality varies with </a:t>
            </a:r>
            <a:r>
              <a:rPr lang="en"/>
              <a:t>level</a:t>
            </a:r>
            <a:r>
              <a:rPr lang="en"/>
              <a:t> of the series or trend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775" y="1377775"/>
            <a:ext cx="4384526" cy="18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Forecasting Methods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316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Value: </a:t>
            </a:r>
            <a:r>
              <a:rPr lang="en"/>
              <a:t>Expect</a:t>
            </a:r>
            <a:r>
              <a:rPr lang="en"/>
              <a:t> that future values will equal the mean value of the series - Use with stable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Naive: Expect that future values will equal the last </a:t>
            </a:r>
            <a:r>
              <a:rPr lang="en"/>
              <a:t>recorded</a:t>
            </a:r>
            <a:r>
              <a:rPr lang="en"/>
              <a:t> value of the series - Use with random walk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Seasonal Naive: Expect that </a:t>
            </a:r>
            <a:r>
              <a:rPr lang="en"/>
              <a:t>future</a:t>
            </a:r>
            <a:r>
              <a:rPr lang="en"/>
              <a:t> values will equal the last recorded value of the series from the same season (quarter, month, etc.) - Use with strong seasonality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Drift: Expect that slope between first and last point in the series can will continue into the future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Often a good idea to compare complex methods to baseline methods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275" y="245450"/>
            <a:ext cx="3814023" cy="242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675" y="2781576"/>
            <a:ext cx="3987630" cy="2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Regression Forecasting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B1(T)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Quadratic Model: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B1(T) + B2(T^2)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Exponential Model: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B0*(B1^T)*E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 = Time Index (0, 1, 2, 3…)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These are trend models, not full time-series models 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150" y="1350975"/>
            <a:ext cx="3644650" cy="285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= B0 + B1(T)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time/index variable that begins at zero and increases by one for each time period (0, 1, 2, 3…)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 OLS regression with the time/index variable as one of your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Works poorly if seasonality or autocorrelation is strong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675" y="350175"/>
            <a:ext cx="3337750" cy="2616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7875" y="3022776"/>
            <a:ext cx="3411042" cy="1872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Quadratic</a:t>
            </a:r>
            <a:r>
              <a:rPr lang="en"/>
              <a:t> Model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= B0 + B1(T) + B2(T^2)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 time/index variable that begins at zero and increases by one for each time period (0, 1, 2, 3…)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another variable that is the squared values of the time/index variable.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 OLS regression with the time index and squared time index both included as independent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Captures curvature, acceleration / </a:t>
            </a:r>
            <a:r>
              <a:rPr lang="en"/>
              <a:t>deceleration</a:t>
            </a:r>
            <a:r>
              <a:rPr lang="en"/>
              <a:t>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825" y="113325"/>
            <a:ext cx="3549501" cy="276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851" y="2880825"/>
            <a:ext cx="3670698" cy="20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Exponential Model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 = B0*(B1^T)*E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directly linear, but can be linearized with logs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Recall that ln(x^y) = y*ln(x), and transform original equation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ln(Y) = ln(B0) + ln(B1)*T + ln(E)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Useful when growth is compounding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625" y="312875"/>
            <a:ext cx="3585051" cy="265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6000" y="2966674"/>
            <a:ext cx="3464578" cy="187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Periodic Dummy Variables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discussed before, we can use dummy variables to capture seasonality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# of dummies = # of categories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 dummies for quarterly seasonality, 11 for monthly seasonality,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omitted category is the baseline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= B0 + B1(Q1) + B2(Q2) + B3(Q3) + E … Baseline = Q4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Y = B0 + B1(Q2) + B2(Q3) + B3(Q4) + E … Baseline = Q1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Each dummy coefficient is the seasonal difference relative to the omitted baseline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Just don’t do Y = B0 + B1(Q1) + B2(Q2) + B3(Q3) + B4(Q4) + E because that would cause PERFECT MULTICOLLINEARITY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Seasonality With Dummy Variables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337888"/>
            <a:ext cx="4095125" cy="304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438525"/>
            <a:ext cx="4095125" cy="284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Residual Patterns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302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Plotting residuals against the time index will often reveal unaddressed patterns in the data and is a vital step in time series analysis</a:t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4325" y="1357238"/>
            <a:ext cx="5457974" cy="300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Lagged Variables in Regression Models 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16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variable down on spreadsheet to create a lagged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Causes a loss of one observation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Coefficient</a:t>
            </a:r>
            <a:r>
              <a:rPr lang="en"/>
              <a:t> on lagged variable is the impact of X at the prior time period on Y (holding other </a:t>
            </a:r>
            <a:r>
              <a:rPr lang="en"/>
              <a:t>included</a:t>
            </a:r>
            <a:r>
              <a:rPr lang="en"/>
              <a:t> variables constant) </a:t>
            </a:r>
            <a:endParaRPr/>
          </a:p>
        </p:txBody>
      </p:sp>
      <p:graphicFrame>
        <p:nvGraphicFramePr>
          <p:cNvPr id="203" name="Google Shape;203;p34"/>
          <p:cNvGraphicFramePr/>
          <p:nvPr/>
        </p:nvGraphicFramePr>
        <p:xfrm>
          <a:off x="863125" y="292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{5296F785-D3F7-4D68-9E20-60470E7A89A0}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X(T-1)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Least Squares for Autocorrelated Residuals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there’s significant autocorrelation, standard errors are inflated, hypothesis testing and confidence intervals are no longer reliable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This problem is indicated by failing the Durbin-Watson test (&lt;1.5 or &gt; 2.5)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GLS uses Cochrane-Orcutt or Prais-Winsten iterative procedure to estimate the autocorrelation structure </a:t>
            </a:r>
            <a:endParaRPr sz="1800"/>
          </a:p>
        </p:txBody>
      </p:sp>
      <p:sp>
        <p:nvSpPr>
          <p:cNvPr id="210" name="Google Shape;210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Yt = B0 + B1(Xt) = Et, but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Et = 0.5(Et-1) + 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GLS transforms the data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Y*t = Yt - 0.5(Yt-1) and X*t = Xt -0.5(Xt-1)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running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Y*t = B0(1-0.5) + B1(X*t) + 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Produces valid results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0"/>
            <a:ext cx="36701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600" y="92825"/>
            <a:ext cx="3452656" cy="4838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36"/>
          <p:cNvCxnSpPr/>
          <p:nvPr/>
        </p:nvCxnSpPr>
        <p:spPr>
          <a:xfrm rot="10800000">
            <a:off x="3023300" y="4486200"/>
            <a:ext cx="1355100" cy="2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36"/>
          <p:cNvCxnSpPr/>
          <p:nvPr/>
        </p:nvCxnSpPr>
        <p:spPr>
          <a:xfrm rot="10800000">
            <a:off x="7241350" y="4486200"/>
            <a:ext cx="1355100" cy="2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Time Series Models - Autoregressive Models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Autoregressive models explain Y in terms of past values of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Intuition: Today depends on yesterday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AR(n): Yt = B0 + B1(Yt-1) + B2(Yt-2) + … Bn(Yt-n)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to use when series is “self-predictive” and recent values carry most information about next values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5329" y="1578300"/>
            <a:ext cx="4544674" cy="28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Time Series Models - Autoregressive Models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Autoregressive models explain Y in terms of past values of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AR(n): Yt = B0 + B1(Yt-1) + B2(Yt-2) + … Bn(Yt-n)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Stationarity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Appropriate lag structure*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Residuals are white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4) No major missing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5) Linear dependence in lagged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Seasonality calls for adjustments</a:t>
            </a:r>
            <a:endParaRPr/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529" y="2088575"/>
            <a:ext cx="4544674" cy="28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Stationary vs Non-Stationary Data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11700" y="1152475"/>
            <a:ext cx="506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Stationary data</a:t>
            </a:r>
            <a:r>
              <a:rPr lang="en"/>
              <a:t> has a constant mean and variance.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Often stationarity is required for proper forecasting.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Unstable mean/trend can create misleading models, spurious relationships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Augmented Dickey Fuller test to test for stationarity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Non-Stationary, HA: Stationary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p-value &lt; alpha, reject the null that the data are non-stationary / conclude that the data probably are stationary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Non-stationary data</a:t>
            </a:r>
            <a:r>
              <a:rPr lang="en"/>
              <a:t> can be made stationary using “</a:t>
            </a:r>
            <a:r>
              <a:rPr b="1" lang="en"/>
              <a:t>differencing</a:t>
            </a:r>
            <a:r>
              <a:rPr lang="en"/>
              <a:t>”*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If transformed to create stationary data, interpretation of model results may change. </a:t>
            </a:r>
            <a:endParaRPr/>
          </a:p>
        </p:txBody>
      </p:sp>
      <p:pic>
        <p:nvPicPr>
          <p:cNvPr id="239" name="Google Shape;23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625" y="2850525"/>
            <a:ext cx="2622126" cy="171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5625" y="849275"/>
            <a:ext cx="2622126" cy="167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Differencing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Differencing</a:t>
            </a:r>
            <a:r>
              <a:rPr lang="en"/>
              <a:t>: Transforming values in a time series by subtracting the prior value(s)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to make non-stationary data stationary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 of models may change*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Differenced models explain changes, not levels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difference of Yt = Yt - Yt-1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Second difference of Yt = (Yt - Yt-1) - (Yt-1 - Yt-2)</a:t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6075" y="592650"/>
            <a:ext cx="2622126" cy="1679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6075" y="2723424"/>
            <a:ext cx="2622116" cy="167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Model Steps </a:t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Plot the series and inspect for trends, seasonality, and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Inspect PACF plot to see how past values influence future 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Check for </a:t>
            </a:r>
            <a:r>
              <a:rPr lang="en"/>
              <a:t>stationarity</a:t>
            </a:r>
            <a:r>
              <a:rPr lang="en"/>
              <a:t> with ADF test - Difference if necessary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Determine lag order with PACF (and/or auto-fitting via  AIC/BIC)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Fit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Plot residuals and/or run Ljung-Box test to see that residuals are white noise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Forecast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Model Diagnostics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Residuals must be white noise (random)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Look for significant spikes in ACF and PACF plots of residuals (beyond lag 0)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spikes are found, more lags or a different model may be needed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Ljung-Box Test for autocorrelation of residuals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No autocorrelation, HA: Autocorrelation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 &gt; 0.05 (alpha), we fail to reject H0 and conclude residuals appear random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p &lt; 0.05, we reject H0 and </a:t>
            </a:r>
            <a:r>
              <a:rPr lang="en"/>
              <a:t>conclude</a:t>
            </a:r>
            <a:r>
              <a:rPr lang="en"/>
              <a:t> residuals appear correlated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 </a:t>
            </a:r>
            <a:r>
              <a:rPr lang="en"/>
              <a:t>Autocorrelation Function Plot (PACF)</a:t>
            </a:r>
            <a:endParaRPr/>
          </a:p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PACF plot is a bar chart of the partial correlation coefficient between a time series and its lagged values, controlling for the impact of all shorter lag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value of 0.75 when lag is 10 means the correlation coefficient between the series and its value 10 periods prior is 75%, after controlling for the impact of the dependent variable at lags of 1 through 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Spikes outside confidence bounds indicate significant lags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Sharp cutoff after lag p suggests AR(p)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199" cy="320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AR Lag Order 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PACF suggests candidate lag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AIC/BIC compare candidates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Residuals validate candidates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950" y="445025"/>
            <a:ext cx="2910076" cy="21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125" y="2733950"/>
            <a:ext cx="2935734" cy="22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Time Series Models - Moving Average Models</a:t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</a:t>
            </a:r>
            <a:r>
              <a:rPr lang="en"/>
              <a:t>average</a:t>
            </a:r>
            <a:r>
              <a:rPr lang="en"/>
              <a:t> models explain Y in terms of past forecast errors and shocks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MA(n): Yt = Mean + et + B1(et-1) + B2(et-2) + … Bn(et-n)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1) Stationarity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2) Finite Order - Lagged errors beyond specified order do not influence current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3) No missing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4) Well behaved errors*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5) Linearity*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Autocorrelation Function Plot (ACF)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ACF helps identify likely MA order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Sharp cutoff after lag q suggests MA(q)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ACF plot is a bar chart of the correlation </a:t>
            </a:r>
            <a:r>
              <a:rPr lang="en"/>
              <a:t>coefficients</a:t>
            </a:r>
            <a:r>
              <a:rPr lang="en"/>
              <a:t> between a time series and its lagged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value of 0.75 when lag is 10 means the correlation </a:t>
            </a:r>
            <a:r>
              <a:rPr lang="en"/>
              <a:t>coefficient</a:t>
            </a:r>
            <a:r>
              <a:rPr lang="en"/>
              <a:t> between the </a:t>
            </a:r>
            <a:r>
              <a:rPr lang="en"/>
              <a:t>series</a:t>
            </a:r>
            <a:r>
              <a:rPr lang="en"/>
              <a:t> and its value 10 periods prior is 75%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199" cy="325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Selecting MA Lag Order </a:t>
            </a:r>
            <a:endParaRPr/>
          </a:p>
        </p:txBody>
      </p:sp>
      <p:sp>
        <p:nvSpPr>
          <p:cNvPr id="294" name="Google Shape;294;p4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Check ACF plots (vs PACF for 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Compare AIC and BIC for models with different lag structures (lower is better)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Check fitted values vs residual plots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275" y="2571747"/>
            <a:ext cx="3000400" cy="233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7279" y="232225"/>
            <a:ext cx="3000400" cy="233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Forecasting with AR and MA Models</a:t>
            </a:r>
            <a:endParaRPr/>
          </a:p>
        </p:txBody>
      </p:sp>
      <p:sp>
        <p:nvSpPr>
          <p:cNvPr id="302" name="Google Shape;30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Plug (rolling) values into </a:t>
            </a:r>
            <a:r>
              <a:rPr lang="en"/>
              <a:t>coefficients</a:t>
            </a:r>
            <a:r>
              <a:rPr lang="en"/>
              <a:t> or use software to do it for you!</a:t>
            </a:r>
            <a:endParaRPr/>
          </a:p>
        </p:txBody>
      </p:sp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8451" y="1849548"/>
            <a:ext cx="5410027" cy="271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49550"/>
            <a:ext cx="3288451" cy="284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ARMA and ARIMA</a:t>
            </a:r>
            <a:endParaRPr/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152475"/>
            <a:ext cx="378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ARMA = AR + MA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ARIMA = AR + Differencing + MA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ARIMA is a </a:t>
            </a:r>
            <a:r>
              <a:rPr lang="en" sz="1155"/>
              <a:t>widely</a:t>
            </a:r>
            <a:r>
              <a:rPr lang="en" sz="1155"/>
              <a:t> used general-purpose forecasting model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ARIMA (p, d, q)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p</a:t>
            </a:r>
            <a:r>
              <a:rPr lang="en" sz="1155"/>
              <a:t> = autoregressive term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d = differencing term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155"/>
              <a:t>q = moving average term</a:t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15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155"/>
              <a:t>ARIMA requires stationarity but differencing term </a:t>
            </a:r>
            <a:r>
              <a:rPr lang="en" sz="1155"/>
              <a:t>accounts</a:t>
            </a:r>
            <a:r>
              <a:rPr lang="en" sz="1155"/>
              <a:t> for it</a:t>
            </a:r>
            <a:endParaRPr sz="1155"/>
          </a:p>
        </p:txBody>
      </p:sp>
      <p:pic>
        <p:nvPicPr>
          <p:cNvPr id="311" name="Google Shape;3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625" y="902150"/>
            <a:ext cx="4746900" cy="352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Assumptions</a:t>
            </a:r>
            <a:endParaRPr/>
          </a:p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Stationarity (Solved by differencing or transformation)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Linearity*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No autocorrelation of residuals - Should be “white noise”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Homoskedastic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Normality of residuals (for </a:t>
            </a:r>
            <a:r>
              <a:rPr lang="en"/>
              <a:t>inference</a:t>
            </a:r>
            <a:r>
              <a:rPr lang="en"/>
              <a:t> only)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Check residuals with Ljung-Box - p-value &gt; 0.05 = white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and/or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Check ACF/PACF of residuals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Interpretation - AR </a:t>
            </a:r>
            <a:endParaRPr/>
          </a:p>
        </p:txBody>
      </p:sp>
      <p:sp>
        <p:nvSpPr>
          <p:cNvPr id="323" name="Google Shape;323;p5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 coefficients: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Positive = Momentum = High values follow high values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Negative = </a:t>
            </a:r>
            <a:r>
              <a:rPr lang="en"/>
              <a:t>Oscillation</a:t>
            </a:r>
            <a:r>
              <a:rPr lang="en"/>
              <a:t> = High values follow low values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Near 1 = </a:t>
            </a:r>
            <a:r>
              <a:rPr lang="en"/>
              <a:t>Persistent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Near 0 = Weak serial dependence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arL1 = 0.6 means 60% of the last period’s deviation carries into this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223787"/>
            <a:ext cx="4405676" cy="327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Interpretation - MA </a:t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 coefficients: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Positive = The effect of a positive shock persists into next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Negative = The effect of a positive shock reverses in next period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223787"/>
            <a:ext cx="4405676" cy="327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47" y="0"/>
            <a:ext cx="77455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ARIMA Extensions </a:t>
            </a:r>
            <a:endParaRPr/>
          </a:p>
        </p:txBody>
      </p:sp>
      <p:sp>
        <p:nvSpPr>
          <p:cNvPr id="342" name="Google Shape;34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4"/>
              <a:t>Extensions:</a:t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4"/>
              <a:t>SARIMA = Seasonal ARIMA (ARIMA but with seasonality)</a:t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4"/>
              <a:t>ARIMAX = ARIMA + E</a:t>
            </a:r>
            <a:r>
              <a:rPr b="1" lang="en" sz="1754"/>
              <a:t>x</a:t>
            </a:r>
            <a:r>
              <a:rPr lang="en" sz="1754"/>
              <a:t>ogenous Variables (ARIMA but with other X variables)</a:t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754"/>
              <a:t>https://github.com/rjwrobel86/Python4Statistics/blob/main/Notebooks/TS-ARIMA.ipynb</a:t>
            </a:r>
            <a:endParaRPr sz="1754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54"/>
              <a:t>https://people.duke.edu/~rnau/411arim.htm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Autoregressive</a:t>
            </a:r>
            <a:r>
              <a:rPr lang="en"/>
              <a:t> Distributed Lag Model (ARDL)</a:t>
            </a:r>
            <a:endParaRPr/>
          </a:p>
        </p:txBody>
      </p:sp>
      <p:sp>
        <p:nvSpPr>
          <p:cNvPr id="348" name="Google Shape;34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 Y based on past values of Y and </a:t>
            </a:r>
            <a:r>
              <a:rPr lang="en"/>
              <a:t>current</a:t>
            </a:r>
            <a:r>
              <a:rPr lang="en"/>
              <a:t> and/or past values of 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Yt = B0 + B1(Yt-1) + B2(Xt) + B3(Xt-1)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https://github.com/rjwrobel86/Python4Statistics/blob/main/Notebooks/TS-ARDL.ipynb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Autoregression (VAR)</a:t>
            </a:r>
            <a:endParaRPr/>
          </a:p>
        </p:txBody>
      </p:sp>
      <p:sp>
        <p:nvSpPr>
          <p:cNvPr id="354" name="Google Shape;35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capture relationships between multiple time series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variable is a linear </a:t>
            </a:r>
            <a:r>
              <a:rPr lang="en"/>
              <a:t>function</a:t>
            </a:r>
            <a:r>
              <a:rPr lang="en"/>
              <a:t> of it’s own past values and the past values of all other variables included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Stationarity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Perfect Multicollinearity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Well behaved errors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5650"/>
            <a:ext cx="4184175" cy="423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0501" y="152400"/>
            <a:ext cx="4681099" cy="4739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9616"/>
            <a:ext cx="9144001" cy="4804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Impulse Response Function</a:t>
            </a:r>
            <a:endParaRPr/>
          </a:p>
        </p:txBody>
      </p:sp>
      <p:sp>
        <p:nvSpPr>
          <p:cNvPr id="373" name="Google Shape;373;p5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each variable respond to a one standard deviation “shock” (one-time change) to the other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Ex: If investment spending rises by one standard deviation, how does productivity react over the next several periods </a:t>
            </a:r>
            <a:endParaRPr/>
          </a:p>
        </p:txBody>
      </p:sp>
      <p:pic>
        <p:nvPicPr>
          <p:cNvPr id="374" name="Google Shape;37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500" y="730888"/>
            <a:ext cx="4119326" cy="404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/ Comparison</a:t>
            </a:r>
            <a:endParaRPr/>
          </a:p>
        </p:txBody>
      </p:sp>
      <p:sp>
        <p:nvSpPr>
          <p:cNvPr id="380" name="Google Shape;380;p6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 of Squared Errors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Mean Absolute Deviation</a:t>
            </a:r>
            <a:endParaRPr b="1"/>
          </a:p>
        </p:txBody>
      </p:sp>
      <p:pic>
        <p:nvPicPr>
          <p:cNvPr id="382" name="Google Shape;382;p60"/>
          <p:cNvPicPr preferRelativeResize="0"/>
          <p:nvPr/>
        </p:nvPicPr>
        <p:blipFill rotWithShape="1">
          <a:blip r:embed="rId3">
            <a:alphaModFix/>
          </a:blip>
          <a:srcRect b="0" l="35840" r="0" t="0"/>
          <a:stretch/>
        </p:blipFill>
        <p:spPr>
          <a:xfrm>
            <a:off x="686325" y="2279650"/>
            <a:ext cx="24567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60"/>
          <p:cNvPicPr preferRelativeResize="0"/>
          <p:nvPr/>
        </p:nvPicPr>
        <p:blipFill rotWithShape="1">
          <a:blip r:embed="rId4">
            <a:alphaModFix/>
          </a:blip>
          <a:srcRect b="0" l="45495" r="0" t="0"/>
          <a:stretch/>
        </p:blipFill>
        <p:spPr>
          <a:xfrm>
            <a:off x="5541625" y="2394450"/>
            <a:ext cx="1696775" cy="15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 / Comparison</a:t>
            </a:r>
            <a:endParaRPr/>
          </a:p>
        </p:txBody>
      </p:sp>
      <p:sp>
        <p:nvSpPr>
          <p:cNvPr id="389" name="Google Shape;389;p6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Root Mean Squared Error</a:t>
            </a:r>
            <a:endParaRPr/>
          </a:p>
        </p:txBody>
      </p:sp>
      <p:sp>
        <p:nvSpPr>
          <p:cNvPr id="390" name="Google Shape;390;p6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Absolute Percentage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1" name="Google Shape;3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500" y="2228725"/>
            <a:ext cx="3879700" cy="16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797" y="2228722"/>
            <a:ext cx="3879700" cy="16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6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870"/>
            <a:ext cx="9144000" cy="4915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AIC and BIC </a:t>
            </a:r>
            <a:endParaRPr/>
          </a:p>
        </p:txBody>
      </p:sp>
      <p:sp>
        <p:nvSpPr>
          <p:cNvPr id="406" name="Google Shape;406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Akaike Information Criterion and Bayesian Information Criterion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for selecting between models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Both balance goodness of fit (via log-likelihood) and model complexity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Likelihood measures how probable </a:t>
            </a:r>
            <a:r>
              <a:rPr lang="en"/>
              <a:t>observed</a:t>
            </a:r>
            <a:r>
              <a:rPr lang="en"/>
              <a:t> series is for a given set of </a:t>
            </a:r>
            <a:r>
              <a:rPr lang="en"/>
              <a:t>coefficients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AIC = 2k - 2ln(L) (k = parameters, L = max value of likelihood function)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BIC = k ln(n) - 2ln(L)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is better for both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BIC is stricter and selects for simpler models, making it better for understanding lag structure / true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AIC is less strict on overfitting, making it better for forecasting, but possibly overfitted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difference in model AIC or BIC &gt; 2 counts as evidence in favor of the model with the lower statistic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Validation</a:t>
            </a:r>
            <a:endParaRPr/>
          </a:p>
        </p:txBody>
      </p:sp>
      <p:sp>
        <p:nvSpPr>
          <p:cNvPr id="412" name="Google Shape;412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Train-Test-Split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 the series into training and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Training data = First 80% of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Testing data = Last 20% of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Estimate model coefficients on the training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 values using the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Assess accuracy and/or compare alternative models using MSE, RMSE, etc.</a:t>
            </a:r>
            <a:endParaRPr/>
          </a:p>
        </p:txBody>
      </p:sp>
      <p:sp>
        <p:nvSpPr>
          <p:cNvPr id="413" name="Google Shape;413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Cross-Validation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Split the series into k number of folds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all but one of the folds as the training data and the remaining fold as the testing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Iterate through the process using each fold as the testing data and the others as the training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Assess accuracy and/or </a:t>
            </a:r>
            <a:r>
              <a:rPr lang="en"/>
              <a:t>compare</a:t>
            </a:r>
            <a:r>
              <a:rPr lang="en"/>
              <a:t> alternative models using average of comparison criteria (MSE, RMSE,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Must be done “rolling”  in TS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Never shuffle time-series data!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</a:t>
            </a:r>
            <a:r>
              <a:rPr lang="en"/>
              <a:t> </a:t>
            </a:r>
            <a:r>
              <a:rPr lang="en"/>
              <a:t>Volatility - ARCH and GARCH</a:t>
            </a:r>
            <a:endParaRPr/>
          </a:p>
        </p:txBody>
      </p:sp>
      <p:sp>
        <p:nvSpPr>
          <p:cNvPr id="419" name="Google Shape;419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AutoRegressive Conditional Heteroskedasticity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GARCH predicts how </a:t>
            </a:r>
            <a:r>
              <a:rPr lang="en"/>
              <a:t>volatile</a:t>
            </a:r>
            <a:r>
              <a:rPr lang="en"/>
              <a:t> a </a:t>
            </a:r>
            <a:r>
              <a:rPr lang="en"/>
              <a:t>series</a:t>
            </a:r>
            <a:r>
              <a:rPr lang="en"/>
              <a:t> will be based on how how </a:t>
            </a:r>
            <a:r>
              <a:rPr lang="en"/>
              <a:t>volatile</a:t>
            </a:r>
            <a:r>
              <a:rPr lang="en"/>
              <a:t> it has been </a:t>
            </a:r>
            <a:r>
              <a:rPr lang="en"/>
              <a:t>recently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 is concerned with clustering of </a:t>
            </a:r>
            <a:r>
              <a:rPr lang="en"/>
              <a:t>volatility</a:t>
            </a:r>
            <a:r>
              <a:rPr lang="en"/>
              <a:t> (crazy days follow crazy days, boring days follow boring days)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https://github.com/rjwrobel86/Python4Statistics/blob/main/Notebooks/GARCH.ipynb</a:t>
            </a:r>
            <a:endParaRPr/>
          </a:p>
        </p:txBody>
      </p:sp>
      <p:sp>
        <p:nvSpPr>
          <p:cNvPr id="420" name="Google Shape;420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 = Mean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Omega = Baseline variance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= Short-run reaction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Beta = </a:t>
            </a:r>
            <a:r>
              <a:rPr lang="en"/>
              <a:t>Persistence of reaction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 of Alpha + Beta =  Persistence of volatility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