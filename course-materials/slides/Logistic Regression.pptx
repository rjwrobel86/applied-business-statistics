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Proxima Nova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  <p:embeddedFont>
      <p:font typeface="Alfa Slab One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D58982-2E1F-41A6-A694-224143FC258F}">
  <a:tblStyle styleId="{F2D58982-2E1F-41A6-A694-224143FC25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Italic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AlfaSlab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ProximaNova-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8b307e2d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8b307e2d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b307e2d1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8b307e2d1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8b307e2d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8b307e2d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b307e2d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8b307e2d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332a8e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332a8e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5899040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5899040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5d8b403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5d8b403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364b0e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364b0e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a5d8b403c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a5d8b403c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a5d8b403c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a5d8b403c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5d8b403c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5d8b403c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e364b0e6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e364b0e6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382f0b0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a382f0b0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382f0b0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a382f0b0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e364b0e6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e364b0e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332a8ec8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332a8ec8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a382f0b0b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a382f0b0b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332a8ec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332a8ec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a98d6e6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a98d6e6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6332a8ec8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6332a8ec8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5d8b403c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a5d8b403c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5d8b403c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5d8b403c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332a8ec8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332a8ec8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bf79016a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bf79016a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c0bcc58b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1c0bcc58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1c0bcc58b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1c0bcc58b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c0bcc58b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c0bcc58b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c0bcc58b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c0bcc58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e364b0e6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e364b0e6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unaddagatla.medium.com/maximum-likelihood-estimation-in-logistic-regression-f86ff1627b67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</a:t>
            </a:r>
            <a:r>
              <a:rPr lang="en"/>
              <a:t>Outcomes</a:t>
            </a:r>
            <a:r>
              <a:rPr lang="en"/>
              <a:t> &amp; Classification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 = 0 or 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variables are indicator variables used to code categories or conditions.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Sales = B0 + B1(Advertising) + B2(Rain)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 of B2: The change in sales associated with rainy days versus non-rainy days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2721625" y="33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{F2D58982-2E1F-41A6-A694-224143FC258F}</a:tableStyleId>
              </a:tblPr>
              <a:tblGrid>
                <a:gridCol w="1387625"/>
                <a:gridCol w="1387625"/>
                <a:gridCol w="1387625"/>
                <a:gridCol w="138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Advertising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7/3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Variables 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have binary dependent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Used for classification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Pass or fail?  Win or lose?  Accept or reject?  </a:t>
            </a:r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1796750" y="298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{F2D58982-2E1F-41A6-A694-224143FC258F}</a:tableStyleId>
              </a:tblPr>
              <a:tblGrid>
                <a:gridCol w="1387625"/>
                <a:gridCol w="1387625"/>
                <a:gridCol w="1387625"/>
                <a:gridCol w="138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Pass Exam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Days Absent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Stats Major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Linear Probability Model</a:t>
            </a:r>
            <a:r>
              <a:rPr lang="en"/>
              <a:t> 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P(Pass = 1)  = B0 + B1(Study Time) + B2(Days Absent) + B3(Stats Major)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estimated by OLS, this is called a </a:t>
            </a:r>
            <a:r>
              <a:rPr b="1" lang="en"/>
              <a:t>linear probability model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 of B2: The change in the </a:t>
            </a:r>
            <a:r>
              <a:rPr b="1" lang="en"/>
              <a:t>probability</a:t>
            </a:r>
            <a:r>
              <a:rPr lang="en"/>
              <a:t> of passing the exam associated with an additional day absent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1796750" y="33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{F2D58982-2E1F-41A6-A694-224143FC258F}</a:tableStyleId>
              </a:tblPr>
              <a:tblGrid>
                <a:gridCol w="1387625"/>
                <a:gridCol w="1387625"/>
                <a:gridCol w="1387625"/>
                <a:gridCol w="138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Pass Exam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Study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Days Absent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Stats Major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the Linear Probability Model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3529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Easy to use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has lots of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Errors aren’t normally distributed since Y only takes two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Errors are </a:t>
            </a:r>
            <a:r>
              <a:rPr lang="en"/>
              <a:t>heteroskedastic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Predicted probabilities can be above 1 or below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Assumes a constant linear effect on probability (often unrealistic)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Use logistic regression instead!</a:t>
            </a:r>
            <a:endParaRPr b="1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900" y="1046350"/>
            <a:ext cx="5080102" cy="362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9414"/>
            <a:ext cx="9144000" cy="4004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7888"/>
            <a:ext cx="9144000" cy="454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333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and Maximum Likelihood Estimation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Likelihood: A measure of how plausible the observed data are for different </a:t>
            </a:r>
            <a:r>
              <a:rPr lang="en"/>
              <a:t>parameter</a:t>
            </a:r>
            <a:r>
              <a:rPr lang="en"/>
              <a:t>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Maximum Likelihood </a:t>
            </a:r>
            <a:r>
              <a:rPr lang="en"/>
              <a:t>Estimation</a:t>
            </a:r>
            <a:r>
              <a:rPr lang="en"/>
              <a:t>: A method for choosing </a:t>
            </a:r>
            <a:r>
              <a:rPr lang="en"/>
              <a:t>parameter</a:t>
            </a:r>
            <a:r>
              <a:rPr lang="en"/>
              <a:t> values that make the </a:t>
            </a:r>
            <a:r>
              <a:rPr lang="en"/>
              <a:t>observed</a:t>
            </a:r>
            <a:r>
              <a:rPr lang="en"/>
              <a:t> data most plausible under the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Logistic regression is estimated using MLE, not 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More on MLE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Assumptions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Binary dependent variable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Independent observations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Correct functional form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No severe </a:t>
            </a:r>
            <a:r>
              <a:rPr lang="en"/>
              <a:t>multicollinearity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Sufficiently large sample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No highly influential outliers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No complete or quasi-complete separation (one variable can be used to perfectly / near-perfectly classify Y)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Logit Results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46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Pseudo R^2</a:t>
            </a:r>
            <a:r>
              <a:rPr lang="en"/>
              <a:t>: Not the same as R^2, but higher is generally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Log-Likelihood</a:t>
            </a:r>
            <a:r>
              <a:rPr lang="en"/>
              <a:t>: No direct interpretation, but useful as input in calculation for comparing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Log-Likelihood Null</a:t>
            </a:r>
            <a:r>
              <a:rPr lang="en"/>
              <a:t>: The log-likelihood for a model with no explanatory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LLR p-value</a:t>
            </a:r>
            <a:r>
              <a:rPr lang="en"/>
              <a:t>: Similar to p-value for an F-Test for full model, testing H0: All slope </a:t>
            </a:r>
            <a:r>
              <a:rPr lang="en"/>
              <a:t>coefficients</a:t>
            </a:r>
            <a:r>
              <a:rPr lang="en"/>
              <a:t> equal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LLR p-value &gt;= alpha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501" y="1013200"/>
            <a:ext cx="3534975" cy="31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</a:t>
            </a:r>
            <a:r>
              <a:rPr lang="en"/>
              <a:t> R^2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no R^2 for logistic regression, but there is “Pseudo R^2”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are similar in concept, but not the same and </a:t>
            </a:r>
            <a:r>
              <a:rPr lang="en"/>
              <a:t>interpretation</a:t>
            </a:r>
            <a:r>
              <a:rPr lang="en"/>
              <a:t> is not the same at all.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are several formulations: Statsmodels uses McFadden’s Pseudo R^2 by default.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 1 - [ln(Lm) / ln(L0)] where Lm is the likelihood for the fitted model and Lo is the likelihood for a model without any predictors.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Pseudo R^2…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be u</a:t>
            </a:r>
            <a:r>
              <a:rPr lang="en"/>
              <a:t>sed to compare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often low, relative to R^2 from 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bounded between 0 and 1, with higher values indicating a better 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Cannot be used to compare models of different types or different dependent variables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622313"/>
            <a:ext cx="4421551" cy="38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Logit Results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41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Odds = p / (1 - p)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log(p / (1 - p)) = log(odds) = B0 + B1X1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 of Coefficients: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one-unit increase in X1 is associated with a B1 increase in log odds of Y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one-unit increase in X1 is associated with an [((e^B1) - 1) * 100%] increase in the odds of Y = 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additional year of life is associated with a 0.0415 point increase in the log odds of purchasing and a 4.15% increase in the odds of purchasing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Confusing and not very helpful, right?!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475"/>
            <a:ext cx="433320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Terms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 = 1 if student passes, X1 = study time, X2 = tutoring </a:t>
            </a:r>
            <a:r>
              <a:rPr lang="en"/>
              <a:t>attendance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log(p/(1-p) = B0 + B1(study) + B2(tutor) + B3(study*tutor) +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B1 = Effect of studying when tutor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B2 = Effect of tutor when studying =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B3 = How the effect of studying changes when tutoring changes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Best to interpret with marginal effects and predicted probabilities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Logit Results - Marginal Effects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41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Marginal Effects</a:t>
            </a:r>
            <a:r>
              <a:rPr lang="en"/>
              <a:t>: The change in predicted probability associated with a one-unit increase in X, holding other variables fixed (at their mean value, typically).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additional hour of study time might matter more for a “</a:t>
            </a:r>
            <a:r>
              <a:rPr lang="en"/>
              <a:t>marginal</a:t>
            </a:r>
            <a:r>
              <a:rPr lang="en"/>
              <a:t>” student than someone already doing well, so choice of where the effect is evaluated matters.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additional year of life, the </a:t>
            </a:r>
            <a:r>
              <a:rPr lang="en"/>
              <a:t>probability</a:t>
            </a:r>
            <a:r>
              <a:rPr lang="en"/>
              <a:t> of purchasing increases by 1.03 percentage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additional past purchase, the probability of </a:t>
            </a:r>
            <a:r>
              <a:rPr lang="en"/>
              <a:t>purchasing</a:t>
            </a:r>
            <a:r>
              <a:rPr lang="en"/>
              <a:t> </a:t>
            </a:r>
            <a:r>
              <a:rPr lang="en"/>
              <a:t>increases</a:t>
            </a:r>
            <a:r>
              <a:rPr lang="en"/>
              <a:t> by 17.8 percentage 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Marginal effects are much more useful and can be calculated by Python, R, and most other stats software.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57911"/>
          <a:stretch/>
        </p:blipFill>
        <p:spPr>
          <a:xfrm>
            <a:off x="4974000" y="1017724"/>
            <a:ext cx="3442799" cy="130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733125"/>
            <a:ext cx="4387200" cy="192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Logit Results - Elasticity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41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Elasticity</a:t>
            </a:r>
            <a:r>
              <a:rPr lang="en"/>
              <a:t>: The percent change in predicted probability associated </a:t>
            </a:r>
            <a:r>
              <a:rPr lang="en"/>
              <a:t>with</a:t>
            </a:r>
            <a:r>
              <a:rPr lang="en"/>
              <a:t> a 1% change in 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1% increase in age corresponds to a 0.67% increase in the probability of purchasing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1% increase in past purchases is associated with a 0.51% increase in the predicted </a:t>
            </a:r>
            <a:r>
              <a:rPr lang="en"/>
              <a:t>probability</a:t>
            </a:r>
            <a:r>
              <a:rPr lang="en"/>
              <a:t> of purchasing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 b="0" l="0" r="0" t="57911"/>
          <a:stretch/>
        </p:blipFill>
        <p:spPr>
          <a:xfrm>
            <a:off x="4974000" y="1017724"/>
            <a:ext cx="3442799" cy="130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7775" y="2850925"/>
            <a:ext cx="4495251" cy="19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Marginal Effects and Elasticity with Statsmodels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756175"/>
            <a:ext cx="8520600" cy="28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fitted discrete models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Logit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statsmodels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get_margeff()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The main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at=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options are: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'overall'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average marginal effects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'mean'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marginal effects at the mean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'median'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marginal effects at the median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'zero'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marginal effects at zero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'all'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marginal effects at each observation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method=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options include: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'dydx'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ordinary marginal effects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'eyex'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elasticity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'dyex'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semi-elasticity dy/dln⁡xdy / d\ln xdy/dlnx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'eydx'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semi-elasticity dln⁡y/dxd\ln y / dxdlny/dx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Probabilities and Prediction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384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Y-Hat is the probability of Y being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Prediction is done by recoding</a:t>
            </a:r>
            <a:r>
              <a:rPr lang="en"/>
              <a:t> Y-Hat as either 0 or 1  based on a cutoff, typically 50%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3875" y="1191912"/>
            <a:ext cx="3993875" cy="174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875" y="3115225"/>
            <a:ext cx="4317726" cy="1890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Possible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True positive:</a:t>
            </a:r>
            <a:r>
              <a:rPr lang="en"/>
              <a:t> Case is positive and predicted positive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</a:t>
            </a:r>
            <a:r>
              <a:rPr b="1" lang="en"/>
              <a:t>rue negative</a:t>
            </a:r>
            <a:r>
              <a:rPr lang="en"/>
              <a:t>: Case is negative and predicted negative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False negative</a:t>
            </a:r>
            <a:r>
              <a:rPr lang="en"/>
              <a:t>: Case is positive but predicted negative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False positive</a:t>
            </a:r>
            <a:r>
              <a:rPr lang="en"/>
              <a:t>: Case was negative but predicted positive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Confusion Matrix: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4" name="Google Shape;174;p30"/>
          <p:cNvGraphicFramePr/>
          <p:nvPr/>
        </p:nvGraphicFramePr>
        <p:xfrm>
          <a:off x="952500" y="392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{F2D58982-2E1F-41A6-A694-224143FC258F}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 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Predicted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 Positive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Actual Negative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Accuracy = (TP + TN) / (TP + FP + FN + TN)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Accuracy tells the percentage of predictions made correctly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Accuracy can be </a:t>
            </a:r>
            <a:r>
              <a:rPr lang="en"/>
              <a:t>misleading</a:t>
            </a:r>
            <a:r>
              <a:rPr lang="en"/>
              <a:t> with imbalanced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Precision</a:t>
            </a:r>
            <a:r>
              <a:rPr lang="en"/>
              <a:t> = TP / (TP + FP), favors low false positives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Precision</a:t>
            </a:r>
            <a:r>
              <a:rPr lang="en"/>
              <a:t> tells us what percentage of predicted positives were actually positive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Precision of 0.73 means that out of all customers that the model predicted would purchase, 73% of them did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Recall</a:t>
            </a:r>
            <a:r>
              <a:rPr lang="en"/>
              <a:t> = TP / (TP + FN), favors low false negatives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Recall tells us what percentage of actual positives the model correctly predicted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Recall of 76% means that out of all the customers that actually </a:t>
            </a:r>
            <a:r>
              <a:rPr lang="en"/>
              <a:t>purchased, the model predicted this correctly for 76% of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F1</a:t>
            </a:r>
            <a:r>
              <a:rPr lang="en"/>
              <a:t>  = 2*(Recall * Precision) / (Recall + Precision), balances concern for false positives and false negatives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F1 is the weighted harmonic mean of precision and recall.  Closer to 1 = better.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(Receiver Operating Characteristics) Curve</a:t>
            </a:r>
            <a:endParaRPr/>
          </a:p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1398950"/>
            <a:ext cx="441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Used to evaluate binary </a:t>
            </a:r>
            <a:r>
              <a:rPr lang="en"/>
              <a:t>classifiers</a:t>
            </a:r>
            <a:r>
              <a:rPr lang="en"/>
              <a:t> at different levels of cutoff (not just 50%)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 axis =False Positive Rate = FP / (FP + TN)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 axis = True Positive Rate = TP / (TP / FN)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Area under curve (AUC) closer to 1 indicates better discrimination.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diagonal</a:t>
            </a:r>
            <a:r>
              <a:rPr lang="en"/>
              <a:t> corresponds to random guessing.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200" y="1152475"/>
            <a:ext cx="4312800" cy="321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Testing / Statistical Significance 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410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= (Estimated Coefficient - Hypothesized Value) / Standard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 = Bj = 0 by default, so default is just Estimated </a:t>
            </a:r>
            <a:r>
              <a:rPr lang="en"/>
              <a:t>Coefficient</a:t>
            </a:r>
            <a:r>
              <a:rPr lang="en"/>
              <a:t> / Standard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CV from Z table for a selected level of alpha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abs(Z) &gt; abs(CV), reject the null hypothesis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Or, if p &lt; alpha, reject the null hypothesis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550" y="1833177"/>
            <a:ext cx="4102751" cy="126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Models (same dataset)</a:t>
            </a:r>
            <a:endParaRPr/>
          </a:p>
        </p:txBody>
      </p:sp>
      <p:graphicFrame>
        <p:nvGraphicFramePr>
          <p:cNvPr id="200" name="Google Shape;200;p34"/>
          <p:cNvGraphicFramePr/>
          <p:nvPr/>
        </p:nvGraphicFramePr>
        <p:xfrm>
          <a:off x="952500" y="144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{F2D58982-2E1F-41A6-A694-224143FC258F}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Statistic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Better When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Pseudo R^2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142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Nested Models - Likelihood Ratio Test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1152475"/>
            <a:ext cx="40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Model: The model with all final independent variables included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Reduced Model: A model with only some of the independent variables included in the full model and no independent variables that are not included in the full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LLR Test Stat = -2 * (log-likelihood of reduced model - log-likelihood of full model)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CV = Chi-Square for degrees of freedom = number of variables dropped in reduced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Stat &gt; CV, reject null hypothesis that additional variables do not add significant predictive power to the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 use calculated p-value vs alpha</a:t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625" y="1017725"/>
            <a:ext cx="361064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</a:t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sequence of evenly spaced </a:t>
            </a:r>
            <a:r>
              <a:rPr lang="en"/>
              <a:t>values</a:t>
            </a:r>
            <a:r>
              <a:rPr lang="en"/>
              <a:t> across the observed range of the variables of interest (span variables)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Set each variable equal to its mean (or any other values you want to use), except the one you want to investigate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 predictions and see how p(Y=1) changes as the other variable moves from lowest to highest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088" y="2917225"/>
            <a:ext cx="2313652" cy="1810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563" y="731325"/>
            <a:ext cx="3086684" cy="16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Ordered Logistic Regression</a:t>
            </a:r>
            <a:endParaRPr/>
          </a:p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dependent variable is ordinal?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1 if totally dissatisfied, 2 if slightly </a:t>
            </a:r>
            <a:r>
              <a:rPr lang="en"/>
              <a:t>dissatisfied</a:t>
            </a:r>
            <a:r>
              <a:rPr lang="en"/>
              <a:t>, 3 if neither satisfied nor dissatisfied, 4 if slightly </a:t>
            </a:r>
            <a:r>
              <a:rPr lang="en"/>
              <a:t>satisfied</a:t>
            </a:r>
            <a:r>
              <a:rPr lang="en"/>
              <a:t>, 5 if highly satisfied.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OLS assumptions are violated (outcome (Y) is ordinal, not continuous with equal spacing)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Complications: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Proportional odds required - The effect of each predictor assumed to be the same across cumulative logits / </a:t>
            </a:r>
            <a:r>
              <a:rPr lang="en"/>
              <a:t>thresholds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Slightly more complicated interpretation of </a:t>
            </a:r>
            <a:r>
              <a:rPr lang="en"/>
              <a:t>coefficients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Coefficient</a:t>
            </a:r>
            <a:r>
              <a:rPr lang="en"/>
              <a:t> Interpretation: A one-unit increase in X is associated with a B increase in the log odds of being in a higher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Cutpoints have no direct interpretation, but are still important to the calculation</a:t>
            </a:r>
            <a:endParaRPr/>
          </a:p>
        </p:txBody>
      </p:sp>
      <p:pic>
        <p:nvPicPr>
          <p:cNvPr id="222" name="Google Shape;22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450" y="1017713"/>
            <a:ext cx="342993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Ordered Logistic Regression - Predicted Probabilities</a:t>
            </a: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875" y="1419175"/>
            <a:ext cx="2328450" cy="35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9725" y="1313250"/>
            <a:ext cx="5691874" cy="3541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Multinomial Logistic Regression</a:t>
            </a:r>
            <a:endParaRPr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if dependent variable is nominal (categorical, labels, unordered)?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Favorite streaming service, flavor of ice-cream, major, religion,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Coefficients are made with respect to a reference category and tell the log odds of being in each category relative to the reference category for a one unit change in X</a:t>
            </a:r>
            <a:endParaRPr/>
          </a:p>
        </p:txBody>
      </p:sp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50" y="1017713"/>
            <a:ext cx="3576739" cy="382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Multinomial Logistic Regression Interpretation</a:t>
            </a:r>
            <a:endParaRPr/>
          </a:p>
        </p:txBody>
      </p:sp>
      <p:sp>
        <p:nvSpPr>
          <p:cNvPr id="242" name="Google Shape;242;p40"/>
          <p:cNvSpPr txBox="1"/>
          <p:nvPr>
            <p:ph idx="1" type="body"/>
          </p:nvPr>
        </p:nvSpPr>
        <p:spPr>
          <a:xfrm>
            <a:off x="311700" y="13547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Coefficients</a:t>
            </a:r>
            <a:r>
              <a:rPr lang="en"/>
              <a:t> are created for all but one of the values of 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 example, occupation code 1 is the omitted / reference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one-year increase in years of education increases the log odds of being in category 4 instead of the reference category (1) by 0.1513 and the odds by 16.34%, since ((e^0.1513) -1) = 0.1634</a:t>
            </a:r>
            <a:endParaRPr/>
          </a:p>
        </p:txBody>
      </p:sp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7275" y="950188"/>
            <a:ext cx="277612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Multinomial Logistic Regression - Predicted Probabilities</a:t>
            </a:r>
            <a:endParaRPr/>
          </a:p>
        </p:txBody>
      </p:sp>
      <p:pic>
        <p:nvPicPr>
          <p:cNvPr id="249" name="Google Shape;2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50" y="1718775"/>
            <a:ext cx="4682124" cy="335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924" y="1483150"/>
            <a:ext cx="4004675" cy="2724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Probit!</a:t>
            </a:r>
            <a:endParaRPr/>
          </a:p>
        </p:txBody>
      </p:sp>
      <p:sp>
        <p:nvSpPr>
          <p:cNvPr id="256" name="Google Shape;25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Probit is </a:t>
            </a:r>
            <a:r>
              <a:rPr lang="en"/>
              <a:t>another</a:t>
            </a:r>
            <a:r>
              <a:rPr lang="en"/>
              <a:t> model of binary choice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Logit uses logistic CDF, while Probit uses standard normal CDF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Logit is often considered easier to interpret, if you can believe that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Results are often very similar to logit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