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143500" cx="9144000"/>
  <p:notesSz cx="6858000" cy="9144000"/>
  <p:embeddedFontLst>
    <p:embeddedFont>
      <p:font typeface="Roboto Slab"/>
      <p:regular r:id="rId80"/>
      <p:bold r:id="rId81"/>
    </p:embeddedFont>
    <p:embeddedFont>
      <p:font typeface="Roboto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8BC190-090F-4200-BC18-7E2ECB60C8C9}">
  <a:tblStyle styleId="{9B8BC190-090F-4200-BC18-7E2ECB60C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F8FCCE8-2236-4894-B281-AE60FACB122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-italic.fntdata"/><Relationship Id="rId83" Type="http://schemas.openxmlformats.org/officeDocument/2006/relationships/font" Target="fonts/Roboto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Roboto-boldItalic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Slab-regular.fntdata"/><Relationship Id="rId82" Type="http://schemas.openxmlformats.org/officeDocument/2006/relationships/font" Target="fonts/Roboto-regular.fntdata"/><Relationship Id="rId81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f2c8b9674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f2c8b9674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f2c8b9674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f2c8b9674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f2c8b9674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f2c8b9674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f2c8b9674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f2c8b9674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2c8b9674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f2c8b9674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2c8b9674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2c8b9674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f2c8b9674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f2c8b9674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2c8b9674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f2c8b9674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f2c8b9674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f2c8b9674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f2c8b9674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f2c8b9674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f2c8b9674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f2c8b9674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f2c8b9674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f2c8b9674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f2c8b967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f2c8b967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f2c8b9674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f2c8b9674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f2c8b9674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f2c8b9674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f2c8b9674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f2c8b9674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f2c8b9674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f2c8b9674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f2c8b9674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f2c8b9674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f2c8b9674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f2c8b9674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f2c8b9674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f2c8b9674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f2c8b9674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f2c8b9674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f2c8b9674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f2c8b9674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f2c8b9674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f2c8b9674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f2c8b9674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f2c8b9674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f2c8b9674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f2c8b9674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f2c8b9674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f2c8b9674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f2c8b9674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f2c8b9674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2c8b9674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f2c8b9674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f2c8b9674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f2c8b9674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f2c8b9674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f2c8b9674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2c8b9674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f2c8b9674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Turning point vs inflection point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f2c8b9674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f2c8b9674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f2c8b9674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f2c8b9674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f2c8b9674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f2c8b9674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f2c8b9674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f2c8b9674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f2c8b9674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f2c8b9674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622ad7af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9622ad7af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622ad7af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9622ad7af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f2c8b9674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f2c8b9674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f2c8b9674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f2c8b9674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f2c8b9674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cf2c8b9674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f2c8b9674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cf2c8b9674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f2c8b9674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f2c8b9674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622ad7af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622ad7af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622ad7af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9622ad7af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622ad7af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9622ad7af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f2c8b9674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cf2c8b9674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f2c8b9674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cf2c8b9674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f2c8b9674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cf2c8b9674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f2c8b9674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cf2c8b9674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f2c8b9674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cf2c8b9674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f2c8b9674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f2c8b9674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f2c8b9674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cf2c8b9674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f2c8b9674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f2c8b9674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cf2c8b9674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cf2c8b9674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f2c8b9674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f2c8b9674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f2c8b9674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f2c8b9674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f2c8b9674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cf2c8b9674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f2c8b9674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f2c8b9674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f2c8b9674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cf2c8b9674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f2c8b9674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cf2c8b9674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Fraud cases = 0.1% of all transactions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You collect millions of new transactions — but if 0.1% are still fraud, you've only gained a handful of extra positives.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Unless you balance or weight the model properly, it'll just learn to predict "not fraud" better and better — which is catastrophic in practice.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f2c8b9674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f2c8b9674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f2c8b9674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cf2c8b9674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f2c8b9674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cf2c8b9674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f2c8b9674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f2c8b9674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f2c8b9674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f2c8b9674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f2c8b9674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f2c8b9674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f2c8b9674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cf2c8b9674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cf2c8b9674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cf2c8b9674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f2c8b9674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cf2c8b9674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is number of parameters including intercept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f2c8b9674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cf2c8b9674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622ad7af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9622ad7af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9622ad7af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9622ad7af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 THIS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Relationship Id="rId4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Relationship Id="rId4" Type="http://schemas.openxmlformats.org/officeDocument/2006/relationships/image" Target="../media/image4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4.png"/><Relationship Id="rId4" Type="http://schemas.openxmlformats.org/officeDocument/2006/relationships/image" Target="../media/image3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r>
              <a:rPr lang="en"/>
              <a:t> Assumptions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Assumptions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There are several assumed conditions underlying regression analysis.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If the conditions of these assumptions are not met, the regression model will bias </a:t>
            </a:r>
            <a:r>
              <a:rPr lang="en" sz="2200"/>
              <a:t>coefficients</a:t>
            </a:r>
            <a:r>
              <a:rPr lang="en" sz="2200"/>
              <a:t>, inflate variance, distort standard errors, and hurt predictions.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It is CRITICAL to assess each assumption and make adjustments / corrections.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Assumptions Overview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Identification Assumptions: Linear in parameters, zero conditional mean, no perfect </a:t>
            </a:r>
            <a:r>
              <a:rPr lang="en"/>
              <a:t>multicollinearity</a:t>
            </a:r>
            <a:r>
              <a:rPr lang="en"/>
              <a:t>, correct specification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Efficiency</a:t>
            </a:r>
            <a:r>
              <a:rPr lang="en"/>
              <a:t> Assumptions: </a:t>
            </a:r>
            <a:r>
              <a:rPr lang="en"/>
              <a:t>homoscedasticity</a:t>
            </a:r>
            <a:r>
              <a:rPr lang="en"/>
              <a:t>, no autocorrelation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Inference Assumptions: Normality of residuals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1</a:t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is linear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 its parameters)</a:t>
            </a:r>
            <a:endParaRPr/>
          </a:p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DOESN’T MEAN WHAT IT SOUNDS LIKE IT MEANS!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LINEAR REGRESSION CAN HANDLE NON-LINEAR RELATIONSHIPS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basically means that beta values cannot be transformed in any complex way / model must be linear in </a:t>
            </a:r>
            <a:r>
              <a:rPr lang="en"/>
              <a:t>coefficients</a:t>
            </a:r>
            <a:r>
              <a:rPr lang="en"/>
              <a:t>, but not necessarily in the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in Parameters vs Variables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 does not require that the relationships between X’s and Y we’re estimating be linear.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OLS methods allow us to fit all sorts of non-linear relationships between Y and Xi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do this by transforming variables and/or using alternative functional forms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i="1" lang="en"/>
              <a:t>LINEAR</a:t>
            </a:r>
            <a:r>
              <a:rPr lang="en"/>
              <a:t> part of linear regression is referencing the betas / coefficients, specifically that it is a linear combination of the coefficients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coefficient must appear only once, not be multiplied or divided by others, and not be inside a function.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A + (Labor^B1) *  Capital^B2) = NO 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Sometimes logarithms solve this 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ln(Y) = lnA +  B1(ln(Labor) + B2(ln(Capital)) = Fine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 Linear In Parameters Models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800" y="1144120"/>
            <a:ext cx="52924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5800" y="2571326"/>
            <a:ext cx="5292399" cy="87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5800" y="3678400"/>
            <a:ext cx="5292399" cy="1132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2</a:t>
            </a:r>
            <a:endParaRPr/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 Specification</a:t>
            </a:r>
            <a:endParaRPr/>
          </a:p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irrelevant variables included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relevant variables excluded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Functional form is based on logic, theory, &amp; plots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Variable Selection - Theoretical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Fundamental facts and logic: What variables do we know for sure help determine the value of the dependent variable? Example: Price is obviously  critical in determining demand for a vehicles.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Theory: What variables does current academic/professional literature/theory suggest are helpful determining the value of the dependent variable?  Do a literature review!  Example: Interest rates, the unemployment rate, etc.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Controls: What factors aren’t directly related to facts or theory, but rather additional factors likely to confound your results.  Example: Weather conditions impact sales, but indirectly.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Experimental: What we’re testing / trying to prove.  Example: Does a new type of advertising / ad campaign impact sales?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&amp; Operationalizing Variables 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87900" y="1489825"/>
            <a:ext cx="7784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Estimating sales at a car dealership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Theorize a general form equation (variables and signs/directions)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Sales = f(inventory +, pricing -, economic conditions *, competitor pricing +, advertising +, weather *, pandemic -, season or month *)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Find specific data and variables to operationalize your theory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Sold Units = f(Inventory at start of month, average difference of MSRP and sale price, local unemployment rate, average discount of MSRP and sale price (scraped from website), $ value of advertising budget, precipitation (rain or snow), month (all but one), and is the time period in question during the Covid pandemic.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X Variables For Your Model - Technical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87900" y="1396300"/>
            <a:ext cx="8267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How do we select variables?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Signs / Direction: Does the direction of the variable’s effect make sense / match theory?  Price increases are unlikely to cause quantity demanded to rise, so a positive relationship is a concern (though it may be fine!)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Bias: How much do other variables change in magnitude and direction when other variables are added / removed?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T-testing / p-value: Does the variable have any statistical significance?  Variables are statistically significant if their p-value is below your selected alpha.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Adjusted R^2: Does a variable’s inclusion raise or (lower adjusted) R^2?  Higher = Better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" sz="1700"/>
              <a:t>AIC / BIC: Does a variable’s inclusion raise or lower AIC / BIC?  Lower = Better</a:t>
            </a:r>
            <a:endParaRPr sz="17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Theory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should guide your choice of variables!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Even if statistically insignificant be very reluctant to omit a variable that is: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Conceptually fundamental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Well established in the professional/academic literature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Even if statistically significant, never include a variable that makes no logical sense!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&amp; Solutions of </a:t>
            </a:r>
            <a:r>
              <a:rPr b="1" lang="en"/>
              <a:t>Omitted Variables</a:t>
            </a:r>
            <a:endParaRPr b="1"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2997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Consequences</a:t>
            </a:r>
            <a:endParaRPr b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1) Bias in coefficients (magnitude and/or direction)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2) Hypothesis testing is unreliable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3) Confidence intervals are unreliable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4) Low predictive power / inaccurate predictions</a:t>
            </a:r>
            <a:endParaRPr sz="2100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5989775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Solutions</a:t>
            </a:r>
            <a:endParaRPr b="1"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1) Include the omitted variable in the regression - Duh!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0"/>
              <a:t>2) Include a proxy variable if the actual variable cannot be included</a:t>
            </a:r>
            <a:endParaRPr sz="1750"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879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70"/>
              <a:t>Detection</a:t>
            </a:r>
            <a:endParaRPr b="1"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1) Logic / theory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2) Unexpected signs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3) Poor model fit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770"/>
              <a:t>4) Changes in </a:t>
            </a:r>
            <a:r>
              <a:rPr lang="en" sz="1770"/>
              <a:t>coefficients</a:t>
            </a:r>
            <a:r>
              <a:rPr lang="en" sz="1770"/>
              <a:t> when controls are added</a:t>
            </a:r>
            <a:endParaRPr sz="177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Omitted Variables Bias Coefficients 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87900" y="1489825"/>
            <a:ext cx="5465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Model: Y = B0 + B1(X) + B2(Z)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Estimated Model: Y = B0 + B1(X)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is omitted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Z is correlated with Y and 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Bias(B1) = B2 * (Cov(X,Z) / Var(X))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B2 and Cov(X,Z) are both positive or negative, Bias is Positive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is positive and the other is negative, Bias is Negative  </a:t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625" y="1337299"/>
            <a:ext cx="4467475" cy="1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439"/>
            <a:ext cx="9144001" cy="438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1840"/>
            <a:ext cx="9144000" cy="4239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 Error - Omitted X Variable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638750" y="979550"/>
            <a:ext cx="58665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Domestic GDP = (Consumption) + Investment + Government Spending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6" name="Google Shape;166;p28"/>
          <p:cNvGraphicFramePr/>
          <p:nvPr/>
        </p:nvGraphicFramePr>
        <p:xfrm>
          <a:off x="952500" y="353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{9B8BC190-090F-4200-BC18-7E2ECB60C8C9}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Variable 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Coefficients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Standard Error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t Stat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P-value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Intercept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176.605521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48.8939703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3.61201023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0.00036508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Investment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3.34495811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0.11077061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30.1971636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1.1444E-86 (Lower)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Government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1.12138656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0.0544051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20.6117923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1.858E-56 (Lower)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8"/>
          <p:cNvGraphicFramePr/>
          <p:nvPr/>
        </p:nvGraphicFramePr>
        <p:xfrm>
          <a:off x="952500" y="138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{9B8BC190-090F-4200-BC18-7E2ECB60C8C9}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Variable 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Coefficients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Standard Error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t Stat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P-value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Intercept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221.767402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10.5921799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20.9368991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1.7731E-57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Investment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0.50870401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0.04586227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11.0919945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1.2808E-23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Government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0.09740345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0.01837915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5.2996704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2.4975E-07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Consumption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1.27937902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0.01764116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72.5223846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3.797E-173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&amp; Solutions of </a:t>
            </a:r>
            <a:r>
              <a:rPr b="1" lang="en"/>
              <a:t>Irrelevant</a:t>
            </a:r>
            <a:r>
              <a:rPr lang="en"/>
              <a:t> </a:t>
            </a:r>
            <a:r>
              <a:rPr b="1" lang="en"/>
              <a:t>Variables</a:t>
            </a:r>
            <a:endParaRPr b="1"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2997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Consequences</a:t>
            </a:r>
            <a:endParaRPr b="1"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1) Larger standard errors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2) Wider confidence intervals 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3) Lower precision / efficiency 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4) Possible overfitting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50"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5989775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Solutions</a:t>
            </a:r>
            <a:endParaRPr b="1"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0"/>
              <a:t>Remove irrelevant variable(s) - Duh!</a:t>
            </a:r>
            <a:endParaRPr sz="1750"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879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70"/>
              <a:t>Detection</a:t>
            </a:r>
            <a:endParaRPr b="1"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1) Logic / theory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2) T-test / P-value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3) Adjusted R^2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770"/>
              <a:t>4) Impact on other coefficients</a:t>
            </a:r>
            <a:endParaRPr sz="177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171875" y="2730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 Error - Included Irrelevant X Variable</a:t>
            </a:r>
            <a:endParaRPr/>
          </a:p>
        </p:txBody>
      </p:sp>
      <p:graphicFrame>
        <p:nvGraphicFramePr>
          <p:cNvPr id="181" name="Google Shape;181;p30"/>
          <p:cNvGraphicFramePr/>
          <p:nvPr/>
        </p:nvGraphicFramePr>
        <p:xfrm>
          <a:off x="1682875" y="58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{9B8BC190-090F-4200-BC18-7E2ECB60C8C9}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Variable 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Coefficients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Standard Error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t Stat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P-value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Intercept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221.767402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10.5921799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20.9368991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1.7731E-57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Investment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0.50870401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0.04586227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11.0919945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1.2808E-23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Government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0.09740345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0.01837915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5.2996704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2.4975E-07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Consumption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1.27937902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0.01764116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72.5223846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3.797E-173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30"/>
          <p:cNvGraphicFramePr/>
          <p:nvPr/>
        </p:nvGraphicFramePr>
        <p:xfrm>
          <a:off x="1682875" y="269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{9B8BC190-090F-4200-BC18-7E2ECB60C8C9}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 Variable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Coefficients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Standard Error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t Stat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solidFill>
                            <a:schemeClr val="dk1"/>
                          </a:solidFill>
                        </a:rPr>
                        <a:t>P-value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Intercept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218.245023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15.811014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13.803354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8.987E-33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Investment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0.50963482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0.04604795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11.0674814 (Lower)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1.5951E-23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Government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0.09762164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0.01842608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5.298015 (Lower)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2.5251E-07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Consumption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1.27901116 (Lower)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0.01771481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72.2000999 (Lower)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3.249E-172 (Higher)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Random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7.34242104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24.4336968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0.30050389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0.76403672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1425" marR="9525" marL="952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30"/>
          <p:cNvSpPr txBox="1"/>
          <p:nvPr/>
        </p:nvSpPr>
        <p:spPr>
          <a:xfrm>
            <a:off x="329175" y="1625350"/>
            <a:ext cx="1203600" cy="2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Domestic GDP =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Consumption +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Investment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Government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Parsimony and Occam's Razor</a:t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is better, all things being equal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equally effective model with less complexity is likely superior for practical, scientific, and philosophical reasons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Overfitting: Creating a model so specific that it is perfect for describing the dataset used to train the model, but has much less value when tested “out of sample”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Less specificity means less chance of overfitting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717" y="287388"/>
            <a:ext cx="7654558" cy="45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- </a:t>
            </a:r>
            <a:r>
              <a:rPr lang="en"/>
              <a:t>Future</a:t>
            </a:r>
            <a:r>
              <a:rPr lang="en"/>
              <a:t> data</a:t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1850"/>
            <a:ext cx="8869448" cy="23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- Data left out</a:t>
            </a:r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88" y="1420988"/>
            <a:ext cx="8648627" cy="230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Stepwise Selection - Not Usually A Good Idea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87900" y="1489825"/>
            <a:ext cx="4707300" cy="3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possible to have a computer select your variables for you, but you probably shouldn’t do it.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Results may fail to generalize / model may be “overfitted”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May give unstable models and </a:t>
            </a:r>
            <a:r>
              <a:rPr lang="en"/>
              <a:t>misleading</a:t>
            </a:r>
            <a:r>
              <a:rPr lang="en"/>
              <a:t> p-values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Stepwise forward</a:t>
            </a:r>
            <a:r>
              <a:rPr lang="en"/>
              <a:t>: Start with minimum number of variables needed and build up the model from there, adding more variables than you subtract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Stepwise backward</a:t>
            </a:r>
            <a:r>
              <a:rPr lang="en"/>
              <a:t>: Start with the maximum number of (reasonable, logical, theoretical) variables and trim down the model from there, subtracting more variables than you add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Stepwise mixed</a:t>
            </a:r>
            <a:r>
              <a:rPr lang="en"/>
              <a:t>: Both of the above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Comparison criteria</a:t>
            </a:r>
            <a:r>
              <a:rPr lang="en"/>
              <a:t>: R^2 (+), Adjusted R^2 (+), AIC (-), BIC(-), T-Stats (+) / P-Values (-) of variables, signs of variables, F-Stat / P-Value of full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200" y="2472650"/>
            <a:ext cx="3786676" cy="14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Form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87900" y="1304800"/>
            <a:ext cx="3919200" cy="3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31"/>
              <a:t>Linear: Y = B0 + B1x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Log-linear: ln(Y) = B0 + B1*x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Linear-log: Y = B0 + B1*ln(x)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Double-log: ln(Y) = B0 +B1*ln(x)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Polynomial (2nd): Y = B0 + B1*x + B2*x^2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Polynomial (Nth): Y = B0 + B1*x + B2*x^2…Bn*x^n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Inverse: Y = B0 + B1*(1/x)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Square Root: Sqrt(Y) = B0 + B1*x1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Interaction: Y = B0 + B1*x1 + B2*x2 + B3*(x1*x2) + e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1"/>
              <a:t>Logistic* (NOT OLS)</a:t>
            </a:r>
            <a:endParaRPr sz="493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245" y="1144125"/>
            <a:ext cx="4716355" cy="314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33" y="0"/>
            <a:ext cx="771713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87900" y="879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Coefficient Interpretation 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277" y="738875"/>
            <a:ext cx="7248175" cy="43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Log-Linear Model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87900" y="1489825"/>
            <a:ext cx="81867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change non-linear equations into linear equations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natural logarithm of the dependent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ln(Y) = B0 + B1*X1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Coefficient interpretation: For small </a:t>
            </a:r>
            <a:r>
              <a:rPr b="1" lang="en"/>
              <a:t>coefficients</a:t>
            </a:r>
            <a:r>
              <a:rPr b="1" lang="en"/>
              <a:t>, a one-unit increase in X is associated with an approximate 100 x B% change in Y.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 For larger coefficients, use 100((e^B) -1)%</a:t>
            </a:r>
            <a:endParaRPr b="1"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375" y="3359525"/>
            <a:ext cx="4724275" cy="14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Linear-Log Model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87900" y="1489825"/>
            <a:ext cx="81867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change non-linear equations into linear equations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natural logarithm of the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 + B1*ln(X1)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Coefficient interpretation: A one percent change in X leads to a B/100 unit change in 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028" y="3226700"/>
            <a:ext cx="5260198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Log-Log</a:t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185550" y="1365075"/>
            <a:ext cx="77379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change non-linear equations into linear equations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50"/>
              <a:t>ln(Y) = B0 + B1*ln(X) + E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natural logarithm of the dependent variable and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50"/>
              <a:t>Coefficient interpretation: A one % change in X leads to a B percent change in Y = Elasticity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50"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554" y="3277075"/>
            <a:ext cx="6662899" cy="16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</a:t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87900" y="1489825"/>
            <a:ext cx="81867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 = B0 + B1(1/X) + E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A one unit </a:t>
            </a:r>
            <a:r>
              <a:rPr lang="en" sz="2300"/>
              <a:t>increase</a:t>
            </a:r>
            <a:r>
              <a:rPr lang="en" sz="2300"/>
              <a:t> in x leads to a non-linear change in Y by  B1.  B1 &gt; 0, y is decreasing as x increase</a:t>
            </a:r>
            <a:endParaRPr sz="2300"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94" y="2919681"/>
            <a:ext cx="7830725" cy="1873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/ Quadratic Form</a:t>
            </a:r>
            <a:endParaRPr/>
          </a:p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87900" y="1489825"/>
            <a:ext cx="4902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If a relationship between X and Y is concave or convex, a quadratic form may be needed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Y = B0 + B1(X1) + B2(X1^2) + E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Example: Income = f(Age)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As age rises (16-60) earned income rises too, but at a certain point, people retire and their earned income falls (60-100…)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A properly formed model would include an age^2 variable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Income = f(Age + Age^2)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Can be more than quadratic polynomial, depending on inflection points (X^2 = 1 inflection point, X^3 = 2 inflection points)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325"/>
              <a:t>Interpretation is complex but can still be used for prediction</a:t>
            </a:r>
            <a:endParaRPr sz="1325"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500" y="1947300"/>
            <a:ext cx="3523049" cy="211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/ Quadratic Form</a:t>
            </a:r>
            <a:endParaRPr/>
          </a:p>
        </p:txBody>
      </p:sp>
      <p:pic>
        <p:nvPicPr>
          <p:cNvPr id="272" name="Google Shape;2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23" y="1111038"/>
            <a:ext cx="6529676" cy="38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&amp; Solutions of Incorrect Functional Form</a:t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32997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787"/>
              <a:t>Consequences</a:t>
            </a:r>
            <a:endParaRPr b="1" sz="17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87"/>
              <a:t>1) Biased coefficients</a:t>
            </a:r>
            <a:endParaRPr sz="17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87"/>
              <a:t>2) Hypothesis testing is unreliable</a:t>
            </a:r>
            <a:endParaRPr sz="17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87"/>
              <a:t>3) Confidence intervals are unreliable</a:t>
            </a:r>
            <a:endParaRPr sz="17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87"/>
              <a:t>4) Inaccurate predictions</a:t>
            </a:r>
            <a:endParaRPr sz="17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8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87"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5989775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Solutions</a:t>
            </a:r>
            <a:endParaRPr b="1"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1) Try different functional forms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0"/>
              <a:t>2) Transform variables (log, sqrt, inverse)</a:t>
            </a:r>
            <a:endParaRPr sz="1750"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3879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70"/>
              <a:t>Detection</a:t>
            </a:r>
            <a:endParaRPr b="1"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70"/>
              <a:t>1) Logic / Theory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70"/>
              <a:t>2) Plots of x vs y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70"/>
              <a:t>3) Residual analysis*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70"/>
              <a:t>4) Ramsey's RESET Test</a:t>
            </a:r>
            <a:endParaRPr sz="177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Ramsey’s RESET Test 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test for 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Incorrect functional form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Incorrect transformations 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Non linearities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Omitted variables that are correlated with included variables  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Missing interactions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Provides hint of problem, but not many insights for solution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1: Estimate a regression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Estimate another regression model using the Y-hat^2 and Y-hat^3 as additional independent variables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Test the new variables for statistical significance.  If they are significant, this points to the need for squared or cubic variables, or an alternate functional 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679" y="183226"/>
            <a:ext cx="2896273" cy="298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641" y="0"/>
            <a:ext cx="499671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3 </a:t>
            </a:r>
            <a:endParaRPr/>
          </a:p>
        </p:txBody>
      </p:sp>
      <p:sp>
        <p:nvSpPr>
          <p:cNvPr id="303" name="Google Shape;303;p4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Conditional Mean of Errors</a:t>
            </a:r>
            <a:endParaRPr/>
          </a:p>
        </p:txBody>
      </p:sp>
      <p:sp>
        <p:nvSpPr>
          <p:cNvPr id="304" name="Google Shape;304;p4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E(e | X)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error term is unrelated to the independent variables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systematic relationships between Y and X are captured in the model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Conditional Mean of Errors </a:t>
            </a:r>
            <a:endParaRPr/>
          </a:p>
        </p:txBody>
      </p:sp>
      <p:sp>
        <p:nvSpPr>
          <p:cNvPr id="310" name="Google Shape;310;p50"/>
          <p:cNvSpPr txBox="1"/>
          <p:nvPr>
            <p:ph idx="1" type="body"/>
          </p:nvPr>
        </p:nvSpPr>
        <p:spPr>
          <a:xfrm>
            <a:off x="3889188" y="1144125"/>
            <a:ext cx="275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Consequences: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Biased coefficients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Inconsistent estimates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Wrong causal interpretation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Hypothesis testing becomes misleading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0"/>
          <p:cNvSpPr txBox="1"/>
          <p:nvPr>
            <p:ph idx="1" type="body"/>
          </p:nvPr>
        </p:nvSpPr>
        <p:spPr>
          <a:xfrm>
            <a:off x="278250" y="1032300"/>
            <a:ext cx="3418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Detection: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Theory / domain knowledge 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Coefficient instability 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Residual patterns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RESET Test 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Endogeneity clues (reverse causality, simultaneous relationships, selection effects.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50"/>
              <a:t>There are no statistical tests for this.</a:t>
            </a:r>
            <a:endParaRPr b="1" sz="1250"/>
          </a:p>
        </p:txBody>
      </p:sp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6462075" y="1144125"/>
            <a:ext cx="275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Add missing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 proxy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Fixed effects (control for unobserved, time-invariant factors)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Causal methods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4</a:t>
            </a:r>
            <a:endParaRPr/>
          </a:p>
        </p:txBody>
      </p:sp>
      <p:sp>
        <p:nvSpPr>
          <p:cNvPr id="318" name="Google Shape;318;p5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Homoscedasticity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(Variance of errors is constant) </a:t>
            </a:r>
            <a:endParaRPr/>
          </a:p>
        </p:txBody>
      </p:sp>
      <p:pic>
        <p:nvPicPr>
          <p:cNvPr id="319" name="Google Shape;31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150" y="1836525"/>
            <a:ext cx="4151050" cy="238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Heteroskedasticity in Savings Rates</a:t>
            </a:r>
            <a:endParaRPr/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387900" y="1489825"/>
            <a:ext cx="2855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economics, we study consumption as a percentage of income, as a function of income.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marginal propensity to consume is the percentage of income consumed vs saved.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Higher income households have more opportunities to save, but don’t necessarily save more than lower income households</a:t>
            </a:r>
            <a:endParaRPr/>
          </a:p>
        </p:txBody>
      </p:sp>
      <p:pic>
        <p:nvPicPr>
          <p:cNvPr id="326" name="Google Shape;326;p5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675" y="1299113"/>
            <a:ext cx="5596200" cy="3460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Heteroskedasticity</a:t>
            </a:r>
            <a:endParaRPr/>
          </a:p>
        </p:txBody>
      </p:sp>
      <p:pic>
        <p:nvPicPr>
          <p:cNvPr id="332" name="Google Shape;33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50" y="1881250"/>
            <a:ext cx="4151050" cy="229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150" y="1836525"/>
            <a:ext cx="4151050" cy="238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 Homoscedasticity</a:t>
            </a:r>
            <a:endParaRPr/>
          </a:p>
        </p:txBody>
      </p:sp>
      <p:pic>
        <p:nvPicPr>
          <p:cNvPr id="339" name="Google Shape;33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975" y="1553875"/>
            <a:ext cx="7066050" cy="31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&amp; Solutions of Heteroskedasticity</a:t>
            </a:r>
            <a:endParaRPr/>
          </a:p>
        </p:txBody>
      </p:sp>
      <p:sp>
        <p:nvSpPr>
          <p:cNvPr id="345" name="Google Shape;345;p55"/>
          <p:cNvSpPr txBox="1"/>
          <p:nvPr>
            <p:ph idx="1" type="body"/>
          </p:nvPr>
        </p:nvSpPr>
        <p:spPr>
          <a:xfrm>
            <a:off x="32997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Consequences</a:t>
            </a:r>
            <a:endParaRPr b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1)OLS regression is no longer minimum variance 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2) Hypothesis testing is unreliable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3) Confidence intervals are unreliable </a:t>
            </a:r>
            <a:endParaRPr sz="2100"/>
          </a:p>
        </p:txBody>
      </p:sp>
      <p:sp>
        <p:nvSpPr>
          <p:cNvPr id="346" name="Google Shape;346;p55"/>
          <p:cNvSpPr txBox="1"/>
          <p:nvPr>
            <p:ph idx="1" type="body"/>
          </p:nvPr>
        </p:nvSpPr>
        <p:spPr>
          <a:xfrm>
            <a:off x="5989775" y="1489825"/>
            <a:ext cx="2766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Solutions</a:t>
            </a:r>
            <a:endParaRPr b="1"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1) Transform variables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2) Change functional form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3) Use WLS or GLS 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0"/>
              <a:t>4) Use heteroskedasticity-robust standard errors</a:t>
            </a:r>
            <a:endParaRPr sz="1750"/>
          </a:p>
        </p:txBody>
      </p:sp>
      <p:sp>
        <p:nvSpPr>
          <p:cNvPr id="347" name="Google Shape;347;p55"/>
          <p:cNvSpPr txBox="1"/>
          <p:nvPr>
            <p:ph idx="1" type="body"/>
          </p:nvPr>
        </p:nvSpPr>
        <p:spPr>
          <a:xfrm>
            <a:off x="387900" y="14898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70"/>
              <a:t>Detection</a:t>
            </a:r>
            <a:endParaRPr b="1"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1) Plot residuals against fitted values and each x variable looking for spreading pattern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2)  White test: 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H0: Homoscedasticity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70"/>
              <a:t>HA: Heteroskedasticity</a:t>
            </a:r>
            <a:endParaRPr sz="17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77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5 </a:t>
            </a:r>
            <a:endParaRPr/>
          </a:p>
        </p:txBody>
      </p:sp>
      <p:sp>
        <p:nvSpPr>
          <p:cNvPr id="353" name="Google Shape;353;p5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Sampling / Independence </a:t>
            </a:r>
            <a:endParaRPr/>
          </a:p>
        </p:txBody>
      </p:sp>
      <p:sp>
        <p:nvSpPr>
          <p:cNvPr id="354" name="Google Shape;354;p5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are independent of each 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observation provides information about another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Cov(ei,ej) = 0 for i =/= j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clustering, spillovers, or time-dependence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Dependence</a:t>
            </a:r>
            <a:endParaRPr/>
          </a:p>
        </p:txBody>
      </p:sp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dependence = Autocorrelation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Cluster dependence = Groups share shocks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Spatial dependence = Nearby units influence each 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Panel dependence = Repeated observations per unit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Sampling / Independence </a:t>
            </a:r>
            <a:endParaRPr/>
          </a:p>
        </p:txBody>
      </p:sp>
      <p:sp>
        <p:nvSpPr>
          <p:cNvPr id="366" name="Google Shape;366;p58"/>
          <p:cNvSpPr txBox="1"/>
          <p:nvPr>
            <p:ph idx="1" type="body"/>
          </p:nvPr>
        </p:nvSpPr>
        <p:spPr>
          <a:xfrm>
            <a:off x="3889188" y="1144125"/>
            <a:ext cx="275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Consequences: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Standard errors are biased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False statistical significance of some </a:t>
            </a:r>
            <a:r>
              <a:rPr lang="en"/>
              <a:t>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Confidence intervals are invalid (too narrow)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Hypothesis testing is unreliable </a:t>
            </a:r>
            <a:endParaRPr/>
          </a:p>
        </p:txBody>
      </p:sp>
      <p:sp>
        <p:nvSpPr>
          <p:cNvPr id="367" name="Google Shape;367;p58"/>
          <p:cNvSpPr txBox="1"/>
          <p:nvPr>
            <p:ph idx="1" type="body"/>
          </p:nvPr>
        </p:nvSpPr>
        <p:spPr>
          <a:xfrm>
            <a:off x="278250" y="1032300"/>
            <a:ext cx="3418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Detection: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Data structructures (repeated observations per unit, geographic grouping, etc.) = Main CLUE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Residual patterns over time (cluster or trend)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Autocorrelation plots (ACF)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Durbin Watson test 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Group level clustering 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50"/>
          </a:p>
        </p:txBody>
      </p:sp>
      <p:sp>
        <p:nvSpPr>
          <p:cNvPr id="368" name="Google Shape;368;p58"/>
          <p:cNvSpPr txBox="1"/>
          <p:nvPr>
            <p:ph idx="1" type="body"/>
          </p:nvPr>
        </p:nvSpPr>
        <p:spPr>
          <a:xfrm>
            <a:off x="6462075" y="1144125"/>
            <a:ext cx="275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Solution: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Clustered standard errors (for within groups)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Time series models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Lagged variables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Fixed effects (panel data)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GLS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Newey-West standard errors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6</a:t>
            </a:r>
            <a:endParaRPr/>
          </a:p>
        </p:txBody>
      </p:sp>
      <p:sp>
        <p:nvSpPr>
          <p:cNvPr id="374" name="Google Shape;374;p5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Non-Autocorrelated Residuals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(Errors are not correlated with each other)</a:t>
            </a:r>
            <a:endParaRPr/>
          </a:p>
        </p:txBody>
      </p:sp>
      <p:pic>
        <p:nvPicPr>
          <p:cNvPr id="375" name="Google Shape;37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000" y="1532786"/>
            <a:ext cx="4073226" cy="2441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750" y="1350913"/>
            <a:ext cx="4073226" cy="244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000" y="1350924"/>
            <a:ext cx="4073226" cy="2441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&amp; Solutions of Autocorrelation</a:t>
            </a:r>
            <a:endParaRPr/>
          </a:p>
        </p:txBody>
      </p:sp>
      <p:sp>
        <p:nvSpPr>
          <p:cNvPr id="387" name="Google Shape;387;p61"/>
          <p:cNvSpPr txBox="1"/>
          <p:nvPr>
            <p:ph idx="1" type="body"/>
          </p:nvPr>
        </p:nvSpPr>
        <p:spPr>
          <a:xfrm>
            <a:off x="3299700" y="1197300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Consequences</a:t>
            </a:r>
            <a:endParaRPr b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1)OLS regression is no longer minimum variance 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2) Hypothesis testing is unreliable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3) Confidence intervals are unreliable </a:t>
            </a:r>
            <a:endParaRPr sz="2100"/>
          </a:p>
        </p:txBody>
      </p:sp>
      <p:sp>
        <p:nvSpPr>
          <p:cNvPr id="388" name="Google Shape;388;p61"/>
          <p:cNvSpPr txBox="1"/>
          <p:nvPr>
            <p:ph idx="1" type="body"/>
          </p:nvPr>
        </p:nvSpPr>
        <p:spPr>
          <a:xfrm>
            <a:off x="5989775" y="1197300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750"/>
              <a:t>Solutions</a:t>
            </a:r>
            <a:endParaRPr b="1" sz="1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50"/>
              <a:t>1) Find and add an omitted variable</a:t>
            </a:r>
            <a:endParaRPr sz="1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50"/>
              <a:t>2) Change functional form</a:t>
            </a:r>
            <a:endParaRPr sz="1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50"/>
              <a:t>3) Use GLS or Newey-West standard errors</a:t>
            </a:r>
            <a:endParaRPr sz="17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750"/>
          </a:p>
        </p:txBody>
      </p:sp>
      <p:sp>
        <p:nvSpPr>
          <p:cNvPr id="389" name="Google Shape;389;p61"/>
          <p:cNvSpPr txBox="1"/>
          <p:nvPr>
            <p:ph idx="1" type="body"/>
          </p:nvPr>
        </p:nvSpPr>
        <p:spPr>
          <a:xfrm>
            <a:off x="387900" y="1144125"/>
            <a:ext cx="2544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/>
              <a:t>Detection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1) Plot residuals vs time and look for patterns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2)  Durbin-Watson test*: 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&lt;1.5 = Positive Autocorrelation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2 = No autocorrelation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&gt;2.5 = Negative Autocorrelation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50"/>
          </a:p>
        </p:txBody>
      </p:sp>
      <p:sp>
        <p:nvSpPr>
          <p:cNvPr id="390" name="Google Shape;390;p61"/>
          <p:cNvSpPr txBox="1"/>
          <p:nvPr/>
        </p:nvSpPr>
        <p:spPr>
          <a:xfrm>
            <a:off x="3631350" y="4302200"/>
            <a:ext cx="43023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Typically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autocorrelation is a time-series or spatial problem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Durbin-Watson Test</a:t>
            </a:r>
            <a:endParaRPr/>
          </a:p>
        </p:txBody>
      </p:sp>
      <p:sp>
        <p:nvSpPr>
          <p:cNvPr id="396" name="Google Shape;396;p62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1.5 &lt; DW &lt; 2.5 is a rule of thumb.  More formally…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Calculate DW statistic for given regression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Lookup specific cutoffs from a Durbin-Watson statistical table / software.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critical values based 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Alpha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Sample 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Number of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DW-stat &lt; dL = Positive autocorrelation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DW-stat &gt; dU = Negative autocorrelation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DW-stat = 2 = No Autocorrelation</a:t>
            </a:r>
            <a:endParaRPr/>
          </a:p>
        </p:txBody>
      </p:sp>
      <p:pic>
        <p:nvPicPr>
          <p:cNvPr id="397" name="Google Shape;39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900" y="536950"/>
            <a:ext cx="32099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316" y="2074400"/>
            <a:ext cx="3905775" cy="26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7</a:t>
            </a:r>
            <a:endParaRPr/>
          </a:p>
        </p:txBody>
      </p:sp>
      <p:sp>
        <p:nvSpPr>
          <p:cNvPr id="404" name="Google Shape;404;p6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(Perfect) Multicollinearity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variables are not (perfectly) correlated with each other</a:t>
            </a:r>
            <a:endParaRPr/>
          </a:p>
        </p:txBody>
      </p:sp>
      <p:pic>
        <p:nvPicPr>
          <p:cNvPr id="405" name="Google Shape;40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400" y="996775"/>
            <a:ext cx="3639725" cy="350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950" y="504825"/>
            <a:ext cx="689610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Multicollinearity</a:t>
            </a:r>
            <a:endParaRPr/>
          </a:p>
        </p:txBody>
      </p:sp>
      <p:sp>
        <p:nvSpPr>
          <p:cNvPr id="416" name="Google Shape;416;p65"/>
          <p:cNvSpPr txBox="1"/>
          <p:nvPr>
            <p:ph idx="1" type="body"/>
          </p:nvPr>
        </p:nvSpPr>
        <p:spPr>
          <a:xfrm>
            <a:off x="387900" y="1489825"/>
            <a:ext cx="17811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Correlation Matrix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7" name="Google Shape;41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900" y="1082224"/>
            <a:ext cx="5303673" cy="11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65"/>
          <p:cNvSpPr txBox="1"/>
          <p:nvPr>
            <p:ph idx="1" type="body"/>
          </p:nvPr>
        </p:nvSpPr>
        <p:spPr>
          <a:xfrm>
            <a:off x="2085475" y="2435475"/>
            <a:ext cx="5979300" cy="21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615"/>
              <a:t>Run separate regressions with each independent variable used as the dependent variable vs all the other independent variables</a:t>
            </a:r>
            <a:endParaRPr sz="16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615"/>
              <a:t>VIF(X) = 1 / (1 - R^2) for each variable</a:t>
            </a:r>
            <a:endParaRPr sz="16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615"/>
              <a:t>VIF = 1 =  No problem!</a:t>
            </a:r>
            <a:endParaRPr sz="16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615"/>
              <a:t>1 &lt;= VIF &lt;= 5 = Mild problem</a:t>
            </a:r>
            <a:endParaRPr sz="16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615"/>
              <a:t>6 &lt;= VIF &lt;= 10 = Moderate problem</a:t>
            </a:r>
            <a:endParaRPr sz="16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615"/>
              <a:t>VIF &gt; 10 = Large problem</a:t>
            </a:r>
            <a:endParaRPr sz="16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615"/>
          </a:p>
        </p:txBody>
      </p:sp>
      <p:sp>
        <p:nvSpPr>
          <p:cNvPr id="419" name="Google Shape;419;p65"/>
          <p:cNvSpPr txBox="1"/>
          <p:nvPr>
            <p:ph idx="1" type="body"/>
          </p:nvPr>
        </p:nvSpPr>
        <p:spPr>
          <a:xfrm>
            <a:off x="387900" y="3477675"/>
            <a:ext cx="17811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Variance Inflation Factor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 No (Perfect) Multicollinearity </a:t>
            </a:r>
            <a:endParaRPr/>
          </a:p>
        </p:txBody>
      </p:sp>
      <p:sp>
        <p:nvSpPr>
          <p:cNvPr id="425" name="Google Shape;425;p66"/>
          <p:cNvSpPr txBox="1"/>
          <p:nvPr>
            <p:ph idx="2" type="body"/>
          </p:nvPr>
        </p:nvSpPr>
        <p:spPr>
          <a:xfrm>
            <a:off x="3052775" y="1258250"/>
            <a:ext cx="2945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Consequences of multicollinearity:</a:t>
            </a:r>
            <a:endParaRPr b="1" sz="1750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Hypothesis testing is unreliable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Confidence intervals are unreliable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With perfect multicollinearity, OLS doesn’t work at all.</a:t>
            </a:r>
            <a:endParaRPr sz="175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50"/>
          </a:p>
        </p:txBody>
      </p:sp>
      <p:sp>
        <p:nvSpPr>
          <p:cNvPr id="426" name="Google Shape;426;p66"/>
          <p:cNvSpPr txBox="1"/>
          <p:nvPr>
            <p:ph idx="1" type="body"/>
          </p:nvPr>
        </p:nvSpPr>
        <p:spPr>
          <a:xfrm>
            <a:off x="522475" y="1258250"/>
            <a:ext cx="2309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Detection</a:t>
            </a:r>
            <a:r>
              <a:rPr lang="en" sz="1750"/>
              <a:t>: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Variance inflation factor test, &gt;5 = problem, &gt; 10 equals large problem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0"/>
              <a:t>Correlation matrix or plot of independent variables against one another (.8) or more is likely too much</a:t>
            </a:r>
            <a:endParaRPr sz="1750"/>
          </a:p>
        </p:txBody>
      </p:sp>
      <p:sp>
        <p:nvSpPr>
          <p:cNvPr id="427" name="Google Shape;427;p66"/>
          <p:cNvSpPr txBox="1"/>
          <p:nvPr>
            <p:ph idx="2" type="body"/>
          </p:nvPr>
        </p:nvSpPr>
        <p:spPr>
          <a:xfrm>
            <a:off x="5930700" y="1258250"/>
            <a:ext cx="3213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Solutions:</a:t>
            </a:r>
            <a:endParaRPr b="1" sz="1750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Remove one or more of the affected variables from the model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Combine affected variables into a single variable (PCA, indices, etc.)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Ridge regression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AutoNum type="arabicParenR"/>
            </a:pPr>
            <a:r>
              <a:rPr lang="en" sz="1750"/>
              <a:t>Do nothing!?</a:t>
            </a:r>
            <a:endParaRPr sz="175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8*</a:t>
            </a:r>
            <a:endParaRPr/>
          </a:p>
        </p:txBody>
      </p:sp>
      <p:sp>
        <p:nvSpPr>
          <p:cNvPr id="433" name="Google Shape;433;p6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Enough (Complete) Data</a:t>
            </a:r>
            <a:endParaRPr/>
          </a:p>
        </p:txBody>
      </p:sp>
      <p:sp>
        <p:nvSpPr>
          <p:cNvPr id="434" name="Google Shape;434;p6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really a standard OLS assumption, but important!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 &gt; 10*k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Size, Variables, and Degrees of Freedom</a:t>
            </a:r>
            <a:endParaRPr/>
          </a:p>
        </p:txBody>
      </p:sp>
      <p:sp>
        <p:nvSpPr>
          <p:cNvPr id="440" name="Google Shape;440;p6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Degrees of Freedom (for regression) = n - k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 observations, k = variables, 1 = for the constant / intercept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 with 40 rows and 5 variables, you have 34 DoF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Must have at least as many observations as variables for OLS to compute, but many more observations needed for sound estimates and inference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Rule of thumb = 10 observations per independent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Less than 20 DoF = PROBABLY NO GOOD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Data = Better!</a:t>
            </a:r>
            <a:endParaRPr/>
          </a:p>
        </p:txBody>
      </p:sp>
      <p:sp>
        <p:nvSpPr>
          <p:cNvPr id="446" name="Google Shape;446;p6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data gets you: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Lower variance in estimates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Fewer Type 2 Errors (Effect exists but isn’t detected)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TIghter confidence intervals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Better generalization (less overfitting)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Better ability to handle complexity (interaction terms, non-linear terms,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Smaller and/or more stable p-values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7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1"/>
          <p:cNvSpPr txBox="1"/>
          <p:nvPr>
            <p:ph idx="1" type="body"/>
          </p:nvPr>
        </p:nvSpPr>
        <p:spPr>
          <a:xfrm>
            <a:off x="387900" y="4217824"/>
            <a:ext cx="8368200" cy="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not significant, more data drives p-values toward 1</a:t>
            </a:r>
            <a:endParaRPr/>
          </a:p>
        </p:txBody>
      </p:sp>
      <p:pic>
        <p:nvPicPr>
          <p:cNvPr id="459" name="Google Shape;45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962"/>
            <a:ext cx="9144000" cy="3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6" name="Google Shape;46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70" y="0"/>
            <a:ext cx="862625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More Data Ever Bad?</a:t>
            </a:r>
            <a:endParaRPr/>
          </a:p>
        </p:txBody>
      </p:sp>
      <p:sp>
        <p:nvSpPr>
          <p:cNvPr id="472" name="Google Shape;472;p7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data could be bad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Trends have changed (customer behavior from a decade ago might not resemble current behavior)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Data is unbalanced*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Computation costs and/or time needed to compute are high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Collection is costly or difficult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Diagnostics Plots</a:t>
            </a:r>
            <a:endParaRPr/>
          </a:p>
        </p:txBody>
      </p:sp>
      <p:sp>
        <p:nvSpPr>
          <p:cNvPr id="478" name="Google Shape;478;p74"/>
          <p:cNvSpPr txBox="1"/>
          <p:nvPr>
            <p:ph idx="1" type="body"/>
          </p:nvPr>
        </p:nvSpPr>
        <p:spPr>
          <a:xfrm>
            <a:off x="387900" y="1489825"/>
            <a:ext cx="7499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 regression analysis requires lots of diagnostic graphics!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Plot all X variables against Y</a:t>
            </a:r>
            <a:r>
              <a:rPr lang="en"/>
              <a:t>: This helps us understand the relationship between variables and suggests the possible need for alternative functional forms and variable transformations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Plot Y-Hat against Y: </a:t>
            </a:r>
            <a:r>
              <a:rPr lang="en"/>
              <a:t>This helps us see how accurate our model’s predictions are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Plot residuals against Y-Hat: </a:t>
            </a:r>
            <a:r>
              <a:rPr lang="en"/>
              <a:t>This helps us assess many of our regression assumptions and detect outliers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Plot residuals against all X variables: </a:t>
            </a:r>
            <a:r>
              <a:rPr lang="en"/>
              <a:t>This also helps us assess many of our regression assumptions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Plot residuals against time (if time-series): </a:t>
            </a:r>
            <a:r>
              <a:rPr lang="en"/>
              <a:t>This helps us detect autocorrelation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Normal Q-Q Plot and/or Histogram of Residuals: </a:t>
            </a:r>
            <a:r>
              <a:rPr lang="en"/>
              <a:t>This helps us see if residuals are centered on zero and normally distributed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 Analysis</a:t>
            </a:r>
            <a:endParaRPr/>
          </a:p>
        </p:txBody>
      </p:sp>
      <p:sp>
        <p:nvSpPr>
          <p:cNvPr id="484" name="Google Shape;484;p7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1) Plot residuals vs fitted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Plot residuals against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Plot residuals against time (for time-series data)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Look for patterns which may suggest: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Missing variables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Misspecification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Heteroskedasticity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Autocorrelation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Seasonality</a:t>
            </a:r>
            <a:endParaRPr/>
          </a:p>
        </p:txBody>
      </p:sp>
      <p:pic>
        <p:nvPicPr>
          <p:cNvPr id="485" name="Google Shape;48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076" y="245350"/>
            <a:ext cx="2316324" cy="21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081" y="2669614"/>
            <a:ext cx="2316324" cy="217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Diagnostic Tests</a:t>
            </a:r>
            <a:endParaRPr/>
          </a:p>
        </p:txBody>
      </p:sp>
      <p:sp>
        <p:nvSpPr>
          <p:cNvPr id="492" name="Google Shape;492;p76"/>
          <p:cNvSpPr txBox="1"/>
          <p:nvPr>
            <p:ph idx="1" type="body"/>
          </p:nvPr>
        </p:nvSpPr>
        <p:spPr>
          <a:xfrm>
            <a:off x="147450" y="1698700"/>
            <a:ext cx="3179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There are several statistical tests used to test the assumptions in regression analysis. 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/>
          </a:p>
        </p:txBody>
      </p:sp>
      <p:graphicFrame>
        <p:nvGraphicFramePr>
          <p:cNvPr id="493" name="Google Shape;493;p76"/>
          <p:cNvGraphicFramePr/>
          <p:nvPr/>
        </p:nvGraphicFramePr>
        <p:xfrm>
          <a:off x="3621675" y="169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{CF8FCCE8-2236-4894-B281-AE60FACB1227}</a:tableStyleId>
              </a:tblPr>
              <a:tblGrid>
                <a:gridCol w="2322975"/>
                <a:gridCol w="2811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F-Test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Model Significance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T-Test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Individual Coefficient Significance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White and Breusch-Pagan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Heteroskedasticity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Durbin-Watson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Autocorrelation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Ramsey's RESET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Functional Form / Variable Selection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Variance Inflation Factor (VIF)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Multicollinearity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Shapiro-Wilk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Normality of Residual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Cook's Distance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Influence / Outliers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7"/>
          <p:cNvSpPr txBox="1"/>
          <p:nvPr>
            <p:ph type="title"/>
          </p:nvPr>
        </p:nvSpPr>
        <p:spPr>
          <a:xfrm>
            <a:off x="3362450" y="2102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</a:t>
            </a:r>
            <a:endParaRPr/>
          </a:p>
        </p:txBody>
      </p:sp>
      <p:sp>
        <p:nvSpPr>
          <p:cNvPr id="499" name="Google Shape;499;p77"/>
          <p:cNvSpPr txBox="1"/>
          <p:nvPr/>
        </p:nvSpPr>
        <p:spPr>
          <a:xfrm>
            <a:off x="1183450" y="3805125"/>
            <a:ext cx="70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Outliers do not violate any regression assumptions, but are still important to consider and potentially address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813" y="299563"/>
            <a:ext cx="3257675" cy="213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862" y="290061"/>
            <a:ext cx="3257675" cy="215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1825" y="2690113"/>
            <a:ext cx="3257677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8"/>
          <p:cNvSpPr txBox="1"/>
          <p:nvPr/>
        </p:nvSpPr>
        <p:spPr>
          <a:xfrm>
            <a:off x="184850" y="299575"/>
            <a:ext cx="16446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Outliers</a:t>
            </a:r>
            <a:r>
              <a:rPr lang="en" sz="1000">
                <a:solidFill>
                  <a:schemeClr val="dk1"/>
                </a:solidFill>
              </a:rPr>
              <a:t>: Data that </a:t>
            </a:r>
            <a:r>
              <a:rPr b="1" lang="en" sz="1000">
                <a:solidFill>
                  <a:schemeClr val="dk1"/>
                </a:solidFill>
              </a:rPr>
              <a:t>does not follow the regression trend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</a:t>
            </a:r>
            <a:r>
              <a:rPr b="1" lang="en" sz="1000">
                <a:solidFill>
                  <a:schemeClr val="dk1"/>
                </a:solidFill>
              </a:rPr>
              <a:t>Weird Y</a:t>
            </a:r>
            <a:r>
              <a:rPr lang="en" sz="1000">
                <a:solidFill>
                  <a:schemeClr val="dk1"/>
                </a:solidFill>
              </a:rPr>
              <a:t> (Large residual)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Leverage</a:t>
            </a:r>
            <a:r>
              <a:rPr lang="en" sz="1000">
                <a:solidFill>
                  <a:schemeClr val="dk1"/>
                </a:solidFill>
              </a:rPr>
              <a:t>: Data with an </a:t>
            </a:r>
            <a:r>
              <a:rPr b="1" lang="en" sz="1000">
                <a:solidFill>
                  <a:schemeClr val="dk1"/>
                </a:solidFill>
              </a:rPr>
              <a:t>extreme X value - Weird X</a:t>
            </a:r>
            <a:r>
              <a:rPr lang="en" sz="1000">
                <a:solidFill>
                  <a:schemeClr val="dk1"/>
                </a:solidFill>
              </a:rPr>
              <a:t> (Far from the average predictor values)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Influence</a:t>
            </a:r>
            <a:r>
              <a:rPr lang="en" sz="1000">
                <a:solidFill>
                  <a:schemeClr val="dk1"/>
                </a:solidFill>
              </a:rPr>
              <a:t>: A point that </a:t>
            </a:r>
            <a:r>
              <a:rPr b="1" lang="en" sz="1000">
                <a:solidFill>
                  <a:schemeClr val="dk1"/>
                </a:solidFill>
              </a:rPr>
              <a:t>changes the regression line significantly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Often: </a:t>
            </a:r>
            <a:r>
              <a:rPr b="1" lang="en" sz="1000">
                <a:solidFill>
                  <a:schemeClr val="dk1"/>
                </a:solidFill>
              </a:rPr>
              <a:t>Outlier + High Leverage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High-influence observations may be a problem - </a:t>
            </a:r>
            <a:r>
              <a:rPr lang="en" sz="1000">
                <a:solidFill>
                  <a:schemeClr val="dk1"/>
                </a:solidFill>
              </a:rPr>
              <a:t>They can </a:t>
            </a:r>
            <a:r>
              <a:rPr b="1" lang="en" sz="1000">
                <a:solidFill>
                  <a:schemeClr val="dk1"/>
                </a:solidFill>
              </a:rPr>
              <a:t>distort the model</a:t>
            </a:r>
            <a:r>
              <a:rPr lang="en" sz="1000">
                <a:solidFill>
                  <a:schemeClr val="dk1"/>
                </a:solidFill>
              </a:rPr>
              <a:t>, so they should be investigated (not blindly deleted)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8" name="Google Shape;508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0875" y="2690125"/>
            <a:ext cx="3257650" cy="2156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7" y="1529850"/>
            <a:ext cx="3436592" cy="229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529850"/>
            <a:ext cx="3465099" cy="2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463" y="152400"/>
            <a:ext cx="811507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 Detection</a:t>
            </a:r>
            <a:endParaRPr/>
          </a:p>
        </p:txBody>
      </p:sp>
      <p:sp>
        <p:nvSpPr>
          <p:cNvPr id="525" name="Google Shape;525;p8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Standardized Residuals</a:t>
            </a:r>
            <a:r>
              <a:rPr lang="en"/>
              <a:t>: Residuals / Standard Deviation of Residuals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Rule of Thumb: If standardized residual &gt; 3 or &lt; -3, it is an outlier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Studentized Residuals</a:t>
            </a:r>
            <a:r>
              <a:rPr lang="en"/>
              <a:t>: Complicated formula, get the computer to do it for you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Rule of Thumb: If studentized residual &gt; 3 or &lt; -3, it is an outlier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Cook’s Distance: </a:t>
            </a:r>
            <a:r>
              <a:rPr lang="en"/>
              <a:t>Measures impact on coefficients for each observation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Rule of Thumb: If Cook’s D &gt; 4/(n-k), it is an outlier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Leverage Values: </a:t>
            </a:r>
            <a:r>
              <a:rPr lang="en"/>
              <a:t>Complicated formula, get the computer to do it for you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Rule of thumb: Points with leverage greater than (2×k)/n have high leverage and are </a:t>
            </a:r>
            <a:r>
              <a:rPr i="1" lang="en"/>
              <a:t>potential </a:t>
            </a:r>
            <a:r>
              <a:rPr lang="en"/>
              <a:t>outliers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Cook’s D(istance)</a:t>
            </a:r>
            <a:endParaRPr/>
          </a:p>
        </p:txBody>
      </p:sp>
      <p:sp>
        <p:nvSpPr>
          <p:cNvPr id="531" name="Google Shape;531;p82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how much all fitted values change when a single observation is removed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Observations with D &gt; 1 are suspicious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Observations with D &gt; 4/n are potentially influential</a:t>
            </a:r>
            <a:endParaRPr/>
          </a:p>
        </p:txBody>
      </p:sp>
      <p:pic>
        <p:nvPicPr>
          <p:cNvPr id="532" name="Google Shape;53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2186725"/>
            <a:ext cx="4267199" cy="2544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0808" y="260125"/>
            <a:ext cx="3373792" cy="12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</a:t>
            </a:r>
            <a:endParaRPr/>
          </a:p>
        </p:txBody>
      </p:sp>
      <p:sp>
        <p:nvSpPr>
          <p:cNvPr id="539" name="Google Shape;539;p83"/>
          <p:cNvSpPr txBox="1"/>
          <p:nvPr>
            <p:ph idx="1" type="body"/>
          </p:nvPr>
        </p:nvSpPr>
        <p:spPr>
          <a:xfrm>
            <a:off x="3889188" y="1144125"/>
            <a:ext cx="275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Consequences: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Estimates are pulled in the direction of the outlier, possibly distorting the real signal being measured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83"/>
          <p:cNvSpPr txBox="1"/>
          <p:nvPr>
            <p:ph idx="1" type="body"/>
          </p:nvPr>
        </p:nvSpPr>
        <p:spPr>
          <a:xfrm>
            <a:off x="278250" y="1032300"/>
            <a:ext cx="3418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Detection: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Residual Plot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Standardized and Studentized Residuals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/>
              <a:t>&gt; 3 or &lt; -3 might be outliers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Cook’s D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/>
              <a:t>Observations with Cook’s D &gt; 4/n might be influential outliers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DFBeta: 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50"/>
              <a:t>Shows impact of removing single value on regression equation</a:t>
            </a:r>
            <a:endParaRPr sz="1250"/>
          </a:p>
        </p:txBody>
      </p:sp>
      <p:sp>
        <p:nvSpPr>
          <p:cNvPr id="541" name="Google Shape;541;p83"/>
          <p:cNvSpPr txBox="1"/>
          <p:nvPr>
            <p:ph idx="1" type="body"/>
          </p:nvPr>
        </p:nvSpPr>
        <p:spPr>
          <a:xfrm>
            <a:off x="6462075" y="1144125"/>
            <a:ext cx="2752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Drop outliers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Don’t drop outliers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Robust regression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4) Report results with and without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4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10</a:t>
            </a:r>
            <a:endParaRPr/>
          </a:p>
        </p:txBody>
      </p:sp>
      <p:sp>
        <p:nvSpPr>
          <p:cNvPr id="547" name="Google Shape;547;p8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Residuals are normally distributed (and centered on zero)</a:t>
            </a:r>
            <a:endParaRPr/>
          </a:p>
        </p:txBody>
      </p:sp>
      <p:pic>
        <p:nvPicPr>
          <p:cNvPr id="548" name="Google Shape;548;p84"/>
          <p:cNvPicPr preferRelativeResize="0"/>
          <p:nvPr/>
        </p:nvPicPr>
        <p:blipFill rotWithShape="1">
          <a:blip r:embed="rId3">
            <a:alphaModFix/>
          </a:blip>
          <a:srcRect b="3818" l="0" r="0" t="0"/>
          <a:stretch/>
        </p:blipFill>
        <p:spPr>
          <a:xfrm>
            <a:off x="4749958" y="1209075"/>
            <a:ext cx="4216074" cy="28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Errors / Residuals</a:t>
            </a:r>
            <a:endParaRPr/>
          </a:p>
        </p:txBody>
      </p:sp>
      <p:sp>
        <p:nvSpPr>
          <p:cNvPr id="554" name="Google Shape;554;p85"/>
          <p:cNvSpPr txBox="1"/>
          <p:nvPr>
            <p:ph idx="1" type="body"/>
          </p:nvPr>
        </p:nvSpPr>
        <p:spPr>
          <a:xfrm>
            <a:off x="387900" y="1489825"/>
            <a:ext cx="45495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correctly specified model: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Residuals should appear random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Residuals should be centered on zero - If they weren’t, the model would be systematically over / under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Residuals should be normally distributed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Normally distributed residuals is not strictly needed for inference unless sample is small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703" y="1144125"/>
            <a:ext cx="2435750" cy="8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85"/>
          <p:cNvPicPr preferRelativeResize="0"/>
          <p:nvPr/>
        </p:nvPicPr>
        <p:blipFill rotWithShape="1">
          <a:blip r:embed="rId4">
            <a:alphaModFix/>
          </a:blip>
          <a:srcRect b="3818" l="0" r="0" t="0"/>
          <a:stretch/>
        </p:blipFill>
        <p:spPr>
          <a:xfrm>
            <a:off x="5255975" y="2405625"/>
            <a:ext cx="3383224" cy="2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