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</p:sldIdLst>
  <p:sldSz cy="5143500" cx="9144000"/>
  <p:notesSz cx="6858000" cy="9144000"/>
  <p:embeddedFontLst>
    <p:embeddedFont>
      <p:font typeface="Roboto Slab"/>
      <p:regular r:id="rId81"/>
      <p:bold r:id="rId82"/>
    </p:embeddedFont>
    <p:embeddedFont>
      <p:font typeface="Roboto"/>
      <p:regular r:id="rId83"/>
      <p:bold r:id="rId84"/>
      <p:italic r:id="rId85"/>
      <p:boldItalic r:id="rId8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FF1AE6-13BA-4C2B-AAAC-B3428A435679}">
  <a:tblStyle styleId="{B1FF1AE6-13BA-4C2B-AAAC-B3428A43567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10CB8524-A512-4E1B-8863-3687E2BBE5A4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84" Type="http://schemas.openxmlformats.org/officeDocument/2006/relationships/font" Target="fonts/Roboto-bold.fntdata"/><Relationship Id="rId83" Type="http://schemas.openxmlformats.org/officeDocument/2006/relationships/font" Target="fonts/Roboto-regular.fntdata"/><Relationship Id="rId42" Type="http://schemas.openxmlformats.org/officeDocument/2006/relationships/slide" Target="slides/slide36.xml"/><Relationship Id="rId86" Type="http://schemas.openxmlformats.org/officeDocument/2006/relationships/font" Target="fonts/Roboto-boldItalic.fntdata"/><Relationship Id="rId41" Type="http://schemas.openxmlformats.org/officeDocument/2006/relationships/slide" Target="slides/slide35.xml"/><Relationship Id="rId85" Type="http://schemas.openxmlformats.org/officeDocument/2006/relationships/font" Target="fonts/Roboto-italic.fntdata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80" Type="http://schemas.openxmlformats.org/officeDocument/2006/relationships/slide" Target="slides/slide74.xml"/><Relationship Id="rId82" Type="http://schemas.openxmlformats.org/officeDocument/2006/relationships/font" Target="fonts/RobotoSlab-bold.fntdata"/><Relationship Id="rId81" Type="http://schemas.openxmlformats.org/officeDocument/2006/relationships/font" Target="fonts/RobotoSlab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31" Type="http://schemas.openxmlformats.org/officeDocument/2006/relationships/slide" Target="slides/slide25.xml"/><Relationship Id="rId75" Type="http://schemas.openxmlformats.org/officeDocument/2006/relationships/slide" Target="slides/slide69.xml"/><Relationship Id="rId30" Type="http://schemas.openxmlformats.org/officeDocument/2006/relationships/slide" Target="slides/slide24.xml"/><Relationship Id="rId74" Type="http://schemas.openxmlformats.org/officeDocument/2006/relationships/slide" Target="slides/slide68.xml"/><Relationship Id="rId33" Type="http://schemas.openxmlformats.org/officeDocument/2006/relationships/slide" Target="slides/slide27.xml"/><Relationship Id="rId77" Type="http://schemas.openxmlformats.org/officeDocument/2006/relationships/slide" Target="slides/slide71.xml"/><Relationship Id="rId32" Type="http://schemas.openxmlformats.org/officeDocument/2006/relationships/slide" Target="slides/slide26.xml"/><Relationship Id="rId76" Type="http://schemas.openxmlformats.org/officeDocument/2006/relationships/slide" Target="slides/slide70.xml"/><Relationship Id="rId35" Type="http://schemas.openxmlformats.org/officeDocument/2006/relationships/slide" Target="slides/slide29.xml"/><Relationship Id="rId79" Type="http://schemas.openxmlformats.org/officeDocument/2006/relationships/slide" Target="slides/slide73.xml"/><Relationship Id="rId34" Type="http://schemas.openxmlformats.org/officeDocument/2006/relationships/slide" Target="slides/slide28.xml"/><Relationship Id="rId78" Type="http://schemas.openxmlformats.org/officeDocument/2006/relationships/slide" Target="slides/slide72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66" Type="http://schemas.openxmlformats.org/officeDocument/2006/relationships/slide" Target="slides/slide60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68" Type="http://schemas.openxmlformats.org/officeDocument/2006/relationships/slide" Target="slides/slide62.xml"/><Relationship Id="rId23" Type="http://schemas.openxmlformats.org/officeDocument/2006/relationships/slide" Target="slides/slide17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69" Type="http://schemas.openxmlformats.org/officeDocument/2006/relationships/slide" Target="slides/slide63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f2c8b9674_0_8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f2c8b9674_0_8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cf2c8b9674_0_4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cf2c8b9674_0_4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cf2c8b9674_0_8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cf2c8b9674_0_8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cf2c8b9674_0_4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cf2c8b9674_0_4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f2c8b9674_0_4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cf2c8b9674_0_4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cf2c8b9674_0_4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cf2c8b9674_0_4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cf2c8b9674_0_4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cf2c8b9674_0_4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cf2c8b9674_0_4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cf2c8b9674_0_4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cf2c8b9674_0_4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cf2c8b9674_0_4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cf2c8b9674_0_4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cf2c8b9674_0_4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cf2c8b9674_0_4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cf2c8b9674_0_4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cf2c8b9674_0_4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cf2c8b9674_0_4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f2c8b9674_0_4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f2c8b9674_0_4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cf2c8b9674_0_5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cf2c8b9674_0_5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cf2c8b9674_0_5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cf2c8b9674_0_5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f2c8b9674_0_5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f2c8b9674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cf2c8b9674_0_5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cf2c8b9674_0_5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cf2c8b9674_0_5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cf2c8b9674_0_5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cf2c8b9674_0_5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cf2c8b9674_0_5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cf2c8b9674_0_5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cf2c8b9674_0_5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f2c8b9674_0_5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f2c8b9674_0_5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cf2c8b9674_0_5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cf2c8b9674_0_5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cf2c8b9674_0_5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cf2c8b9674_0_5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f2c8b9674_0_5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f2c8b9674_0_5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f2c8b9674_0_5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f2c8b9674_0_5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f2c8b9674_0_5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f2c8b9674_0_5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f2c8b9674_0_5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f2c8b9674_0_5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f2c8b9674_0_5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f2c8b9674_0_5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cf2c8b9674_0_5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cf2c8b9674_0_5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f2c8b9674_0_5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f2c8b9674_0_5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cf2c8b9674_0_6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cf2c8b9674_0_6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Turning point vs inflection point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f2c8b9674_0_6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f2c8b9674_0_6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cf2c8b9674_0_6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cf2c8b9674_0_6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f2c8b9674_0_6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f2c8b9674_0_6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f2c8b9674_0_6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f2c8b9674_0_6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cf2c8b9674_0_6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cf2c8b9674_0_6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9622ad7af8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39622ad7af8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9622ad7af8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9622ad7af8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cf2c8b9674_0_6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cf2c8b9674_0_6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cf2c8b9674_0_6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3cf2c8b9674_0_6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cf2c8b9674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cf2c8b9674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cf2c8b9674_0_6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3cf2c8b9674_0_6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cf2c8b9674_0_6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3cf2c8b9674_0_6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9622ad7af8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9622ad7af8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9622ad7af8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9622ad7af8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9622ad7af8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9622ad7af8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cf2c8b9674_0_6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3cf2c8b9674_0_6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cf2c8b9674_0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3cf2c8b9674_0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cf2c8b9674_0_6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3cf2c8b9674_0_6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cf2c8b9674_0_6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3cf2c8b9674_0_6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cf2c8b9674_0_7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3cf2c8b9674_0_7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cf2c8b9674_0_7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3cf2c8b9674_0_7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cf2c8b9674_0_7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cf2c8b9674_0_7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cf2c8b9674_0_7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3cf2c8b9674_0_7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cf2c8b9674_0_7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3cf2c8b9674_0_7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cf2c8b9674_0_7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3cf2c8b9674_0_7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3cf2c8b9674_0_7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4" name="Google Shape;444;g3cf2c8b9674_0_7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cf2c8b9674_0_7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0" name="Google Shape;450;g3cf2c8b9674_0_7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3cf2c8b9674_0_7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7" name="Google Shape;457;g3cf2c8b9674_0_7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cf2c8b9674_0_7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3cf2c8b9674_0_7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3cf2c8b9674_0_7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0" name="Google Shape;470;g3cf2c8b9674_0_7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Fraud cases = 0.1% of all transactions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You collect millions of new transactions — but if 0.1% are still fraud, you've only gained a handful of extra positives.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Unless you balance or weight the model properly, it'll just learn to predict "not fraud" better and better — which is catastrophic in practice.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cf2c8b9674_0_7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3cf2c8b9674_0_7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cf2c8b9674_0_7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3cf2c8b9674_0_7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cf2c8b9674_0_7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3cf2c8b9674_0_7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g3cf2c8b9674_0_7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7" name="Google Shape;497;g3cf2c8b9674_0_7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3cf2c8b9674_0_7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3cf2c8b9674_0_7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3cf2c8b9674_0_7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2" name="Google Shape;512;g3cf2c8b9674_0_7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g3cf2c8b9674_0_8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8" name="Google Shape;518;g3cf2c8b9674_0_8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cf2c8b9674_0_8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cf2c8b9674_0_8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cf2c8b9674_0_8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3cf2c8b9674_0_8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 is number of parameters including intercept</a:t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3cf2c8b9674_0_8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g3cf2c8b9674_0_8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9622ad7af8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39622ad7af8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39622ad7af8_0_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39622ad7af8_0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 THIS</a:t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d7b64180d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3d7b64180d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24800" y="672606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1" name="Google Shape;11;p2"/>
          <p:cNvSpPr/>
          <p:nvPr/>
        </p:nvSpPr>
        <p:spPr>
          <a:xfrm rot="10800000">
            <a:off x="6537563" y="33429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cxnSp>
        <p:nvCxnSpPr>
          <p:cNvPr id="12" name="Google Shape;12;p2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" name="Google Shape;18;p3"/>
          <p:cNvSpPr txBox="1"/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4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" name="Google Shape;22;p4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Google Shape;26;p5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" name="Google Shape;27;p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2" type="body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7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" name="Google Shape;36;p7"/>
          <p:cNvSpPr txBox="1"/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8" name="Google Shape;3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1" name="Google Shape;41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4" name="Google Shape;44;p9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cap="flat" cmpd="sng" w="381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" name="Google Shape;45;p9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46" name="Google Shape;46;p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/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11"/>
          <p:cNvSpPr txBox="1"/>
          <p:nvPr>
            <p:ph hasCustomPrompt="1" type="title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/>
          <p:nvPr>
            <p:ph idx="1" type="body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" name="Google Shape;56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rina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7.png"/><Relationship Id="rId4" Type="http://schemas.openxmlformats.org/officeDocument/2006/relationships/image" Target="../media/image7.png"/><Relationship Id="rId5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9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0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2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4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5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3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5.png"/><Relationship Id="rId4" Type="http://schemas.openxmlformats.org/officeDocument/2006/relationships/image" Target="../media/image13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37.png"/><Relationship Id="rId4" Type="http://schemas.openxmlformats.org/officeDocument/2006/relationships/image" Target="../media/image49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48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32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8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31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43.png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9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44.png"/><Relationship Id="rId4" Type="http://schemas.openxmlformats.org/officeDocument/2006/relationships/image" Target="../media/image40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6.png"/><Relationship Id="rId4" Type="http://schemas.openxmlformats.org/officeDocument/2006/relationships/image" Target="../media/image30.png"/><Relationship Id="rId5" Type="http://schemas.openxmlformats.org/officeDocument/2006/relationships/image" Target="../media/image38.png"/><Relationship Id="rId6" Type="http://schemas.openxmlformats.org/officeDocument/2006/relationships/image" Target="../media/image33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36.png"/><Relationship Id="rId4" Type="http://schemas.openxmlformats.org/officeDocument/2006/relationships/image" Target="../media/image33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34.png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46.png"/><Relationship Id="rId4" Type="http://schemas.openxmlformats.org/officeDocument/2006/relationships/image" Target="../media/image41.png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47.png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45.png"/><Relationship Id="rId4" Type="http://schemas.openxmlformats.org/officeDocument/2006/relationships/image" Target="../media/image47.png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Regression</a:t>
            </a:r>
            <a:r>
              <a:rPr lang="en"/>
              <a:t> Assumptions</a:t>
            </a:r>
            <a:endParaRPr/>
          </a:p>
        </p:txBody>
      </p:sp>
      <p:sp>
        <p:nvSpPr>
          <p:cNvPr id="64" name="Google Shape;64;p13"/>
          <p:cNvSpPr txBox="1"/>
          <p:nvPr>
            <p:ph idx="1" type="subTitle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Regression Assumptions</a:t>
            </a:r>
            <a:endParaRPr/>
          </a:p>
        </p:txBody>
      </p:sp>
      <p:sp>
        <p:nvSpPr>
          <p:cNvPr id="70" name="Google Shape;70;p14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There are several assumed conditions underlying regression analysis.</a:t>
            </a:r>
            <a:endParaRPr sz="2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200"/>
              <a:t>If the conditions of these assumptions are not met, the regression model will bias </a:t>
            </a:r>
            <a:r>
              <a:rPr lang="en" sz="2200"/>
              <a:t>coefficients</a:t>
            </a:r>
            <a:r>
              <a:rPr lang="en" sz="2200"/>
              <a:t>, inflate variance, distort standard errors, and hurt predictions.</a:t>
            </a:r>
            <a:endParaRPr sz="2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200"/>
              <a:t>It is CRITICAL to assess each assumption and make adjustments / corrections.</a:t>
            </a:r>
            <a:endParaRPr sz="2200"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OLS Assumptions Overview</a:t>
            </a:r>
            <a:endParaRPr/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Identification Assumptions: Linear in parameters, zero conditional mean, no perfect </a:t>
            </a:r>
            <a:r>
              <a:rPr lang="en"/>
              <a:t>multicollinearity</a:t>
            </a:r>
            <a:r>
              <a:rPr lang="en"/>
              <a:t>, correct specification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Efficiency</a:t>
            </a:r>
            <a:r>
              <a:rPr lang="en"/>
              <a:t> Assumptions: </a:t>
            </a:r>
            <a:r>
              <a:rPr lang="en"/>
              <a:t>homoscedasticity</a:t>
            </a:r>
            <a:r>
              <a:rPr lang="en"/>
              <a:t>, no autocorrelation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Inference Assumptions: Normality of residuals 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 1</a:t>
            </a:r>
            <a:endParaRPr/>
          </a:p>
        </p:txBody>
      </p:sp>
      <p:sp>
        <p:nvSpPr>
          <p:cNvPr id="82" name="Google Shape;82;p16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is linear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(in its parameters)</a:t>
            </a:r>
            <a:endParaRPr/>
          </a:p>
        </p:txBody>
      </p:sp>
      <p:sp>
        <p:nvSpPr>
          <p:cNvPr id="83" name="Google Shape;83;p16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DOESN’T MEAN WHAT IT SOUNDS LIKE IT MEANS!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LINEAR REGRESSION CAN HANDLE NON-LINEAR RELATIONSHIPS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It basically means that beta values cannot be transformed in any complex way / model must be linear in </a:t>
            </a:r>
            <a:r>
              <a:rPr lang="en"/>
              <a:t>coefficients</a:t>
            </a:r>
            <a:r>
              <a:rPr lang="en"/>
              <a:t>, but not necessarily in the variables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in Parameters vs Variables</a:t>
            </a:r>
            <a:endParaRPr/>
          </a:p>
        </p:txBody>
      </p:sp>
      <p:sp>
        <p:nvSpPr>
          <p:cNvPr id="89" name="Google Shape;89;p17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regression does not require that the relationships between X’s and Y we’re estimating be linear.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OLS methods allow us to fit all sorts of non-linear relationships between Y and Xi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 do this by transforming variables and/or using alternative functional forms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b="1" i="1" lang="en"/>
              <a:t>LINEAR</a:t>
            </a:r>
            <a:r>
              <a:rPr lang="en"/>
              <a:t> part of linear regression is referencing the betas / coefficients, specifically that it is a linear combination of the coefficients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Each coefficient must appear only once, not be multiplied or divided by others, and not be inside a function.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 = A + (Labor^B1) *  Capital^B2) = NO GOOD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Sometimes logarithms solve this issue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ln(Y) = lnA +  B1(ln(Labor) + B2(ln(Capital)) = Fine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Non Linear In Parameters Models</a:t>
            </a:r>
            <a:endParaRPr/>
          </a:p>
        </p:txBody>
      </p:sp>
      <p:pic>
        <p:nvPicPr>
          <p:cNvPr id="95" name="Google Shape;9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5800" y="1144120"/>
            <a:ext cx="5292400" cy="112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25800" y="2571326"/>
            <a:ext cx="5292399" cy="87040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25800" y="3678400"/>
            <a:ext cx="5292399" cy="1132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 2</a:t>
            </a:r>
            <a:endParaRPr/>
          </a:p>
        </p:txBody>
      </p:sp>
      <p:sp>
        <p:nvSpPr>
          <p:cNvPr id="103" name="Google Shape;103;p1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Correct Specification</a:t>
            </a:r>
            <a:endParaRPr/>
          </a:p>
        </p:txBody>
      </p:sp>
      <p:sp>
        <p:nvSpPr>
          <p:cNvPr id="104" name="Google Shape;104;p1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irrelevant variables included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 relevant variables excluded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Functional form is based on logic, theory, &amp; plots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Variable Selection - Theoretical</a:t>
            </a:r>
            <a:endParaRPr/>
          </a:p>
        </p:txBody>
      </p:sp>
      <p:sp>
        <p:nvSpPr>
          <p:cNvPr id="110" name="Google Shape;110;p20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Fundamental facts and logic: What variables do we know for sure help determine the value of the dependent variable? Example: Price is obviously  critical in determining demand for a vehicles.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Theory: What variables does current academic/professional literature/theory suggest are helpful determining the value of the dependent variable?  Do a literature review!  Example: Interest rates, the unemployment rate, etc. 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Controls: What factors aren’t directly related to facts or theory, but rather additional factors likely to confound your results.  Example: Weather conditions impact sales, but indirectly.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Experimental: What we’re testing / trying to prove.  Example: Does a new type of advertising / ad campaign impact sales?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Selecting &amp; Operationalizing Variables </a:t>
            </a:r>
            <a:endParaRPr/>
          </a:p>
        </p:txBody>
      </p:sp>
      <p:sp>
        <p:nvSpPr>
          <p:cNvPr id="116" name="Google Shape;116;p21"/>
          <p:cNvSpPr txBox="1"/>
          <p:nvPr>
            <p:ph idx="1" type="body"/>
          </p:nvPr>
        </p:nvSpPr>
        <p:spPr>
          <a:xfrm>
            <a:off x="387900" y="1489825"/>
            <a:ext cx="77844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Estimating sales at a car dealership</a:t>
            </a:r>
            <a:endParaRPr sz="160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600"/>
              <a:t>Theorize a general form equation (variables and signs/directions)</a:t>
            </a:r>
            <a:endParaRPr b="1" sz="160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/>
              <a:t>Sales = f(inventory +, pricing -, economic conditions *, competitor pricing +, advertising +, weather *, pandemic -, season or month *)</a:t>
            </a:r>
            <a:endParaRPr sz="160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600"/>
              <a:t>Find specific data and variables to operationalize your theory</a:t>
            </a:r>
            <a:endParaRPr b="1" sz="160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/>
              <a:t>Sold Units = f(Inventory at start of month, average difference of MSRP and sale price, local unemployment rate, average discount of MSRP and sale price (scraped from website), $ value of advertising budget, precipitation (rain or snow), month (all but one), and is the time period in question during the Covid pandemic.</a:t>
            </a:r>
            <a:endParaRPr sz="160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2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Selecting X Variables For Your Model - Technical</a:t>
            </a:r>
            <a:endParaRPr/>
          </a:p>
        </p:txBody>
      </p:sp>
      <p:sp>
        <p:nvSpPr>
          <p:cNvPr id="122" name="Google Shape;122;p22"/>
          <p:cNvSpPr txBox="1"/>
          <p:nvPr>
            <p:ph idx="1" type="body"/>
          </p:nvPr>
        </p:nvSpPr>
        <p:spPr>
          <a:xfrm>
            <a:off x="387900" y="1396300"/>
            <a:ext cx="82671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How do we select variables?</a:t>
            </a:r>
            <a:endParaRPr sz="1700"/>
          </a:p>
          <a:p>
            <a:pPr indent="-33655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1700"/>
              <a:buAutoNum type="arabicParenR"/>
            </a:pPr>
            <a:r>
              <a:rPr lang="en" sz="1700"/>
              <a:t>Signs / Direction: Does the direction of the variable’s effect make sense / match theory?  Price increases are unlikely to cause quantity demanded to rise, so a positive relationship is a concern (though it may be fine!)</a:t>
            </a:r>
            <a:endParaRPr sz="1700"/>
          </a:p>
          <a:p>
            <a:pPr indent="-3365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700"/>
              <a:buAutoNum type="arabicParenR"/>
            </a:pPr>
            <a:r>
              <a:rPr lang="en" sz="1700"/>
              <a:t>Bias: How much do other variables change in magnitude and direction when other variables are added / removed?</a:t>
            </a:r>
            <a:endParaRPr sz="1700"/>
          </a:p>
          <a:p>
            <a:pPr indent="-3365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700"/>
              <a:buAutoNum type="arabicParenR"/>
            </a:pPr>
            <a:r>
              <a:rPr lang="en" sz="1700"/>
              <a:t>T-testing / p-value: Does the variable have any statistical significance?  Variables are statistically significant if their p-value is below your selected alpha.</a:t>
            </a:r>
            <a:endParaRPr sz="1700"/>
          </a:p>
          <a:p>
            <a:pPr indent="-3365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700"/>
              <a:buAutoNum type="arabicParenR"/>
            </a:pPr>
            <a:r>
              <a:rPr lang="en" sz="1700"/>
              <a:t>Adjusted R^2: Does a variable’s inclusion raise or (lower adjusted) R^2?  Higher = Better</a:t>
            </a:r>
            <a:endParaRPr sz="1700"/>
          </a:p>
          <a:p>
            <a:pPr indent="-3365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700"/>
              <a:buAutoNum type="arabicParenR"/>
            </a:pPr>
            <a:r>
              <a:rPr lang="en" sz="1700"/>
              <a:t>AIC / BIC: Does a variable’s inclusion raise or lower AIC / BIC?  Lower = Better</a:t>
            </a:r>
            <a:endParaRPr sz="1700"/>
          </a:p>
          <a:p>
            <a:pPr indent="0" lvl="0" marL="45720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3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Role of Theory</a:t>
            </a:r>
            <a:endParaRPr/>
          </a:p>
        </p:txBody>
      </p:sp>
      <p:sp>
        <p:nvSpPr>
          <p:cNvPr id="128" name="Google Shape;128;p23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should guide your choice of variables!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Even if statistically insignificant be very reluctant to omit a variable that is: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Conceptually fundamental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Well established in the professional/academic literature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Even if statistically significant, never include a variable that makes no logical sense!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4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Consequences &amp; Solutions of </a:t>
            </a:r>
            <a:r>
              <a:rPr b="1" lang="en"/>
              <a:t>Omitted Variables</a:t>
            </a:r>
            <a:endParaRPr b="1"/>
          </a:p>
        </p:txBody>
      </p:sp>
      <p:sp>
        <p:nvSpPr>
          <p:cNvPr id="134" name="Google Shape;134;p24"/>
          <p:cNvSpPr txBox="1"/>
          <p:nvPr>
            <p:ph idx="1" type="body"/>
          </p:nvPr>
        </p:nvSpPr>
        <p:spPr>
          <a:xfrm>
            <a:off x="3299700" y="1489825"/>
            <a:ext cx="25446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/>
              <a:t>Consequences</a:t>
            </a:r>
            <a:endParaRPr b="1"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1) Bias in coefficients (magnitude and/or direction)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2) Hypothesis testing is unreliable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3) Confidence intervals are unreliable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4) Low predictive power / inaccurate predictions</a:t>
            </a:r>
            <a:endParaRPr sz="2100"/>
          </a:p>
        </p:txBody>
      </p:sp>
      <p:sp>
        <p:nvSpPr>
          <p:cNvPr id="135" name="Google Shape;135;p24"/>
          <p:cNvSpPr txBox="1"/>
          <p:nvPr>
            <p:ph idx="1" type="body"/>
          </p:nvPr>
        </p:nvSpPr>
        <p:spPr>
          <a:xfrm>
            <a:off x="5989775" y="1489825"/>
            <a:ext cx="25446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50"/>
              <a:t>Solutions</a:t>
            </a:r>
            <a:endParaRPr b="1"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50"/>
              <a:t>1) Include the omitted variable in the regression - Duh!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750"/>
              <a:t>2) Include a proxy variable if the actual variable cannot be included</a:t>
            </a:r>
            <a:endParaRPr sz="1750"/>
          </a:p>
        </p:txBody>
      </p:sp>
      <p:sp>
        <p:nvSpPr>
          <p:cNvPr id="136" name="Google Shape;136;p24"/>
          <p:cNvSpPr txBox="1"/>
          <p:nvPr>
            <p:ph idx="1" type="body"/>
          </p:nvPr>
        </p:nvSpPr>
        <p:spPr>
          <a:xfrm>
            <a:off x="387900" y="1489825"/>
            <a:ext cx="25446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en" sz="1770"/>
              <a:t>Detection</a:t>
            </a:r>
            <a:endParaRPr b="1"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770"/>
              <a:t>1) Logic / theory</a:t>
            </a:r>
            <a:endParaRPr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770"/>
              <a:t>2) Unexpected signs</a:t>
            </a:r>
            <a:endParaRPr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770"/>
              <a:t>3) Poor model fit</a:t>
            </a:r>
            <a:endParaRPr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rPr lang="en" sz="1770"/>
              <a:t>4) Changes in </a:t>
            </a:r>
            <a:r>
              <a:rPr lang="en" sz="1770"/>
              <a:t>coefficients</a:t>
            </a:r>
            <a:r>
              <a:rPr lang="en" sz="1770"/>
              <a:t> when controls are added</a:t>
            </a:r>
            <a:endParaRPr sz="177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Omitted Variables Bias Coefficients </a:t>
            </a:r>
            <a:endParaRPr/>
          </a:p>
        </p:txBody>
      </p:sp>
      <p:sp>
        <p:nvSpPr>
          <p:cNvPr id="142" name="Google Shape;142;p25"/>
          <p:cNvSpPr txBox="1"/>
          <p:nvPr>
            <p:ph idx="1" type="body"/>
          </p:nvPr>
        </p:nvSpPr>
        <p:spPr>
          <a:xfrm>
            <a:off x="387900" y="1489825"/>
            <a:ext cx="54654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True Model: Y = B0 + B1(X) + B2(Z) + 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Estimated Model: Y = B0 + B1(X) + 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Z is omitted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Z is correlated with Y and X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Bias(B1) = B2 * (Cov(X,Z) / Var(X))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B2 and Cov(X,Z) are both positive or negative, Bias is Positive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If is positive and the other is negative, Bias is Negative  </a:t>
            </a:r>
            <a:endParaRPr/>
          </a:p>
        </p:txBody>
      </p:sp>
      <p:pic>
        <p:nvPicPr>
          <p:cNvPr id="143" name="Google Shape;14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8625" y="1337299"/>
            <a:ext cx="4467475" cy="175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6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6"/>
          <p:cNvSpPr txBox="1"/>
          <p:nvPr>
            <p:ph idx="1" type="body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26"/>
          <p:cNvSpPr txBox="1"/>
          <p:nvPr>
            <p:ph idx="2" type="body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51" name="Google Shape;15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79439"/>
            <a:ext cx="9144001" cy="4384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7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7"/>
          <p:cNvSpPr txBox="1"/>
          <p:nvPr>
            <p:ph idx="1" type="body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27"/>
          <p:cNvSpPr txBox="1"/>
          <p:nvPr>
            <p:ph idx="2" type="body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451840"/>
            <a:ext cx="9144000" cy="42398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8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Specification Error - Omitted X Variable</a:t>
            </a:r>
            <a:endParaRPr/>
          </a:p>
        </p:txBody>
      </p:sp>
      <p:sp>
        <p:nvSpPr>
          <p:cNvPr id="165" name="Google Shape;165;p28"/>
          <p:cNvSpPr txBox="1"/>
          <p:nvPr>
            <p:ph idx="1" type="body"/>
          </p:nvPr>
        </p:nvSpPr>
        <p:spPr>
          <a:xfrm>
            <a:off x="1638750" y="979550"/>
            <a:ext cx="5866500" cy="8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Domestic GDP = (Consumption) + Investment + Government Spending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66" name="Google Shape;166;p28"/>
          <p:cNvGraphicFramePr/>
          <p:nvPr/>
        </p:nvGraphicFramePr>
        <p:xfrm>
          <a:off x="952500" y="35379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{B1FF1AE6-13BA-4C2B-AAAC-B3428A435679}</a:tableStyleId>
              </a:tblPr>
              <a:tblGrid>
                <a:gridCol w="1447800"/>
                <a:gridCol w="1447800"/>
                <a:gridCol w="1447800"/>
                <a:gridCol w="1447800"/>
                <a:gridCol w="14478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Variable 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Coefficients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Standard Error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t Stat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P-value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Intercept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176.605521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48.8939703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3.61201023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0.00036508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Investment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3.34495811 (Higher)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0.11077061 (Higher)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30.1971636 (Higher)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1.1444E-86 (Lower)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Government 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1.12138656 (Higher)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0.0544051 (Higher)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20.6117923 (Higher)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1.858E-56 (Lower)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167" name="Google Shape;167;p28"/>
          <p:cNvGraphicFramePr/>
          <p:nvPr/>
        </p:nvGraphicFramePr>
        <p:xfrm>
          <a:off x="952500" y="13809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{B1FF1AE6-13BA-4C2B-AAAC-B3428A435679}</a:tableStyleId>
              </a:tblPr>
              <a:tblGrid>
                <a:gridCol w="1447800"/>
                <a:gridCol w="1447800"/>
                <a:gridCol w="1447800"/>
                <a:gridCol w="1447800"/>
                <a:gridCol w="14478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Variable 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Coefficients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Standard Error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t Stat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P-value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Intercept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221.767402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10.5921799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20.9368991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1.7731E-57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Investment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0.50870401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0.04586227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11.0919945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1.2808E-23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Government 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0.09740345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0.01837915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5.2996704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2.4975E-07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Consumption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1.27937902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0.01764116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72.5223846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3.797E-173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9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Consequences &amp; Solutions of </a:t>
            </a:r>
            <a:r>
              <a:rPr b="1" lang="en"/>
              <a:t>Irrelevant</a:t>
            </a:r>
            <a:r>
              <a:rPr lang="en"/>
              <a:t> </a:t>
            </a:r>
            <a:r>
              <a:rPr b="1" lang="en"/>
              <a:t>Variables</a:t>
            </a:r>
            <a:endParaRPr b="1"/>
          </a:p>
        </p:txBody>
      </p:sp>
      <p:sp>
        <p:nvSpPr>
          <p:cNvPr id="173" name="Google Shape;173;p29"/>
          <p:cNvSpPr txBox="1"/>
          <p:nvPr>
            <p:ph idx="1" type="body"/>
          </p:nvPr>
        </p:nvSpPr>
        <p:spPr>
          <a:xfrm>
            <a:off x="3299700" y="1489825"/>
            <a:ext cx="25446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50"/>
              <a:t>Consequences</a:t>
            </a:r>
            <a:endParaRPr b="1"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50"/>
              <a:t>1) Larger standard errors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50"/>
              <a:t>2) Wider confidence intervals 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50"/>
              <a:t>3) Lower precision / efficiency 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50"/>
              <a:t>4) Possible overfitting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750"/>
          </a:p>
        </p:txBody>
      </p:sp>
      <p:sp>
        <p:nvSpPr>
          <p:cNvPr id="174" name="Google Shape;174;p29"/>
          <p:cNvSpPr txBox="1"/>
          <p:nvPr>
            <p:ph idx="1" type="body"/>
          </p:nvPr>
        </p:nvSpPr>
        <p:spPr>
          <a:xfrm>
            <a:off x="5989775" y="1489825"/>
            <a:ext cx="25446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50"/>
              <a:t>Solutions</a:t>
            </a:r>
            <a:endParaRPr b="1" sz="175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750"/>
              <a:t>Remove irrelevant variable(s) - Duh!</a:t>
            </a:r>
            <a:endParaRPr sz="1750"/>
          </a:p>
        </p:txBody>
      </p:sp>
      <p:sp>
        <p:nvSpPr>
          <p:cNvPr id="175" name="Google Shape;175;p29"/>
          <p:cNvSpPr txBox="1"/>
          <p:nvPr>
            <p:ph idx="1" type="body"/>
          </p:nvPr>
        </p:nvSpPr>
        <p:spPr>
          <a:xfrm>
            <a:off x="387900" y="1489825"/>
            <a:ext cx="25446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en" sz="1770"/>
              <a:t>Detection</a:t>
            </a:r>
            <a:endParaRPr b="1"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770"/>
              <a:t>1) Logic / theory</a:t>
            </a:r>
            <a:endParaRPr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770"/>
              <a:t>2) T-test / P-value</a:t>
            </a:r>
            <a:endParaRPr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770"/>
              <a:t>3) Adjusted R^2</a:t>
            </a:r>
            <a:endParaRPr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rPr lang="en" sz="1770"/>
              <a:t>4) Impact on other coefficients</a:t>
            </a:r>
            <a:endParaRPr sz="177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0"/>
          <p:cNvSpPr txBox="1"/>
          <p:nvPr>
            <p:ph type="title"/>
          </p:nvPr>
        </p:nvSpPr>
        <p:spPr>
          <a:xfrm>
            <a:off x="171875" y="27307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Specification Error - Included Irrelevant X Variable</a:t>
            </a:r>
            <a:endParaRPr/>
          </a:p>
        </p:txBody>
      </p:sp>
      <p:graphicFrame>
        <p:nvGraphicFramePr>
          <p:cNvPr id="181" name="Google Shape;181;p30"/>
          <p:cNvGraphicFramePr/>
          <p:nvPr/>
        </p:nvGraphicFramePr>
        <p:xfrm>
          <a:off x="1682875" y="588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{B1FF1AE6-13BA-4C2B-AAAC-B3428A435679}</a:tableStyleId>
              </a:tblPr>
              <a:tblGrid>
                <a:gridCol w="1447800"/>
                <a:gridCol w="1447800"/>
                <a:gridCol w="1447800"/>
                <a:gridCol w="1447800"/>
                <a:gridCol w="14478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Variable 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Coefficients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Standard Error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t Stat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P-value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Intercept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221.767402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10.5921799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20.9368991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1.7731E-57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Investment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0.50870401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0.04586227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11.0919945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1.2808E-23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Government 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0.09740345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0.01837915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5.2996704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2.4975E-07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Consumption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1.27937902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0.01764116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72.5223846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3.797E-173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182" name="Google Shape;182;p30"/>
          <p:cNvGraphicFramePr/>
          <p:nvPr/>
        </p:nvGraphicFramePr>
        <p:xfrm>
          <a:off x="1682875" y="2694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{B1FF1AE6-13BA-4C2B-AAAC-B3428A435679}</a:tableStyleId>
              </a:tblPr>
              <a:tblGrid>
                <a:gridCol w="1447800"/>
                <a:gridCol w="1447800"/>
                <a:gridCol w="1447800"/>
                <a:gridCol w="1447800"/>
                <a:gridCol w="14478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 Variable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Coefficients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Standard Error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t Stat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200">
                          <a:solidFill>
                            <a:schemeClr val="dk1"/>
                          </a:solidFill>
                        </a:rPr>
                        <a:t>P-value</a:t>
                      </a:r>
                      <a:endParaRPr i="1"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Intercept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218.245023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15.811014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13.803354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8.987E-33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T cap="flat" cmpd="sng" w="47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Investment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0.50963482 (Higher)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0.04604795 (Higher)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11.0674814 (Lower)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1.5951E-23 (Higher)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Government 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0.09762164 (Higher)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0.01842608 (Higher)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5.298015 (Lower)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2.5251E-07 (Higher)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Consumption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1.27901116 (Lower)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0.01771481 (Higher)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72.2000999 (Lower)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3.249E-172 (Higher)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Random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7.34242104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24.4336968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0.30050389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0.76403672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525" marB="91425" marR="9525" marL="9525" anchor="b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83" name="Google Shape;183;p30"/>
          <p:cNvSpPr txBox="1"/>
          <p:nvPr/>
        </p:nvSpPr>
        <p:spPr>
          <a:xfrm>
            <a:off x="329175" y="1625350"/>
            <a:ext cx="1203600" cy="29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Domestic GDP =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Consumption + 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Investment 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 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Government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1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Parsimony and Occam's Razor</a:t>
            </a:r>
            <a:endParaRPr/>
          </a:p>
        </p:txBody>
      </p:sp>
      <p:sp>
        <p:nvSpPr>
          <p:cNvPr id="189" name="Google Shape;189;p31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Less is better, all things being equal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 equally effective model with less complexity is likely superior for practical, scientific, and philosophical reasons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Overfitting: Creating a model so specific that it is perfect for describing the dataset used to train the model, but has much less value when tested “out of sample”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Less specificity means less chance of overfitting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4717" y="287388"/>
            <a:ext cx="7654558" cy="4568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3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Overfitting - </a:t>
            </a:r>
            <a:r>
              <a:rPr lang="en"/>
              <a:t>Future</a:t>
            </a:r>
            <a:r>
              <a:rPr lang="en"/>
              <a:t> data</a:t>
            </a:r>
            <a:endParaRPr/>
          </a:p>
        </p:txBody>
      </p:sp>
      <p:pic>
        <p:nvPicPr>
          <p:cNvPr id="200" name="Google Shape;20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91850"/>
            <a:ext cx="8869448" cy="239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4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Overfitting - Data left out</a:t>
            </a:r>
            <a:endParaRPr/>
          </a:p>
        </p:txBody>
      </p:sp>
      <p:pic>
        <p:nvPicPr>
          <p:cNvPr id="206" name="Google Shape;20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688" y="1420988"/>
            <a:ext cx="8648627" cy="230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Stepwise Selection - Not Usually A Good Idea</a:t>
            </a:r>
            <a:endParaRPr/>
          </a:p>
        </p:txBody>
      </p:sp>
      <p:sp>
        <p:nvSpPr>
          <p:cNvPr id="212" name="Google Shape;212;p35"/>
          <p:cNvSpPr txBox="1"/>
          <p:nvPr>
            <p:ph idx="1" type="body"/>
          </p:nvPr>
        </p:nvSpPr>
        <p:spPr>
          <a:xfrm>
            <a:off x="387900" y="1489825"/>
            <a:ext cx="4707300" cy="342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It’s possible to have a computer select your variables for you, but you probably shouldn’t do it.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Results may fail to generalize / model may be “overfitted”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May give unstable models and </a:t>
            </a:r>
            <a:r>
              <a:rPr lang="en"/>
              <a:t>misleading</a:t>
            </a:r>
            <a:r>
              <a:rPr lang="en"/>
              <a:t> p-values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Stepwise forward</a:t>
            </a:r>
            <a:r>
              <a:rPr lang="en"/>
              <a:t>: Start with minimum number of variables needed and build up the model from there, adding more variables than you subtract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Stepwise backward</a:t>
            </a:r>
            <a:r>
              <a:rPr lang="en"/>
              <a:t>: Start with the maximum number of (reasonable, logical, theoretical) variables and trim down the model from there, subtracting more variables than you add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Stepwise mixed</a:t>
            </a:r>
            <a:r>
              <a:rPr lang="en"/>
              <a:t>: Both of the above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Comparison criteria</a:t>
            </a:r>
            <a:r>
              <a:rPr lang="en"/>
              <a:t>: R^2 (+), Adjusted R^2 (+), AIC (-), BIC(-), T-Stats (+) / P-Values (-) of variables, signs of variables, F-Stat / P-Value of full model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 </a:t>
            </a:r>
            <a:endParaRPr/>
          </a:p>
        </p:txBody>
      </p:sp>
      <p:pic>
        <p:nvPicPr>
          <p:cNvPr id="213" name="Google Shape;213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5200" y="2472650"/>
            <a:ext cx="3786676" cy="145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6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FUNctional Form</a:t>
            </a:r>
            <a:endParaRPr/>
          </a:p>
        </p:txBody>
      </p:sp>
      <p:sp>
        <p:nvSpPr>
          <p:cNvPr id="219" name="Google Shape;219;p36"/>
          <p:cNvSpPr txBox="1"/>
          <p:nvPr>
            <p:ph idx="1" type="body"/>
          </p:nvPr>
        </p:nvSpPr>
        <p:spPr>
          <a:xfrm>
            <a:off x="387900" y="1304800"/>
            <a:ext cx="3919200" cy="36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931"/>
              <a:t>Linear: Y = B0 + B1x + e</a:t>
            </a:r>
            <a:endParaRPr sz="493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4931"/>
              <a:t>Log-linear: ln(Y) = B0 + B1*x + e</a:t>
            </a:r>
            <a:endParaRPr sz="493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4931"/>
              <a:t>Linear-log: Y = B0 + B1*ln(x) + e</a:t>
            </a:r>
            <a:endParaRPr sz="493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4931"/>
              <a:t>Double-log: ln(Y) = B0 +B1*ln(x) + e</a:t>
            </a:r>
            <a:endParaRPr sz="493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4931"/>
              <a:t>Polynomial (2nd): Y = B0 + B1*x + B2*x^2 + e</a:t>
            </a:r>
            <a:endParaRPr sz="493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4931"/>
              <a:t>Polynomial (Nth): Y = B0 + B1*x + B2*x^2…Bn*x^n + e</a:t>
            </a:r>
            <a:endParaRPr sz="493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4931"/>
              <a:t>Inverse: Y = B0 + B1*(1/x) + e</a:t>
            </a:r>
            <a:endParaRPr sz="493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4931"/>
              <a:t>Square Root: Sqrt(Y) = B0 + B1*x1 + e</a:t>
            </a:r>
            <a:endParaRPr sz="493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4931"/>
              <a:t>Interaction: Y = B0 + B1*x1 + B2*x2 + B3*(x1*x2) + e</a:t>
            </a:r>
            <a:endParaRPr sz="493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4931"/>
              <a:t>Logistic* (NOT OLS)</a:t>
            </a:r>
            <a:endParaRPr sz="493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20" name="Google Shape;220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75245" y="1144125"/>
            <a:ext cx="4716355" cy="31434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433" y="0"/>
            <a:ext cx="7717135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8"/>
          <p:cNvSpPr txBox="1"/>
          <p:nvPr>
            <p:ph type="title"/>
          </p:nvPr>
        </p:nvSpPr>
        <p:spPr>
          <a:xfrm>
            <a:off x="387900" y="8797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Coefficient Interpretation </a:t>
            </a:r>
            <a:endParaRPr/>
          </a:p>
        </p:txBody>
      </p:sp>
      <p:pic>
        <p:nvPicPr>
          <p:cNvPr id="231" name="Google Shape;23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3277" y="738875"/>
            <a:ext cx="7248175" cy="4308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9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Log-Linear Model</a:t>
            </a:r>
            <a:endParaRPr/>
          </a:p>
        </p:txBody>
      </p:sp>
      <p:sp>
        <p:nvSpPr>
          <p:cNvPr id="237" name="Google Shape;237;p39"/>
          <p:cNvSpPr txBox="1"/>
          <p:nvPr>
            <p:ph idx="1" type="body"/>
          </p:nvPr>
        </p:nvSpPr>
        <p:spPr>
          <a:xfrm>
            <a:off x="387900" y="1489825"/>
            <a:ext cx="8186700" cy="15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Used to change non-linear equations into linear equations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Take the natural logarithm of the dependent variable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ln(Y) = B0 + B1*X1 + 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Coefficient interpretation: For small </a:t>
            </a:r>
            <a:r>
              <a:rPr b="1" lang="en"/>
              <a:t>coefficients</a:t>
            </a:r>
            <a:r>
              <a:rPr b="1" lang="en"/>
              <a:t>, a one-unit increase in X is associated with an approximate 100 x B% change in Y. 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/>
              <a:t> For larger coefficients, use 100((e^B) -1)%</a:t>
            </a:r>
            <a:endParaRPr b="1"/>
          </a:p>
        </p:txBody>
      </p:sp>
      <p:pic>
        <p:nvPicPr>
          <p:cNvPr id="238" name="Google Shape;238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56375" y="3359525"/>
            <a:ext cx="4724275" cy="141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0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Linear-Log Model</a:t>
            </a:r>
            <a:endParaRPr/>
          </a:p>
        </p:txBody>
      </p:sp>
      <p:sp>
        <p:nvSpPr>
          <p:cNvPr id="244" name="Google Shape;244;p40"/>
          <p:cNvSpPr txBox="1"/>
          <p:nvPr>
            <p:ph idx="1" type="body"/>
          </p:nvPr>
        </p:nvSpPr>
        <p:spPr>
          <a:xfrm>
            <a:off x="387900" y="1489825"/>
            <a:ext cx="8186700" cy="15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Used to change non-linear equations into linear equations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Take the natural logarithm of the independent variables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 = B0 + B1*ln(X1) + 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Coefficient interpretation: A one percent change in X leads to a B/100 unit change in Y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  <p:pic>
        <p:nvPicPr>
          <p:cNvPr id="245" name="Google Shape;24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64028" y="3226700"/>
            <a:ext cx="5260198" cy="152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41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Log-Log</a:t>
            </a:r>
            <a:endParaRPr/>
          </a:p>
        </p:txBody>
      </p:sp>
      <p:sp>
        <p:nvSpPr>
          <p:cNvPr id="251" name="Google Shape;251;p41"/>
          <p:cNvSpPr txBox="1"/>
          <p:nvPr>
            <p:ph idx="1" type="body"/>
          </p:nvPr>
        </p:nvSpPr>
        <p:spPr>
          <a:xfrm>
            <a:off x="185550" y="1365075"/>
            <a:ext cx="7737900" cy="15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Used to change non-linear equations into linear equations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rPr lang="en" sz="1250"/>
              <a:t>ln(Y) = B0 + B1*ln(X) + E</a:t>
            </a:r>
            <a:endParaRPr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Take the natural logarithm of the dependent variable and independent variables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rPr b="1" lang="en" sz="1250"/>
              <a:t>Coefficient interpretation: A one % change in X leads to a B percent change in Y = Elasticity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SzPts val="275"/>
              <a:buNone/>
            </a:pPr>
            <a:r>
              <a:t/>
            </a:r>
            <a:endParaRPr sz="1250"/>
          </a:p>
        </p:txBody>
      </p:sp>
      <p:pic>
        <p:nvPicPr>
          <p:cNvPr id="252" name="Google Shape;252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0554" y="3277075"/>
            <a:ext cx="6662899" cy="1631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5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5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5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5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5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2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Inverse</a:t>
            </a:r>
            <a:endParaRPr/>
          </a:p>
        </p:txBody>
      </p:sp>
      <p:sp>
        <p:nvSpPr>
          <p:cNvPr id="258" name="Google Shape;258;p42"/>
          <p:cNvSpPr txBox="1"/>
          <p:nvPr>
            <p:ph idx="1" type="body"/>
          </p:nvPr>
        </p:nvSpPr>
        <p:spPr>
          <a:xfrm>
            <a:off x="387900" y="1489825"/>
            <a:ext cx="8186700" cy="15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Y = B0 + B1(1/X) + E</a:t>
            </a:r>
            <a:endParaRPr sz="23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300"/>
              <a:t>A one unit </a:t>
            </a:r>
            <a:r>
              <a:rPr lang="en" sz="2300"/>
              <a:t>increase</a:t>
            </a:r>
            <a:r>
              <a:rPr lang="en" sz="2300"/>
              <a:t> in x leads to a non-linear change in Y by  B1.  B1 &gt; 0, y is decreasing as x increase</a:t>
            </a:r>
            <a:endParaRPr sz="2300"/>
          </a:p>
        </p:txBody>
      </p:sp>
      <p:pic>
        <p:nvPicPr>
          <p:cNvPr id="259" name="Google Shape;25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894" y="2919681"/>
            <a:ext cx="7830725" cy="18735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3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Polynomial / Quadratic Form</a:t>
            </a:r>
            <a:endParaRPr/>
          </a:p>
        </p:txBody>
      </p:sp>
      <p:sp>
        <p:nvSpPr>
          <p:cNvPr id="265" name="Google Shape;265;p43"/>
          <p:cNvSpPr txBox="1"/>
          <p:nvPr>
            <p:ph idx="1" type="body"/>
          </p:nvPr>
        </p:nvSpPr>
        <p:spPr>
          <a:xfrm>
            <a:off x="387900" y="1489825"/>
            <a:ext cx="49026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en" sz="1325"/>
              <a:t>If a relationship between X and Y is concave or convex, a quadratic form may be needed</a:t>
            </a:r>
            <a:endParaRPr sz="132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lang="en" sz="1325"/>
              <a:t>Y = B0 + B1(X1) + B2(X1^2) + E</a:t>
            </a:r>
            <a:endParaRPr sz="132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lang="en" sz="1325"/>
              <a:t>Example: Income = f(Age)</a:t>
            </a:r>
            <a:endParaRPr sz="132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lang="en" sz="1325"/>
              <a:t>As age rises (16-60) earned income rises too, but at a certain point, people retire and their earned income falls (60-100…)</a:t>
            </a:r>
            <a:endParaRPr sz="132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lang="en" sz="1325"/>
              <a:t>A properly formed model would include an age^2 variable</a:t>
            </a:r>
            <a:endParaRPr sz="132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lang="en" sz="1325"/>
              <a:t>Income = f(Age + Age^2)</a:t>
            </a:r>
            <a:endParaRPr sz="132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lang="en" sz="1325"/>
              <a:t>Can be more than quadratic polynomial, depending on inflection points (X^2 = 1 inflection point, X^3 = 2 inflection points)</a:t>
            </a:r>
            <a:endParaRPr sz="132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688"/>
              <a:buNone/>
            </a:pPr>
            <a:r>
              <a:rPr lang="en" sz="1325"/>
              <a:t>Interpretation is complex but can still be used for prediction</a:t>
            </a:r>
            <a:endParaRPr sz="1325"/>
          </a:p>
        </p:txBody>
      </p:sp>
      <p:pic>
        <p:nvPicPr>
          <p:cNvPr id="266" name="Google Shape;266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3050" y="1324175"/>
            <a:ext cx="3523049" cy="2111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05226" y="3616100"/>
            <a:ext cx="3778699" cy="1419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4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Polynomial / Quadratic Form</a:t>
            </a:r>
            <a:endParaRPr/>
          </a:p>
        </p:txBody>
      </p:sp>
      <p:pic>
        <p:nvPicPr>
          <p:cNvPr id="273" name="Google Shape;273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24423" y="1111038"/>
            <a:ext cx="6529676" cy="3836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Consequences &amp; Solutions of Incorrect Functional Form</a:t>
            </a:r>
            <a:endParaRPr/>
          </a:p>
        </p:txBody>
      </p:sp>
      <p:sp>
        <p:nvSpPr>
          <p:cNvPr id="279" name="Google Shape;279;p45"/>
          <p:cNvSpPr txBox="1"/>
          <p:nvPr>
            <p:ph idx="1" type="body"/>
          </p:nvPr>
        </p:nvSpPr>
        <p:spPr>
          <a:xfrm>
            <a:off x="3299700" y="1489825"/>
            <a:ext cx="25446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" sz="1787"/>
              <a:t>Consequences</a:t>
            </a:r>
            <a:endParaRPr b="1" sz="1787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1787"/>
              <a:t>1) Biased coefficients</a:t>
            </a:r>
            <a:endParaRPr sz="1787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1787"/>
              <a:t>2) Hypothesis testing is unreliable</a:t>
            </a:r>
            <a:endParaRPr sz="1787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1787"/>
              <a:t>3) Confidence intervals are unreliable</a:t>
            </a:r>
            <a:endParaRPr sz="1787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1787"/>
              <a:t>4) Inaccurate predictions</a:t>
            </a:r>
            <a:endParaRPr sz="1787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t/>
            </a:r>
            <a:endParaRPr sz="1787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t/>
            </a:r>
            <a:endParaRPr sz="1787"/>
          </a:p>
        </p:txBody>
      </p:sp>
      <p:sp>
        <p:nvSpPr>
          <p:cNvPr id="280" name="Google Shape;280;p45"/>
          <p:cNvSpPr txBox="1"/>
          <p:nvPr>
            <p:ph idx="1" type="body"/>
          </p:nvPr>
        </p:nvSpPr>
        <p:spPr>
          <a:xfrm>
            <a:off x="5989775" y="1489825"/>
            <a:ext cx="25446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50"/>
              <a:t>Solutions</a:t>
            </a:r>
            <a:endParaRPr b="1"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50"/>
              <a:t>1) Try different functional forms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750"/>
              <a:t>2) Transform variables (log, sqrt, inverse)</a:t>
            </a:r>
            <a:endParaRPr sz="1750"/>
          </a:p>
        </p:txBody>
      </p:sp>
      <p:sp>
        <p:nvSpPr>
          <p:cNvPr id="281" name="Google Shape;281;p45"/>
          <p:cNvSpPr txBox="1"/>
          <p:nvPr>
            <p:ph idx="1" type="body"/>
          </p:nvPr>
        </p:nvSpPr>
        <p:spPr>
          <a:xfrm>
            <a:off x="387900" y="1489825"/>
            <a:ext cx="25446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en" sz="1770"/>
              <a:t>Detection</a:t>
            </a:r>
            <a:endParaRPr b="1"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70"/>
              <a:t>1) Logic / Theory</a:t>
            </a:r>
            <a:endParaRPr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70"/>
              <a:t>2) Plots of x vs y</a:t>
            </a:r>
            <a:endParaRPr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70"/>
              <a:t>3) Residual analysis*</a:t>
            </a:r>
            <a:endParaRPr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770"/>
              <a:t>4) Ramsey's RESET Test</a:t>
            </a:r>
            <a:endParaRPr sz="177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6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Ramsey’s RESET Test </a:t>
            </a:r>
            <a:endParaRPr/>
          </a:p>
        </p:txBody>
      </p:sp>
      <p:sp>
        <p:nvSpPr>
          <p:cNvPr id="287" name="Google Shape;287;p46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test for </a:t>
            </a:r>
            <a:endParaRPr/>
          </a:p>
          <a:p>
            <a:pPr indent="-300037" lvl="0" marL="457200" rtl="0" algn="l">
              <a:spcBef>
                <a:spcPts val="120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Incorrect functional form</a:t>
            </a:r>
            <a:endParaRPr/>
          </a:p>
          <a:p>
            <a:pPr indent="-30003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Incorrect transformations </a:t>
            </a:r>
            <a:endParaRPr/>
          </a:p>
          <a:p>
            <a:pPr indent="-30003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Non linearities</a:t>
            </a:r>
            <a:endParaRPr/>
          </a:p>
          <a:p>
            <a:pPr indent="-30003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Omitted variables that are correlated with included variables  </a:t>
            </a:r>
            <a:endParaRPr/>
          </a:p>
          <a:p>
            <a:pPr indent="-30003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Missing interactions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Provides hint of problem, but not many insights for solution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Step 1: Estimate a regression model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Step 2: Estimate another regression model using the Y-hat^2 and Y-hat^3 as additional independent variables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Step 3: Test the new variables for statistical significance.  If they are significant, this points to the need for squared or cubic variables, or an alternate functional form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88" name="Google Shape;288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2679" y="183226"/>
            <a:ext cx="2896273" cy="298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3" name="Google Shape;293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73641" y="0"/>
            <a:ext cx="4996719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3000" y="0"/>
            <a:ext cx="6858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9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 3 </a:t>
            </a:r>
            <a:endParaRPr/>
          </a:p>
        </p:txBody>
      </p:sp>
      <p:sp>
        <p:nvSpPr>
          <p:cNvPr id="304" name="Google Shape;304;p4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Conditional Mean of Errors</a:t>
            </a:r>
            <a:endParaRPr/>
          </a:p>
        </p:txBody>
      </p:sp>
      <p:sp>
        <p:nvSpPr>
          <p:cNvPr id="305" name="Google Shape;305;p4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E(e | X) = 0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error term is unrelated to the independent variables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All systematic relationships between Y and X are captured in the model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0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Conditional Mean of Errors </a:t>
            </a:r>
            <a:endParaRPr/>
          </a:p>
        </p:txBody>
      </p:sp>
      <p:sp>
        <p:nvSpPr>
          <p:cNvPr id="311" name="Google Shape;311;p50"/>
          <p:cNvSpPr txBox="1"/>
          <p:nvPr>
            <p:ph idx="1" type="body"/>
          </p:nvPr>
        </p:nvSpPr>
        <p:spPr>
          <a:xfrm>
            <a:off x="3889188" y="1144125"/>
            <a:ext cx="27525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Consequences: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Biased coefficients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Inconsistent estimates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Wrong causal interpretation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Hypothesis testing becomes misleading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50"/>
          <p:cNvSpPr txBox="1"/>
          <p:nvPr>
            <p:ph idx="1" type="body"/>
          </p:nvPr>
        </p:nvSpPr>
        <p:spPr>
          <a:xfrm>
            <a:off x="278250" y="1032300"/>
            <a:ext cx="34188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50"/>
              <a:t>Detection: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50"/>
              <a:t>Theory / domain knowledge 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50"/>
              <a:t>Coefficient instability 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50"/>
              <a:t>Residual patterns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50"/>
              <a:t>RESET Test 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50"/>
              <a:t>Endogeneity clues (reverse causality, simultaneous relationships, selection effects.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250"/>
              <a:t>There are no statistical tests for this.</a:t>
            </a:r>
            <a:endParaRPr b="1" sz="1250"/>
          </a:p>
        </p:txBody>
      </p:sp>
      <p:sp>
        <p:nvSpPr>
          <p:cNvPr id="313" name="Google Shape;313;p50"/>
          <p:cNvSpPr txBox="1"/>
          <p:nvPr>
            <p:ph idx="1" type="body"/>
          </p:nvPr>
        </p:nvSpPr>
        <p:spPr>
          <a:xfrm>
            <a:off x="6462075" y="1144125"/>
            <a:ext cx="27525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Solution: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Add missing variables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Use proxy variables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Fixed effects (control for unobserved, time-invariant factors)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Causal methods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1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 4</a:t>
            </a:r>
            <a:endParaRPr/>
          </a:p>
        </p:txBody>
      </p:sp>
      <p:sp>
        <p:nvSpPr>
          <p:cNvPr id="319" name="Google Shape;319;p51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Homoscedasticity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(Variance of errors is constant) </a:t>
            </a:r>
            <a:endParaRPr/>
          </a:p>
        </p:txBody>
      </p:sp>
      <p:pic>
        <p:nvPicPr>
          <p:cNvPr id="320" name="Google Shape;320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5150" y="1836525"/>
            <a:ext cx="4151050" cy="23855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52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Heteroskedasticity in Savings Rates</a:t>
            </a:r>
            <a:endParaRPr/>
          </a:p>
        </p:txBody>
      </p:sp>
      <p:sp>
        <p:nvSpPr>
          <p:cNvPr id="326" name="Google Shape;326;p52"/>
          <p:cNvSpPr txBox="1"/>
          <p:nvPr>
            <p:ph idx="1" type="body"/>
          </p:nvPr>
        </p:nvSpPr>
        <p:spPr>
          <a:xfrm>
            <a:off x="387900" y="1489825"/>
            <a:ext cx="28551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economics, we study consumption as a percentage of income, as a function of income.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marginal propensity to consume is the percentage of income consumed vs saved.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Higher income households have more opportunities to save, but don’t necessarily save more than lower income households</a:t>
            </a:r>
            <a:endParaRPr/>
          </a:p>
        </p:txBody>
      </p:sp>
      <p:pic>
        <p:nvPicPr>
          <p:cNvPr id="327" name="Google Shape;327;p52" title="Chart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7675" y="1299113"/>
            <a:ext cx="5596200" cy="34603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53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Heteroskedasticity</a:t>
            </a:r>
            <a:endParaRPr/>
          </a:p>
        </p:txBody>
      </p:sp>
      <p:pic>
        <p:nvPicPr>
          <p:cNvPr id="333" name="Google Shape;333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1650" y="1881250"/>
            <a:ext cx="4151050" cy="229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5150" y="1836525"/>
            <a:ext cx="4151050" cy="23855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54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Assumptions: Homoscedasticity</a:t>
            </a:r>
            <a:endParaRPr/>
          </a:p>
        </p:txBody>
      </p:sp>
      <p:pic>
        <p:nvPicPr>
          <p:cNvPr id="340" name="Google Shape;340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8975" y="1553875"/>
            <a:ext cx="7066050" cy="315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Consequences &amp; Solutions of Heteroskedasticity</a:t>
            </a:r>
            <a:endParaRPr/>
          </a:p>
        </p:txBody>
      </p:sp>
      <p:sp>
        <p:nvSpPr>
          <p:cNvPr id="346" name="Google Shape;346;p55"/>
          <p:cNvSpPr txBox="1"/>
          <p:nvPr>
            <p:ph idx="1" type="body"/>
          </p:nvPr>
        </p:nvSpPr>
        <p:spPr>
          <a:xfrm>
            <a:off x="3299700" y="1489825"/>
            <a:ext cx="25446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/>
              <a:t>Consequences</a:t>
            </a:r>
            <a:endParaRPr b="1"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1)OLS regression is no longer minimum variance 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2) Hypothesis testing is unreliable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3) Confidence intervals are unreliable </a:t>
            </a:r>
            <a:endParaRPr sz="2100"/>
          </a:p>
        </p:txBody>
      </p:sp>
      <p:sp>
        <p:nvSpPr>
          <p:cNvPr id="347" name="Google Shape;347;p55"/>
          <p:cNvSpPr txBox="1"/>
          <p:nvPr>
            <p:ph idx="1" type="body"/>
          </p:nvPr>
        </p:nvSpPr>
        <p:spPr>
          <a:xfrm>
            <a:off x="5989775" y="1489825"/>
            <a:ext cx="27663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50"/>
              <a:t>Solutions</a:t>
            </a:r>
            <a:endParaRPr b="1"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50"/>
              <a:t>1) Transform variables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50"/>
              <a:t>2) Change functional form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50"/>
              <a:t>3) Use WLS or GLS 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750"/>
              <a:t>4) Use heteroskedasticity-robust standard errors</a:t>
            </a:r>
            <a:endParaRPr sz="1750"/>
          </a:p>
        </p:txBody>
      </p:sp>
      <p:sp>
        <p:nvSpPr>
          <p:cNvPr id="348" name="Google Shape;348;p55"/>
          <p:cNvSpPr txBox="1"/>
          <p:nvPr>
            <p:ph idx="1" type="body"/>
          </p:nvPr>
        </p:nvSpPr>
        <p:spPr>
          <a:xfrm>
            <a:off x="387900" y="1489825"/>
            <a:ext cx="25446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en" sz="1770"/>
              <a:t>Detection</a:t>
            </a:r>
            <a:endParaRPr b="1"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770"/>
              <a:t>1) Plot residuals against fitted values and each x variable looking for spreading pattern</a:t>
            </a:r>
            <a:endParaRPr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770"/>
              <a:t>2)  White test: </a:t>
            </a:r>
            <a:endParaRPr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770"/>
              <a:t>H0: Homoscedasticity</a:t>
            </a:r>
            <a:endParaRPr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770"/>
              <a:t>HA: Heteroskedasticity</a:t>
            </a:r>
            <a:endParaRPr sz="177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t/>
            </a:r>
            <a:endParaRPr sz="177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6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 5 </a:t>
            </a:r>
            <a:endParaRPr/>
          </a:p>
        </p:txBody>
      </p:sp>
      <p:sp>
        <p:nvSpPr>
          <p:cNvPr id="354" name="Google Shape;354;p56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Random Sampling / Independence </a:t>
            </a:r>
            <a:endParaRPr/>
          </a:p>
        </p:txBody>
      </p:sp>
      <p:sp>
        <p:nvSpPr>
          <p:cNvPr id="355" name="Google Shape;355;p56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Observations are independent of each other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 observation provides information about another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Cov(ei,ej) = 0 for i =/= j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No clustering, spillovers, or time-dependence 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7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Dependence</a:t>
            </a:r>
            <a:endParaRPr/>
          </a:p>
        </p:txBody>
      </p:sp>
      <p:sp>
        <p:nvSpPr>
          <p:cNvPr id="361" name="Google Shape;361;p57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dependence = Autocorrelation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Cluster dependence = Groups share shocks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Spatial dependence = Nearby units influence each other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Panel dependence = Repeated observations per unit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8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Random Sampling / Independence </a:t>
            </a:r>
            <a:endParaRPr/>
          </a:p>
        </p:txBody>
      </p:sp>
      <p:sp>
        <p:nvSpPr>
          <p:cNvPr id="367" name="Google Shape;367;p58"/>
          <p:cNvSpPr txBox="1"/>
          <p:nvPr>
            <p:ph idx="1" type="body"/>
          </p:nvPr>
        </p:nvSpPr>
        <p:spPr>
          <a:xfrm>
            <a:off x="3889188" y="1144125"/>
            <a:ext cx="27525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Consequences: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Standard errors are biased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False statistical significance of some </a:t>
            </a:r>
            <a:r>
              <a:rPr lang="en"/>
              <a:t>variables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Confidence intervals are invalid (too narrow)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Hypothesis testing is unreliable </a:t>
            </a:r>
            <a:endParaRPr/>
          </a:p>
        </p:txBody>
      </p:sp>
      <p:sp>
        <p:nvSpPr>
          <p:cNvPr id="368" name="Google Shape;368;p58"/>
          <p:cNvSpPr txBox="1"/>
          <p:nvPr>
            <p:ph idx="1" type="body"/>
          </p:nvPr>
        </p:nvSpPr>
        <p:spPr>
          <a:xfrm>
            <a:off x="278250" y="1032300"/>
            <a:ext cx="34188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50"/>
              <a:t>Detection: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50"/>
              <a:t>Data structructures (repeated observations per unit, geographic grouping, etc.) = Main CLUE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50"/>
              <a:t>Residual patterns over time (cluster or trend)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50"/>
              <a:t>Autocorrelation plots (ACF)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50"/>
              <a:t>Durbin Watson test 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50"/>
              <a:t>Group level clustering 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250"/>
          </a:p>
        </p:txBody>
      </p:sp>
      <p:sp>
        <p:nvSpPr>
          <p:cNvPr id="369" name="Google Shape;369;p58"/>
          <p:cNvSpPr txBox="1"/>
          <p:nvPr>
            <p:ph idx="1" type="body"/>
          </p:nvPr>
        </p:nvSpPr>
        <p:spPr>
          <a:xfrm>
            <a:off x="6462075" y="1144125"/>
            <a:ext cx="27525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Solution:</a:t>
            </a:r>
            <a:endParaRPr b="1"/>
          </a:p>
          <a:p>
            <a:pPr indent="-334327" lvl="0" marL="457200" rtl="0" algn="l">
              <a:spcBef>
                <a:spcPts val="120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Clustered standard errors (for within groups)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Time series models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Lagged variables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Fixed effects (panel data)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GLS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Newey-West standard errors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59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 6</a:t>
            </a:r>
            <a:endParaRPr/>
          </a:p>
        </p:txBody>
      </p:sp>
      <p:sp>
        <p:nvSpPr>
          <p:cNvPr id="375" name="Google Shape;375;p5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Non-Autocorrelated Residuals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(Errors are not correlated with each other)</a:t>
            </a:r>
            <a:endParaRPr/>
          </a:p>
        </p:txBody>
      </p:sp>
      <p:pic>
        <p:nvPicPr>
          <p:cNvPr id="376" name="Google Shape;376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19000" y="1532786"/>
            <a:ext cx="4073226" cy="24416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Google Shape;381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16750" y="1350913"/>
            <a:ext cx="4073226" cy="2441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000" y="1350924"/>
            <a:ext cx="4073226" cy="24416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61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Consequences &amp; Solutions of Autocorrelation</a:t>
            </a:r>
            <a:endParaRPr/>
          </a:p>
        </p:txBody>
      </p:sp>
      <p:sp>
        <p:nvSpPr>
          <p:cNvPr id="388" name="Google Shape;388;p61"/>
          <p:cNvSpPr txBox="1"/>
          <p:nvPr>
            <p:ph idx="1" type="body"/>
          </p:nvPr>
        </p:nvSpPr>
        <p:spPr>
          <a:xfrm>
            <a:off x="3299700" y="1197300"/>
            <a:ext cx="25446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/>
              <a:t>Consequences</a:t>
            </a:r>
            <a:endParaRPr b="1"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1)OLS regression is no longer minimum variance 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2) Hypothesis testing is unreliable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3) Confidence intervals are unreliable </a:t>
            </a:r>
            <a:endParaRPr sz="2100"/>
          </a:p>
        </p:txBody>
      </p:sp>
      <p:sp>
        <p:nvSpPr>
          <p:cNvPr id="389" name="Google Shape;389;p61"/>
          <p:cNvSpPr txBox="1"/>
          <p:nvPr>
            <p:ph idx="1" type="body"/>
          </p:nvPr>
        </p:nvSpPr>
        <p:spPr>
          <a:xfrm>
            <a:off x="5989775" y="1197300"/>
            <a:ext cx="25446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en" sz="1750"/>
              <a:t>Solutions</a:t>
            </a:r>
            <a:endParaRPr b="1" sz="175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n" sz="1750"/>
              <a:t>1) Find and add an omitted variable</a:t>
            </a:r>
            <a:endParaRPr sz="175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n" sz="1750"/>
              <a:t>2) Change functional form</a:t>
            </a:r>
            <a:endParaRPr sz="175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n" sz="1750"/>
              <a:t>3) Use GLS or Newey-West standard errors</a:t>
            </a:r>
            <a:endParaRPr sz="175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r>
              <a:t/>
            </a:r>
            <a:endParaRPr sz="1750"/>
          </a:p>
        </p:txBody>
      </p:sp>
      <p:sp>
        <p:nvSpPr>
          <p:cNvPr id="390" name="Google Shape;390;p61"/>
          <p:cNvSpPr txBox="1"/>
          <p:nvPr>
            <p:ph idx="1" type="body"/>
          </p:nvPr>
        </p:nvSpPr>
        <p:spPr>
          <a:xfrm>
            <a:off x="387900" y="1144125"/>
            <a:ext cx="25446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50"/>
              <a:t>Detection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50"/>
              <a:t>1) Plot residuals vs time and look for patterns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50"/>
              <a:t>2)  Durbin-Watson test*: 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50"/>
              <a:t>&lt;1.5 = Positive Autocorrelation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50"/>
              <a:t>2 = No autocorrelation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50"/>
              <a:t>&gt;2.5 = Negative Autocorrelation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750"/>
          </a:p>
        </p:txBody>
      </p:sp>
      <p:sp>
        <p:nvSpPr>
          <p:cNvPr id="391" name="Google Shape;391;p61"/>
          <p:cNvSpPr txBox="1"/>
          <p:nvPr/>
        </p:nvSpPr>
        <p:spPr>
          <a:xfrm>
            <a:off x="3631350" y="4302200"/>
            <a:ext cx="4302300" cy="4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Typically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autocorrelation is a time-series or spatial problem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62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Durbin-Watson Test</a:t>
            </a:r>
            <a:endParaRPr/>
          </a:p>
        </p:txBody>
      </p:sp>
      <p:sp>
        <p:nvSpPr>
          <p:cNvPr id="397" name="Google Shape;397;p62"/>
          <p:cNvSpPr txBox="1"/>
          <p:nvPr>
            <p:ph idx="1" type="body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1.5 &lt; DW &lt; 2.5 is a rule of thumb.  More formally…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1) Calculate DW statistic for given regression model.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2) Lookup specific cutoffs from a Durbin-Watson statistical table / software.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Find critical values based 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1) Alpha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2) Sample size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3) Number of independent variables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DW-stat &lt; dL = Positive autocorrelation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DW-stat &gt; dU = Negative autocorrelation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DW-stat = 2 = No Autocorrelation</a:t>
            </a:r>
            <a:endParaRPr/>
          </a:p>
        </p:txBody>
      </p:sp>
      <p:pic>
        <p:nvPicPr>
          <p:cNvPr id="398" name="Google Shape;398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3900" y="536950"/>
            <a:ext cx="3209925" cy="1162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9" name="Google Shape;399;p6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50316" y="2074400"/>
            <a:ext cx="3905775" cy="2624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63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 7</a:t>
            </a:r>
            <a:endParaRPr/>
          </a:p>
        </p:txBody>
      </p:sp>
      <p:sp>
        <p:nvSpPr>
          <p:cNvPr id="405" name="Google Shape;405;p63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(Perfect) Multicollinearity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variables are not (perfectly) correlated with each other</a:t>
            </a:r>
            <a:endParaRPr/>
          </a:p>
        </p:txBody>
      </p:sp>
      <p:pic>
        <p:nvPicPr>
          <p:cNvPr id="406" name="Google Shape;406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98400" y="996775"/>
            <a:ext cx="3639725" cy="3507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1" name="Google Shape;411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3950" y="504825"/>
            <a:ext cx="6896100" cy="413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Finding Multicollinearity</a:t>
            </a:r>
            <a:endParaRPr/>
          </a:p>
        </p:txBody>
      </p:sp>
      <p:sp>
        <p:nvSpPr>
          <p:cNvPr id="417" name="Google Shape;417;p65"/>
          <p:cNvSpPr txBox="1"/>
          <p:nvPr>
            <p:ph idx="1" type="body"/>
          </p:nvPr>
        </p:nvSpPr>
        <p:spPr>
          <a:xfrm>
            <a:off x="387900" y="1489825"/>
            <a:ext cx="1781100" cy="108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Correlation Matrix</a:t>
            </a:r>
            <a:endParaRPr sz="22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18" name="Google Shape;418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0900" y="1082224"/>
            <a:ext cx="5303673" cy="1184850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p65"/>
          <p:cNvSpPr txBox="1"/>
          <p:nvPr>
            <p:ph idx="1" type="body"/>
          </p:nvPr>
        </p:nvSpPr>
        <p:spPr>
          <a:xfrm>
            <a:off x="2085475" y="2435475"/>
            <a:ext cx="5979300" cy="21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en" sz="1615"/>
              <a:t>Run separate regressions with each independent variable used as the dependent variable vs all the other independent variables</a:t>
            </a:r>
            <a:endParaRPr sz="161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n" sz="1615"/>
              <a:t>VIF(X) = 1 / (1 - R^2) for each variable</a:t>
            </a:r>
            <a:endParaRPr sz="161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n" sz="1615"/>
              <a:t>VIF = 1 =  No problem!</a:t>
            </a:r>
            <a:endParaRPr sz="161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n" sz="1615"/>
              <a:t>1 &lt;= VIF &lt;= 5 = Mild problem</a:t>
            </a:r>
            <a:endParaRPr sz="161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n" sz="1615"/>
              <a:t>6 &lt;= VIF &lt;= 10 = Moderate problem</a:t>
            </a:r>
            <a:endParaRPr sz="161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n" sz="1615"/>
              <a:t>VIF &gt; 10 = Large problem</a:t>
            </a:r>
            <a:endParaRPr sz="161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358"/>
              <a:buNone/>
            </a:pPr>
            <a:r>
              <a:t/>
            </a:r>
            <a:endParaRPr sz="1615"/>
          </a:p>
        </p:txBody>
      </p:sp>
      <p:sp>
        <p:nvSpPr>
          <p:cNvPr id="420" name="Google Shape;420;p65"/>
          <p:cNvSpPr txBox="1"/>
          <p:nvPr>
            <p:ph idx="1" type="body"/>
          </p:nvPr>
        </p:nvSpPr>
        <p:spPr>
          <a:xfrm>
            <a:off x="387900" y="3477675"/>
            <a:ext cx="1781100" cy="108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Variance Inflation Factor</a:t>
            </a:r>
            <a:endParaRPr sz="22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66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Assumptions: No (Perfect) Multicollinearity </a:t>
            </a:r>
            <a:endParaRPr/>
          </a:p>
        </p:txBody>
      </p:sp>
      <p:sp>
        <p:nvSpPr>
          <p:cNvPr id="426" name="Google Shape;426;p66"/>
          <p:cNvSpPr txBox="1"/>
          <p:nvPr>
            <p:ph idx="2" type="body"/>
          </p:nvPr>
        </p:nvSpPr>
        <p:spPr>
          <a:xfrm>
            <a:off x="3052775" y="1258250"/>
            <a:ext cx="29451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50"/>
              <a:t>Consequences of multicollinearity:</a:t>
            </a:r>
            <a:endParaRPr b="1" sz="1750"/>
          </a:p>
          <a:p>
            <a:pPr indent="-339725" lvl="0" marL="457200" rtl="0" algn="l">
              <a:spcBef>
                <a:spcPts val="1200"/>
              </a:spcBef>
              <a:spcAft>
                <a:spcPts val="0"/>
              </a:spcAft>
              <a:buSzPts val="1750"/>
              <a:buAutoNum type="arabicParenR"/>
            </a:pPr>
            <a:r>
              <a:rPr lang="en" sz="1750"/>
              <a:t>Hypothesis testing is unreliable</a:t>
            </a:r>
            <a:endParaRPr sz="1750"/>
          </a:p>
          <a:p>
            <a:pPr indent="-339725" lvl="0" marL="457200" rtl="0" algn="l">
              <a:spcBef>
                <a:spcPts val="0"/>
              </a:spcBef>
              <a:spcAft>
                <a:spcPts val="0"/>
              </a:spcAft>
              <a:buSzPts val="1750"/>
              <a:buAutoNum type="arabicParenR"/>
            </a:pPr>
            <a:r>
              <a:rPr lang="en" sz="1750"/>
              <a:t>Confidence intervals are unreliable</a:t>
            </a:r>
            <a:endParaRPr sz="1750"/>
          </a:p>
          <a:p>
            <a:pPr indent="-339725" lvl="0" marL="457200" rtl="0" algn="l">
              <a:spcBef>
                <a:spcPts val="0"/>
              </a:spcBef>
              <a:spcAft>
                <a:spcPts val="0"/>
              </a:spcAft>
              <a:buSzPts val="1750"/>
              <a:buAutoNum type="arabicParenR"/>
            </a:pPr>
            <a:r>
              <a:rPr lang="en" sz="1750"/>
              <a:t>With perfect multicollinearity, OLS doesn’t work at all.</a:t>
            </a:r>
            <a:endParaRPr sz="1750"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750"/>
          </a:p>
        </p:txBody>
      </p:sp>
      <p:sp>
        <p:nvSpPr>
          <p:cNvPr id="427" name="Google Shape;427;p66"/>
          <p:cNvSpPr txBox="1"/>
          <p:nvPr>
            <p:ph idx="1" type="body"/>
          </p:nvPr>
        </p:nvSpPr>
        <p:spPr>
          <a:xfrm>
            <a:off x="522475" y="1258250"/>
            <a:ext cx="23097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50"/>
              <a:t>Detection</a:t>
            </a:r>
            <a:r>
              <a:rPr lang="en" sz="1750"/>
              <a:t>: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50"/>
              <a:t>Variance inflation factor test, &gt;5 = problem, &gt; 10 equals large problem</a:t>
            </a:r>
            <a:endParaRPr sz="175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750"/>
              <a:t>Correlation matrix or plot of independent variables against one another (.8) or more is likely too much</a:t>
            </a:r>
            <a:endParaRPr sz="1750"/>
          </a:p>
        </p:txBody>
      </p:sp>
      <p:sp>
        <p:nvSpPr>
          <p:cNvPr id="428" name="Google Shape;428;p66"/>
          <p:cNvSpPr txBox="1"/>
          <p:nvPr>
            <p:ph idx="2" type="body"/>
          </p:nvPr>
        </p:nvSpPr>
        <p:spPr>
          <a:xfrm>
            <a:off x="5930700" y="1258250"/>
            <a:ext cx="32133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50"/>
              <a:t>Solutions:</a:t>
            </a:r>
            <a:endParaRPr b="1" sz="1750"/>
          </a:p>
          <a:p>
            <a:pPr indent="-339725" lvl="0" marL="457200" rtl="0" algn="l">
              <a:spcBef>
                <a:spcPts val="1200"/>
              </a:spcBef>
              <a:spcAft>
                <a:spcPts val="0"/>
              </a:spcAft>
              <a:buSzPts val="1750"/>
              <a:buAutoNum type="arabicParenR"/>
            </a:pPr>
            <a:r>
              <a:rPr lang="en" sz="1750"/>
              <a:t>Remove one or more of the affected variables from the model</a:t>
            </a:r>
            <a:endParaRPr sz="1750"/>
          </a:p>
          <a:p>
            <a:pPr indent="-339725" lvl="0" marL="457200" rtl="0" algn="l">
              <a:spcBef>
                <a:spcPts val="0"/>
              </a:spcBef>
              <a:spcAft>
                <a:spcPts val="0"/>
              </a:spcAft>
              <a:buSzPts val="1750"/>
              <a:buAutoNum type="arabicParenR"/>
            </a:pPr>
            <a:r>
              <a:rPr lang="en" sz="1750"/>
              <a:t>Combine affected variables into a single variable (PCA, indices, etc.)</a:t>
            </a:r>
            <a:endParaRPr sz="1750"/>
          </a:p>
          <a:p>
            <a:pPr indent="-339725" lvl="0" marL="457200" rtl="0" algn="l">
              <a:spcBef>
                <a:spcPts val="0"/>
              </a:spcBef>
              <a:spcAft>
                <a:spcPts val="0"/>
              </a:spcAft>
              <a:buSzPts val="1750"/>
              <a:buAutoNum type="arabicParenR"/>
            </a:pPr>
            <a:r>
              <a:rPr lang="en" sz="1750"/>
              <a:t>Ridge regression</a:t>
            </a:r>
            <a:endParaRPr sz="1750"/>
          </a:p>
          <a:p>
            <a:pPr indent="-339725" lvl="0" marL="457200" rtl="0" algn="l">
              <a:spcBef>
                <a:spcPts val="0"/>
              </a:spcBef>
              <a:spcAft>
                <a:spcPts val="0"/>
              </a:spcAft>
              <a:buSzPts val="1750"/>
              <a:buAutoNum type="arabicParenR"/>
            </a:pPr>
            <a:r>
              <a:rPr lang="en" sz="1750"/>
              <a:t>Do nothing!?</a:t>
            </a:r>
            <a:endParaRPr sz="175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67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 8*</a:t>
            </a:r>
            <a:endParaRPr/>
          </a:p>
        </p:txBody>
      </p:sp>
      <p:sp>
        <p:nvSpPr>
          <p:cNvPr id="434" name="Google Shape;434;p67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Enough (Complete) Data</a:t>
            </a:r>
            <a:endParaRPr/>
          </a:p>
        </p:txBody>
      </p:sp>
      <p:sp>
        <p:nvSpPr>
          <p:cNvPr id="435" name="Google Shape;435;p67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really a standard OLS assumption, but important!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 &gt; 10*k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68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Sample Size, Variables, and Degrees of Freedom</a:t>
            </a:r>
            <a:endParaRPr/>
          </a:p>
        </p:txBody>
      </p:sp>
      <p:sp>
        <p:nvSpPr>
          <p:cNvPr id="441" name="Google Shape;441;p68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Degrees of Freedom (for regression) = n - k - 1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 = observations, k = variables, 1 = for the constant / intercept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So with 40 rows and 5 variables, you have 34 DoF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Must have at least as many observations as variables for OLS to compute, but many more observations needed for sound estimates and inference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Rule of thumb = 10 observations per independent variable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Less than 20 DoF = PROBABLY NO GOOD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69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Data = Better!</a:t>
            </a:r>
            <a:endParaRPr/>
          </a:p>
        </p:txBody>
      </p:sp>
      <p:sp>
        <p:nvSpPr>
          <p:cNvPr id="447" name="Google Shape;447;p69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data gets you: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Lower variance in estimates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Fewer Type 2 Errors (Effect exists but isn’t detected)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TIghter confidence intervals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Better generalization (less overfitting)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Better ability to handle complexity (interaction terms, non-linear terms, etc)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Smaller and/or more stable p-values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70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70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54" name="Google Shape;454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85750"/>
            <a:ext cx="9144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71"/>
          <p:cNvSpPr txBox="1"/>
          <p:nvPr>
            <p:ph idx="1" type="body"/>
          </p:nvPr>
        </p:nvSpPr>
        <p:spPr>
          <a:xfrm>
            <a:off x="387900" y="4217824"/>
            <a:ext cx="8368200" cy="57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If not significant, more data drives p-values toward 1</a:t>
            </a:r>
            <a:endParaRPr/>
          </a:p>
        </p:txBody>
      </p:sp>
      <p:pic>
        <p:nvPicPr>
          <p:cNvPr id="460" name="Google Shape;460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19962"/>
            <a:ext cx="9144000" cy="3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72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72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67" name="Google Shape;467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8870" y="0"/>
            <a:ext cx="862625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73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More Data Ever Bad?</a:t>
            </a:r>
            <a:endParaRPr/>
          </a:p>
        </p:txBody>
      </p:sp>
      <p:sp>
        <p:nvSpPr>
          <p:cNvPr id="473" name="Google Shape;473;p73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data could be bad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Trends have changed (customer behavior from a decade ago might not resemble current behavior)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Data is unbalanced*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Computation costs and/or time needed to compute are high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Collection is costly or difficult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74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Diagnostics Plots</a:t>
            </a:r>
            <a:endParaRPr/>
          </a:p>
        </p:txBody>
      </p:sp>
      <p:sp>
        <p:nvSpPr>
          <p:cNvPr id="479" name="Google Shape;479;p74"/>
          <p:cNvSpPr txBox="1"/>
          <p:nvPr>
            <p:ph idx="1" type="body"/>
          </p:nvPr>
        </p:nvSpPr>
        <p:spPr>
          <a:xfrm>
            <a:off x="387900" y="1489825"/>
            <a:ext cx="74991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 regression analysis requires lots of diagnostic graphics!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Plot all X variables against Y</a:t>
            </a:r>
            <a:r>
              <a:rPr lang="en"/>
              <a:t>: This helps us understand the relationship between variables and suggests the possible need for alternative functional forms and variable transformations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Plot Y-Hat against Y: </a:t>
            </a:r>
            <a:r>
              <a:rPr lang="en"/>
              <a:t>This helps us see how accurate our model’s predictions are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Plot residuals against Y-Hat: </a:t>
            </a:r>
            <a:r>
              <a:rPr lang="en"/>
              <a:t>This helps us assess many of our regression assumptions and detect outliers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Plot residuals against all X variables: </a:t>
            </a:r>
            <a:r>
              <a:rPr lang="en"/>
              <a:t>This also helps us assess many of our regression assumptions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Plot residuals against time (if time-series): </a:t>
            </a:r>
            <a:r>
              <a:rPr lang="en"/>
              <a:t>This helps us detect autocorrelation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/>
              <a:t>Normal Q-Q Plot and/or Histogram of Residuals: </a:t>
            </a:r>
            <a:r>
              <a:rPr lang="en"/>
              <a:t>This helps us see if residuals are centered on zero and normally distributed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7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Residual Analysis</a:t>
            </a:r>
            <a:endParaRPr/>
          </a:p>
        </p:txBody>
      </p:sp>
      <p:sp>
        <p:nvSpPr>
          <p:cNvPr id="485" name="Google Shape;485;p75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1) Plot residuals vs fitted values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2) Plot residuals against independent variables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3) Plot residuals against time (for time-series data)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Look for patterns which may suggest: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Missing variables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Misspecification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Heteroskedasticity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Autocorrelation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Seasonality</a:t>
            </a:r>
            <a:endParaRPr/>
          </a:p>
        </p:txBody>
      </p:sp>
      <p:pic>
        <p:nvPicPr>
          <p:cNvPr id="486" name="Google Shape;486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9076" y="245350"/>
            <a:ext cx="2316324" cy="2171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" name="Google Shape;487;p7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89081" y="2669614"/>
            <a:ext cx="2316324" cy="21719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6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Diagnostic Tests</a:t>
            </a:r>
            <a:endParaRPr/>
          </a:p>
        </p:txBody>
      </p:sp>
      <p:sp>
        <p:nvSpPr>
          <p:cNvPr id="493" name="Google Shape;493;p76"/>
          <p:cNvSpPr txBox="1"/>
          <p:nvPr>
            <p:ph idx="1" type="body"/>
          </p:nvPr>
        </p:nvSpPr>
        <p:spPr>
          <a:xfrm>
            <a:off x="147450" y="1698700"/>
            <a:ext cx="31791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/>
              <a:t>There are several statistical tests used to test the assumptions in regression analysis. </a:t>
            </a:r>
            <a:endParaRPr b="1" sz="2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23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2300"/>
          </a:p>
        </p:txBody>
      </p:sp>
      <p:graphicFrame>
        <p:nvGraphicFramePr>
          <p:cNvPr id="494" name="Google Shape;494;p76"/>
          <p:cNvGraphicFramePr/>
          <p:nvPr/>
        </p:nvGraphicFramePr>
        <p:xfrm>
          <a:off x="3621675" y="1698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{10CB8524-A512-4E1B-8863-3687E2BBE5A4}</a:tableStyleId>
              </a:tblPr>
              <a:tblGrid>
                <a:gridCol w="2322975"/>
                <a:gridCol w="2811450"/>
              </a:tblGrid>
              <a:tr h="200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Test</a:t>
                      </a:r>
                      <a:endParaRPr b="1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Purpose</a:t>
                      </a:r>
                      <a:endParaRPr b="1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F-Test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Overall Model Significance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T-Test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Individual Coefficient Significance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White and Breusch-Pagan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Heteroskedasticity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Durbin-Watson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Autocorrelation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Ramsey's RESET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Functional Form / Variable Selection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Variance Inflation Factor (VIF)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Multicollinearity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Shapiro-Wilk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Normality of Residual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Cook's Distance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Influence / Outliers</a:t>
                      </a:r>
                      <a:endParaRPr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525" marB="91425" marR="9525" marL="9525" anchor="b"/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7"/>
          <p:cNvSpPr txBox="1"/>
          <p:nvPr>
            <p:ph type="title"/>
          </p:nvPr>
        </p:nvSpPr>
        <p:spPr>
          <a:xfrm>
            <a:off x="3362450" y="210250"/>
            <a:ext cx="8222100" cy="90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Outliers</a:t>
            </a:r>
            <a:endParaRPr/>
          </a:p>
        </p:txBody>
      </p:sp>
      <p:sp>
        <p:nvSpPr>
          <p:cNvPr id="500" name="Google Shape;500;p77"/>
          <p:cNvSpPr txBox="1"/>
          <p:nvPr/>
        </p:nvSpPr>
        <p:spPr>
          <a:xfrm>
            <a:off x="1183450" y="3805125"/>
            <a:ext cx="7020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Outliers do not violate any regression assumptions, but are still important to consider and potentially address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5" name="Google Shape;505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1813" y="299563"/>
            <a:ext cx="3257675" cy="2139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6" name="Google Shape;506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10862" y="290061"/>
            <a:ext cx="3257675" cy="215860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7" name="Google Shape;507;p7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91825" y="2690113"/>
            <a:ext cx="3257677" cy="215265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8"/>
          <p:cNvSpPr txBox="1"/>
          <p:nvPr/>
        </p:nvSpPr>
        <p:spPr>
          <a:xfrm>
            <a:off x="184850" y="299575"/>
            <a:ext cx="1644600" cy="46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</a:rPr>
              <a:t>Outliers</a:t>
            </a:r>
            <a:r>
              <a:rPr lang="en" sz="1000">
                <a:solidFill>
                  <a:schemeClr val="dk1"/>
                </a:solidFill>
              </a:rPr>
              <a:t>: Data that </a:t>
            </a:r>
            <a:r>
              <a:rPr b="1" lang="en" sz="1000">
                <a:solidFill>
                  <a:schemeClr val="dk1"/>
                </a:solidFill>
              </a:rPr>
              <a:t>does not follow the regression trend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- </a:t>
            </a:r>
            <a:r>
              <a:rPr b="1" lang="en" sz="1000">
                <a:solidFill>
                  <a:schemeClr val="dk1"/>
                </a:solidFill>
              </a:rPr>
              <a:t>Weird Y</a:t>
            </a:r>
            <a:r>
              <a:rPr lang="en" sz="1000">
                <a:solidFill>
                  <a:schemeClr val="dk1"/>
                </a:solidFill>
              </a:rPr>
              <a:t> (Large residual)</a:t>
            </a:r>
            <a:endParaRPr b="1" sz="1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</a:rPr>
              <a:t>Leverage</a:t>
            </a:r>
            <a:r>
              <a:rPr lang="en" sz="1000">
                <a:solidFill>
                  <a:schemeClr val="dk1"/>
                </a:solidFill>
              </a:rPr>
              <a:t>: Data with an </a:t>
            </a:r>
            <a:r>
              <a:rPr b="1" lang="en" sz="1000">
                <a:solidFill>
                  <a:schemeClr val="dk1"/>
                </a:solidFill>
              </a:rPr>
              <a:t>extreme X value - Weird X</a:t>
            </a:r>
            <a:r>
              <a:rPr lang="en" sz="1000">
                <a:solidFill>
                  <a:schemeClr val="dk1"/>
                </a:solidFill>
              </a:rPr>
              <a:t> (Far from the average predictor values)</a:t>
            </a:r>
            <a:endParaRPr b="1" sz="1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</a:rPr>
              <a:t>Influence</a:t>
            </a:r>
            <a:r>
              <a:rPr lang="en" sz="1000">
                <a:solidFill>
                  <a:schemeClr val="dk1"/>
                </a:solidFill>
              </a:rPr>
              <a:t>: A point that </a:t>
            </a:r>
            <a:r>
              <a:rPr b="1" lang="en" sz="1000">
                <a:solidFill>
                  <a:schemeClr val="dk1"/>
                </a:solidFill>
              </a:rPr>
              <a:t>changes the regression line significantly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- Often: </a:t>
            </a:r>
            <a:r>
              <a:rPr b="1" lang="en" sz="1000">
                <a:solidFill>
                  <a:schemeClr val="dk1"/>
                </a:solidFill>
              </a:rPr>
              <a:t>Outlier + High Leverage</a:t>
            </a:r>
            <a:endParaRPr sz="1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</a:rPr>
              <a:t>High-influence observations may be a problem - </a:t>
            </a:r>
            <a:r>
              <a:rPr lang="en" sz="1000">
                <a:solidFill>
                  <a:schemeClr val="dk1"/>
                </a:solidFill>
              </a:rPr>
              <a:t>They can </a:t>
            </a:r>
            <a:r>
              <a:rPr b="1" lang="en" sz="1000">
                <a:solidFill>
                  <a:schemeClr val="dk1"/>
                </a:solidFill>
              </a:rPr>
              <a:t>distort the model</a:t>
            </a:r>
            <a:r>
              <a:rPr lang="en" sz="1000">
                <a:solidFill>
                  <a:schemeClr val="dk1"/>
                </a:solidFill>
              </a:rPr>
              <a:t>, so they should be investigated (not blindly deleted)</a:t>
            </a: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09" name="Google Shape;509;p7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510875" y="2690125"/>
            <a:ext cx="3257650" cy="21561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4" name="Google Shape;514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7757" y="1529850"/>
            <a:ext cx="3436592" cy="229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5" name="Google Shape;515;p7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1999" y="1529850"/>
            <a:ext cx="3465099" cy="22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0" name="Google Shape;520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4463" y="152400"/>
            <a:ext cx="8115073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81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Outlier Detection</a:t>
            </a:r>
            <a:endParaRPr/>
          </a:p>
        </p:txBody>
      </p:sp>
      <p:sp>
        <p:nvSpPr>
          <p:cNvPr id="526" name="Google Shape;526;p81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Standardized Residuals</a:t>
            </a:r>
            <a:r>
              <a:rPr lang="en"/>
              <a:t>: Residuals / Standard Deviation of Residuals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Rule of Thumb: If standardized residual &gt; 3 or &lt; -3, it is an outlier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Studentized Residuals</a:t>
            </a:r>
            <a:r>
              <a:rPr lang="en"/>
              <a:t>: Complicated formula, get the computer to do it for you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Rule of Thumb: If studentized residual &gt; 3 or &lt; -3, it is an outlier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Cook’s Distance: </a:t>
            </a:r>
            <a:r>
              <a:rPr lang="en"/>
              <a:t>Measures impact on coefficients for each observation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Rule of Thumb: If Cook’s D &gt; 4/(n-k), it is an outlier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Leverage Values: </a:t>
            </a:r>
            <a:r>
              <a:rPr lang="en"/>
              <a:t>Complicated formula, get the computer to do it for you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Rule of thumb: Points with leverage greater than (2×k)/n have high leverage and are </a:t>
            </a:r>
            <a:r>
              <a:rPr i="1" lang="en"/>
              <a:t>potential </a:t>
            </a:r>
            <a:r>
              <a:rPr lang="en"/>
              <a:t>outliers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82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Cook’s D(istance)</a:t>
            </a:r>
            <a:endParaRPr/>
          </a:p>
        </p:txBody>
      </p:sp>
      <p:sp>
        <p:nvSpPr>
          <p:cNvPr id="532" name="Google Shape;532;p82"/>
          <p:cNvSpPr txBox="1"/>
          <p:nvPr>
            <p:ph idx="1" type="body"/>
          </p:nvPr>
        </p:nvSpPr>
        <p:spPr>
          <a:xfrm>
            <a:off x="387900" y="1489825"/>
            <a:ext cx="41841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Measures how much all fitted values change when a single observation is removed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Observations with D &gt; 1 are suspicious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Observations with D &gt; 4/n are potentially influential</a:t>
            </a:r>
            <a:endParaRPr/>
          </a:p>
        </p:txBody>
      </p:sp>
      <p:pic>
        <p:nvPicPr>
          <p:cNvPr id="533" name="Google Shape;533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4400" y="2186725"/>
            <a:ext cx="4267199" cy="25443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40808" y="260125"/>
            <a:ext cx="3373792" cy="1229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83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Outliers</a:t>
            </a:r>
            <a:endParaRPr/>
          </a:p>
        </p:txBody>
      </p:sp>
      <p:sp>
        <p:nvSpPr>
          <p:cNvPr id="540" name="Google Shape;540;p83"/>
          <p:cNvSpPr txBox="1"/>
          <p:nvPr>
            <p:ph idx="1" type="body"/>
          </p:nvPr>
        </p:nvSpPr>
        <p:spPr>
          <a:xfrm>
            <a:off x="3889188" y="1144125"/>
            <a:ext cx="27525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Consequences: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Estimates are pulled in the direction of the outlier, possibly distorting the real signal being measured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83"/>
          <p:cNvSpPr txBox="1"/>
          <p:nvPr>
            <p:ph idx="1" type="body"/>
          </p:nvPr>
        </p:nvSpPr>
        <p:spPr>
          <a:xfrm>
            <a:off x="278250" y="1032300"/>
            <a:ext cx="34188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50"/>
              <a:t>Detection: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50"/>
              <a:t>Residual Plot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50"/>
              <a:t>Standardized and Studentized Residuals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50"/>
              <a:t>&gt; 3 or &lt; -3 might be outliers</a:t>
            </a:r>
            <a:endParaRPr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50"/>
              <a:t>Cook’s D</a:t>
            </a:r>
            <a:endParaRPr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50"/>
              <a:t>Observations with Cook’s D &gt; 4/n might be influential outliers</a:t>
            </a:r>
            <a:endParaRPr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50"/>
              <a:t>DFBeta: </a:t>
            </a:r>
            <a:endParaRPr b="1" sz="125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250"/>
              <a:t>Shows impact of removing single value on regression equation</a:t>
            </a:r>
            <a:endParaRPr sz="1250"/>
          </a:p>
        </p:txBody>
      </p:sp>
      <p:sp>
        <p:nvSpPr>
          <p:cNvPr id="542" name="Google Shape;542;p83"/>
          <p:cNvSpPr txBox="1"/>
          <p:nvPr>
            <p:ph idx="1" type="body"/>
          </p:nvPr>
        </p:nvSpPr>
        <p:spPr>
          <a:xfrm>
            <a:off x="6462075" y="1144125"/>
            <a:ext cx="27525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Solution: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1) Drop outliers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2) Don’t drop outliers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3) Robust regression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4) Report results with and without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84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 10</a:t>
            </a:r>
            <a:endParaRPr/>
          </a:p>
        </p:txBody>
      </p:sp>
      <p:sp>
        <p:nvSpPr>
          <p:cNvPr id="548" name="Google Shape;548;p84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Residuals are normally distributed (and centered on zero)</a:t>
            </a:r>
            <a:endParaRPr/>
          </a:p>
        </p:txBody>
      </p:sp>
      <p:pic>
        <p:nvPicPr>
          <p:cNvPr id="549" name="Google Shape;549;p84"/>
          <p:cNvPicPr preferRelativeResize="0"/>
          <p:nvPr/>
        </p:nvPicPr>
        <p:blipFill rotWithShape="1">
          <a:blip r:embed="rId3">
            <a:alphaModFix/>
          </a:blip>
          <a:srcRect b="3818" l="0" r="0" t="0"/>
          <a:stretch/>
        </p:blipFill>
        <p:spPr>
          <a:xfrm>
            <a:off x="4749958" y="1209075"/>
            <a:ext cx="4216074" cy="2896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8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Errors / Residuals</a:t>
            </a:r>
            <a:endParaRPr/>
          </a:p>
        </p:txBody>
      </p:sp>
      <p:sp>
        <p:nvSpPr>
          <p:cNvPr id="555" name="Google Shape;555;p85"/>
          <p:cNvSpPr txBox="1"/>
          <p:nvPr>
            <p:ph idx="1" type="body"/>
          </p:nvPr>
        </p:nvSpPr>
        <p:spPr>
          <a:xfrm>
            <a:off x="387900" y="1489825"/>
            <a:ext cx="4549500" cy="329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a correctly specified model: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1) Residuals should appear random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2) Residuals should be centered on zero - If they weren’t, the model would be systematically over / under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3) Residuals should be normally distributed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Normally distributed residuals is not strictly needed for inference unless sample is small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556" name="Google Shape;556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6703" y="1144125"/>
            <a:ext cx="2435750" cy="854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7" name="Google Shape;557;p85"/>
          <p:cNvPicPr preferRelativeResize="0"/>
          <p:nvPr/>
        </p:nvPicPr>
        <p:blipFill rotWithShape="1">
          <a:blip r:embed="rId4">
            <a:alphaModFix/>
          </a:blip>
          <a:srcRect b="3818" l="0" r="0" t="0"/>
          <a:stretch/>
        </p:blipFill>
        <p:spPr>
          <a:xfrm>
            <a:off x="5255975" y="2405625"/>
            <a:ext cx="3383224" cy="232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86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Gauss-Markov</a:t>
            </a:r>
            <a:endParaRPr/>
          </a:p>
        </p:txBody>
      </p:sp>
      <p:sp>
        <p:nvSpPr>
          <p:cNvPr id="563" name="Google Shape;563;p86"/>
          <p:cNvSpPr txBox="1"/>
          <p:nvPr>
            <p:ph idx="1" type="body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assumptions are met: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1) </a:t>
            </a:r>
            <a:r>
              <a:rPr lang="en"/>
              <a:t>Linearity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2) Random sampling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3) No </a:t>
            </a:r>
            <a:r>
              <a:rPr lang="en"/>
              <a:t>perfect</a:t>
            </a:r>
            <a:r>
              <a:rPr lang="en"/>
              <a:t> </a:t>
            </a:r>
            <a:r>
              <a:rPr lang="en"/>
              <a:t>multicollinearity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4) Zero </a:t>
            </a:r>
            <a:r>
              <a:rPr lang="en"/>
              <a:t>conditional mean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5) Homoscedasticity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OLS is BLUE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Best Linear Unbiased Estimator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64" name="Google Shape;564;p86"/>
          <p:cNvSpPr txBox="1"/>
          <p:nvPr>
            <p:ph idx="2" type="body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Best: Minimum variance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Var(B_OLS) &lt; Var(B_Any other linear unbiased estimator)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Unbiased: On average, the </a:t>
            </a:r>
            <a:r>
              <a:rPr lang="en"/>
              <a:t>estimate</a:t>
            </a:r>
            <a:r>
              <a:rPr lang="en"/>
              <a:t> is correct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E[B-hat] = B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Among all ways to estimate the </a:t>
            </a:r>
            <a:r>
              <a:rPr lang="en"/>
              <a:t>relationship</a:t>
            </a:r>
            <a:r>
              <a:rPr lang="en"/>
              <a:t>, OLS is the least “noisy”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