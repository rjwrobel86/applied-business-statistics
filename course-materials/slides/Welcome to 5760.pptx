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b81a9c42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b81a9c42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5b81a9c42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5b81a9c42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5b81a9c42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5b81a9c42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5b81a9c42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5b81a9c42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b81a9c4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5b81a9c4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5b81a9c42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5b81a9c42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b81a9c42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5b81a9c42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5b81a9c42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5b81a9c42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b81a9c42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5b81a9c42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5b81a9c42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5b81a9c42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d7b7de04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d7b7de04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b9bb02a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5b9bb02a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mailto:robertwrobel49@webster.edu"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github.com/rjwrobel86/python4statistic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github.com/rjwrobel86/Python4Statistics" TargetMode="External"/><Relationship Id="rId4" Type="http://schemas.openxmlformats.org/officeDocument/2006/relationships/hyperlink" Target="https://www.anaconda.com/download/success" TargetMode="External"/><Relationship Id="rId5" Type="http://schemas.openxmlformats.org/officeDocument/2006/relationships/hyperlink" Target="https://thecrashcourse.com/topic/statistics/" TargetMode="External"/><Relationship Id="rId6" Type="http://schemas.openxmlformats.org/officeDocument/2006/relationships/hyperlink" Target="https://www.khanacademy.org/math/statistics-probabil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Welcome to 5760</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Applied Business Statistics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 - Robert Wrobel</a:t>
            </a:r>
            <a:endParaRPr sz="1800">
              <a:solidFill>
                <a:schemeClr val="dk2"/>
              </a:solidFill>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Education: Philosophy (BA), Economics (BS), Political Science (MA), Political Science - Political Economy / Public Policy (PhD in progress / ABD)</a:t>
            </a:r>
            <a:endParaRPr/>
          </a:p>
          <a:p>
            <a:pPr indent="0" lvl="0" marL="0" rtl="0" algn="l">
              <a:spcBef>
                <a:spcPts val="1200"/>
              </a:spcBef>
              <a:spcAft>
                <a:spcPts val="0"/>
              </a:spcAft>
              <a:buNone/>
            </a:pPr>
            <a:r>
              <a:rPr lang="en"/>
              <a:t>Taught here (and elsewhere) for 10ish years now</a:t>
            </a:r>
            <a:endParaRPr/>
          </a:p>
          <a:p>
            <a:pPr indent="0" lvl="0" marL="0" rtl="0" algn="l">
              <a:spcBef>
                <a:spcPts val="1200"/>
              </a:spcBef>
              <a:spcAft>
                <a:spcPts val="0"/>
              </a:spcAft>
              <a:buNone/>
            </a:pPr>
            <a:r>
              <a:rPr lang="en"/>
              <a:t>Courses taught: Applied Business Statistics, Quantitative Methods, Introductory Statistics, Current Economic Analysis, Managerial Economics, Introductory Economics, Introductory Microeconomics</a:t>
            </a:r>
            <a:endParaRPr/>
          </a:p>
          <a:p>
            <a:pPr indent="0" lvl="0" marL="0" rtl="0" algn="l">
              <a:spcBef>
                <a:spcPts val="1200"/>
              </a:spcBef>
              <a:spcAft>
                <a:spcPts val="0"/>
              </a:spcAft>
              <a:buNone/>
            </a:pPr>
            <a:r>
              <a:rPr lang="en"/>
              <a:t>Programming languages taught / used: Python, R, Stata, Javascript</a:t>
            </a:r>
            <a:endParaRPr/>
          </a:p>
          <a:p>
            <a:pPr indent="0" lvl="0" marL="0" rtl="0" algn="l">
              <a:spcBef>
                <a:spcPts val="1200"/>
              </a:spcBef>
              <a:spcAft>
                <a:spcPts val="0"/>
              </a:spcAft>
              <a:buNone/>
            </a:pPr>
            <a:r>
              <a:rPr lang="en"/>
              <a:t>Other related interests: </a:t>
            </a:r>
            <a:r>
              <a:rPr lang="en"/>
              <a:t>Electronics, IoT &amp; Microcontrollers (</a:t>
            </a:r>
            <a:r>
              <a:rPr lang="en"/>
              <a:t>Arduino / Raspberry Pi)</a:t>
            </a:r>
            <a:endParaRPr/>
          </a:p>
          <a:p>
            <a:pPr indent="0" lvl="0" marL="0" rtl="0" algn="l">
              <a:spcBef>
                <a:spcPts val="1200"/>
              </a:spcBef>
              <a:spcAft>
                <a:spcPts val="1200"/>
              </a:spcAft>
              <a:buNone/>
            </a:pPr>
            <a:r>
              <a:rPr lang="en"/>
              <a:t>What I do professionally: I am the IT and Marketing manager for a group of car dealerships.  I analyze data and use it to make business </a:t>
            </a:r>
            <a:r>
              <a:rPr lang="en"/>
              <a:t>decisions!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Contacting Me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t>Email: </a:t>
            </a:r>
            <a:r>
              <a:rPr lang="en" u="sng">
                <a:solidFill>
                  <a:schemeClr val="hlink"/>
                </a:solidFill>
                <a:hlinkClick r:id="rId3"/>
              </a:rPr>
              <a:t>robertwrobel49@webster.edu</a:t>
            </a:r>
            <a:endParaRPr/>
          </a:p>
          <a:p>
            <a:pPr indent="0" lvl="0" marL="0" rtl="0" algn="l">
              <a:spcBef>
                <a:spcPts val="1200"/>
              </a:spcBef>
              <a:spcAft>
                <a:spcPts val="0"/>
              </a:spcAft>
              <a:buNone/>
            </a:pPr>
            <a:r>
              <a:rPr lang="en"/>
              <a:t>Phone: (314) 825-6315</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I prefer texting and am much better at responding to texts.  </a:t>
            </a:r>
            <a:endParaRPr/>
          </a:p>
          <a:p>
            <a:pPr indent="0" lvl="0" marL="0" rtl="0" algn="l">
              <a:spcBef>
                <a:spcPts val="1200"/>
              </a:spcBef>
              <a:spcAft>
                <a:spcPts val="0"/>
              </a:spcAft>
              <a:buNone/>
            </a:pPr>
            <a:r>
              <a:rPr lang="en"/>
              <a:t>If you call, text first and let me know you’re a student or I’ll probably ignore the call.</a:t>
            </a:r>
            <a:endParaRPr/>
          </a:p>
          <a:p>
            <a:pPr indent="0" lvl="0" marL="0" rtl="0" algn="l">
              <a:spcBef>
                <a:spcPts val="1200"/>
              </a:spcBef>
              <a:spcAft>
                <a:spcPts val="0"/>
              </a:spcAft>
              <a:buNone/>
            </a:pPr>
            <a:r>
              <a:rPr lang="en"/>
              <a:t>Please keep all phone / text correspondence between 9 AM and 11 PM, unless your goal is to </a:t>
            </a:r>
            <a:r>
              <a:rPr lang="en"/>
              <a:t>irritate</a:t>
            </a:r>
            <a:r>
              <a:rPr lang="en"/>
              <a:t> me.</a:t>
            </a:r>
            <a:endParaRPr/>
          </a:p>
          <a:p>
            <a:pPr indent="0" lvl="0" marL="0" rtl="0" algn="l">
              <a:spcBef>
                <a:spcPts val="1200"/>
              </a:spcBef>
              <a:spcAft>
                <a:spcPts val="1200"/>
              </a:spcAft>
              <a:buNone/>
            </a:pPr>
            <a:r>
              <a:rPr lang="en"/>
              <a:t>I am happy to meet outside of class and/or do Zoom calls.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Contacting Me with AI</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DON’T</a:t>
            </a:r>
            <a:endParaRPr sz="3900"/>
          </a:p>
          <a:p>
            <a:pPr indent="0" lvl="0" marL="0" rtl="0" algn="l">
              <a:spcBef>
                <a:spcPts val="1200"/>
              </a:spcBef>
              <a:spcAft>
                <a:spcPts val="0"/>
              </a:spcAft>
              <a:buNone/>
            </a:pPr>
            <a:r>
              <a:rPr lang="en"/>
              <a:t>I absolutely detest emails, texts, etc. that are generated by AI.</a:t>
            </a:r>
            <a:endParaRPr/>
          </a:p>
          <a:p>
            <a:pPr indent="0" lvl="0" marL="0" rtl="0" algn="l">
              <a:spcBef>
                <a:spcPts val="1200"/>
              </a:spcBef>
              <a:spcAft>
                <a:spcPts val="0"/>
              </a:spcAft>
              <a:buNone/>
            </a:pPr>
            <a:r>
              <a:rPr lang="en"/>
              <a:t>I would much rather read typos, slang, broken english, etc. than another..</a:t>
            </a:r>
            <a:endParaRPr/>
          </a:p>
          <a:p>
            <a:pPr indent="0" lvl="0" marL="0" rtl="0" algn="l">
              <a:spcBef>
                <a:spcPts val="1200"/>
              </a:spcBef>
              <a:spcAft>
                <a:spcPts val="1200"/>
              </a:spcAft>
              <a:buNone/>
            </a:pPr>
            <a:r>
              <a:rPr lang="en" sz="2100"/>
              <a:t> </a:t>
            </a:r>
            <a:r>
              <a:rPr i="1" lang="en" sz="2100" u="sng"/>
              <a:t>“I hope this letter finds you well”</a:t>
            </a:r>
            <a:endParaRPr i="1" sz="2100"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Class - Applied Business Statistics</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Data Visualization</a:t>
            </a:r>
            <a:endParaRPr/>
          </a:p>
          <a:p>
            <a:pPr indent="0" lvl="0" marL="0" rtl="0" algn="l">
              <a:spcBef>
                <a:spcPts val="1200"/>
              </a:spcBef>
              <a:spcAft>
                <a:spcPts val="0"/>
              </a:spcAft>
              <a:buNone/>
            </a:pPr>
            <a:r>
              <a:rPr lang="en"/>
              <a:t>Descriptive Statistics</a:t>
            </a:r>
            <a:endParaRPr/>
          </a:p>
          <a:p>
            <a:pPr indent="0" lvl="0" marL="0" rtl="0" algn="l">
              <a:spcBef>
                <a:spcPts val="1200"/>
              </a:spcBef>
              <a:spcAft>
                <a:spcPts val="0"/>
              </a:spcAft>
              <a:buNone/>
            </a:pPr>
            <a:r>
              <a:rPr lang="en"/>
              <a:t>Sampling</a:t>
            </a:r>
            <a:endParaRPr/>
          </a:p>
          <a:p>
            <a:pPr indent="0" lvl="0" marL="0" rtl="0" algn="l">
              <a:spcBef>
                <a:spcPts val="1200"/>
              </a:spcBef>
              <a:spcAft>
                <a:spcPts val="0"/>
              </a:spcAft>
              <a:buNone/>
            </a:pPr>
            <a:r>
              <a:rPr lang="en"/>
              <a:t>Probability</a:t>
            </a:r>
            <a:endParaRPr/>
          </a:p>
          <a:p>
            <a:pPr indent="0" lvl="0" marL="0" rtl="0" algn="l">
              <a:spcBef>
                <a:spcPts val="1200"/>
              </a:spcBef>
              <a:spcAft>
                <a:spcPts val="0"/>
              </a:spcAft>
              <a:buNone/>
            </a:pPr>
            <a:r>
              <a:rPr lang="en"/>
              <a:t>Hypothesis Testing</a:t>
            </a:r>
            <a:endParaRPr/>
          </a:p>
          <a:p>
            <a:pPr indent="0" lvl="0" marL="0" rtl="0" algn="l">
              <a:spcBef>
                <a:spcPts val="1200"/>
              </a:spcBef>
              <a:spcAft>
                <a:spcPts val="0"/>
              </a:spcAft>
              <a:buNone/>
            </a:pPr>
            <a:r>
              <a:rPr lang="en"/>
              <a:t>Analysis of Variance </a:t>
            </a:r>
            <a:endParaRPr/>
          </a:p>
          <a:p>
            <a:pPr indent="0" lvl="0" marL="0" rtl="0" algn="l">
              <a:spcBef>
                <a:spcPts val="1200"/>
              </a:spcBef>
              <a:spcAft>
                <a:spcPts val="0"/>
              </a:spcAft>
              <a:buNone/>
            </a:pPr>
            <a:r>
              <a:rPr lang="en"/>
              <a:t>Regression</a:t>
            </a:r>
            <a:endParaRPr/>
          </a:p>
          <a:p>
            <a:pPr indent="0" lvl="0" marL="0" rtl="0" algn="l">
              <a:spcBef>
                <a:spcPts val="1200"/>
              </a:spcBef>
              <a:spcAft>
                <a:spcPts val="0"/>
              </a:spcAft>
              <a:buNone/>
            </a:pPr>
            <a:r>
              <a:rPr lang="en"/>
              <a:t>Causal Inference</a:t>
            </a:r>
            <a:endParaRPr/>
          </a:p>
          <a:p>
            <a:pPr indent="0" lvl="0" marL="0" rtl="0" algn="l">
              <a:spcBef>
                <a:spcPts val="1200"/>
              </a:spcBef>
              <a:spcAft>
                <a:spcPts val="0"/>
              </a:spcAft>
              <a:buNone/>
            </a:pPr>
            <a:r>
              <a:rPr lang="en"/>
              <a:t>Time Series Analysis, and…</a:t>
            </a:r>
            <a:endParaRPr/>
          </a:p>
          <a:p>
            <a:pPr indent="0" lvl="0" marL="0" rtl="0" algn="l">
              <a:spcBef>
                <a:spcPts val="1200"/>
              </a:spcBef>
              <a:spcAft>
                <a:spcPts val="0"/>
              </a:spcAft>
              <a:buNone/>
            </a:pPr>
            <a:r>
              <a:rPr lang="en"/>
              <a:t>Python - So you can actually do / apply this stuff in real life / with real data! </a:t>
            </a:r>
            <a:endParaRPr/>
          </a:p>
          <a:p>
            <a:pPr indent="0" lvl="0" marL="0" rtl="0" algn="l">
              <a:spcBef>
                <a:spcPts val="1200"/>
              </a:spcBef>
              <a:spcAft>
                <a:spcPts val="1200"/>
              </a:spcAft>
              <a:buNone/>
            </a:pPr>
            <a:r>
              <a:rPr b="1" lang="en"/>
              <a:t>Don’t Panic.  I will teach you </a:t>
            </a:r>
            <a:r>
              <a:rPr b="1" lang="en"/>
              <a:t>everything</a:t>
            </a:r>
            <a:r>
              <a:rPr b="1" lang="en"/>
              <a:t> you need to know!</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Grade</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25% - Assignment 1 - Data Wrangling with Pandas</a:t>
            </a:r>
            <a:endParaRPr/>
          </a:p>
          <a:p>
            <a:pPr indent="0" lvl="0" marL="0" rtl="0" algn="l">
              <a:spcBef>
                <a:spcPts val="1200"/>
              </a:spcBef>
              <a:spcAft>
                <a:spcPts val="0"/>
              </a:spcAft>
              <a:buNone/>
            </a:pPr>
            <a:r>
              <a:rPr lang="en"/>
              <a:t>25% - Assignment 2 - Linear Regression with Statsmodels</a:t>
            </a:r>
            <a:endParaRPr/>
          </a:p>
          <a:p>
            <a:pPr indent="0" lvl="0" marL="0" rtl="0" algn="l">
              <a:spcBef>
                <a:spcPts val="1200"/>
              </a:spcBef>
              <a:spcAft>
                <a:spcPts val="0"/>
              </a:spcAft>
              <a:buNone/>
            </a:pPr>
            <a:r>
              <a:rPr lang="en"/>
              <a:t>25% - Exam 1 - Descriptive Statistics, Probability, </a:t>
            </a:r>
            <a:r>
              <a:rPr lang="en"/>
              <a:t>Hypothesis</a:t>
            </a:r>
            <a:r>
              <a:rPr lang="en"/>
              <a:t> Testing, etc.</a:t>
            </a:r>
            <a:endParaRPr/>
          </a:p>
          <a:p>
            <a:pPr indent="0" lvl="0" marL="0" rtl="0" algn="l">
              <a:spcBef>
                <a:spcPts val="1200"/>
              </a:spcBef>
              <a:spcAft>
                <a:spcPts val="0"/>
              </a:spcAft>
              <a:buNone/>
            </a:pPr>
            <a:r>
              <a:rPr lang="en"/>
              <a:t>25% - Exam 2 - Regression, Time Series Analysis, etc.</a:t>
            </a:r>
            <a:endParaRPr/>
          </a:p>
          <a:p>
            <a:pPr indent="0" lvl="0" marL="0" rtl="0" algn="l">
              <a:spcBef>
                <a:spcPts val="1200"/>
              </a:spcBef>
              <a:spcAft>
                <a:spcPts val="0"/>
              </a:spcAft>
              <a:buNone/>
            </a:pPr>
            <a:r>
              <a:rPr lang="en"/>
              <a:t>?% - Extra Credit - TBD and based on class worthiness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Exam 1 is likely taking place in week 5 and exam 2 in week 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Succeed</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This class is hard for a lot of students, but it really doesn’t have to be.  </a:t>
            </a:r>
            <a:endParaRPr/>
          </a:p>
          <a:p>
            <a:pPr indent="0" lvl="0" marL="0" rtl="0" algn="l">
              <a:spcBef>
                <a:spcPts val="1200"/>
              </a:spcBef>
              <a:spcAft>
                <a:spcPts val="0"/>
              </a:spcAft>
              <a:buNone/>
            </a:pPr>
            <a:r>
              <a:rPr lang="en"/>
              <a:t>Pro tips:</a:t>
            </a:r>
            <a:endParaRPr/>
          </a:p>
          <a:p>
            <a:pPr indent="-325755" lvl="0" marL="457200" rtl="0" algn="l">
              <a:spcBef>
                <a:spcPts val="1200"/>
              </a:spcBef>
              <a:spcAft>
                <a:spcPts val="0"/>
              </a:spcAft>
              <a:buSzPct val="100000"/>
              <a:buAutoNum type="arabicParenR"/>
            </a:pPr>
            <a:r>
              <a:rPr lang="en"/>
              <a:t>Put away your phones and computers (unless needed for the in-class activity)</a:t>
            </a:r>
            <a:endParaRPr/>
          </a:p>
          <a:p>
            <a:pPr indent="-325755" lvl="0" marL="457200" rtl="0" algn="l">
              <a:spcBef>
                <a:spcPts val="0"/>
              </a:spcBef>
              <a:spcAft>
                <a:spcPts val="0"/>
              </a:spcAft>
              <a:buSzPct val="100000"/>
              <a:buAutoNum type="arabicParenR"/>
            </a:pPr>
            <a:r>
              <a:rPr lang="en"/>
              <a:t>Don’t talk during the lectures</a:t>
            </a:r>
            <a:endParaRPr/>
          </a:p>
          <a:p>
            <a:pPr indent="-325755" lvl="0" marL="457200" rtl="0" algn="l">
              <a:spcBef>
                <a:spcPts val="0"/>
              </a:spcBef>
              <a:spcAft>
                <a:spcPts val="0"/>
              </a:spcAft>
              <a:buSzPct val="100000"/>
              <a:buAutoNum type="arabicParenR"/>
            </a:pPr>
            <a:r>
              <a:rPr lang="en"/>
              <a:t>Pay attention - Don’t just listen, think!</a:t>
            </a:r>
            <a:endParaRPr/>
          </a:p>
          <a:p>
            <a:pPr indent="-325755" lvl="0" marL="457200" rtl="0" algn="l">
              <a:spcBef>
                <a:spcPts val="0"/>
              </a:spcBef>
              <a:spcAft>
                <a:spcPts val="0"/>
              </a:spcAft>
              <a:buSzPct val="100000"/>
              <a:buAutoNum type="arabicParenR"/>
            </a:pPr>
            <a:r>
              <a:rPr lang="en"/>
              <a:t>Ask questions any time you don’t understand something</a:t>
            </a:r>
            <a:endParaRPr/>
          </a:p>
          <a:p>
            <a:pPr indent="-325755" lvl="0" marL="457200" rtl="0" algn="l">
              <a:spcBef>
                <a:spcPts val="0"/>
              </a:spcBef>
              <a:spcAft>
                <a:spcPts val="0"/>
              </a:spcAft>
              <a:buSzPct val="100000"/>
              <a:buAutoNum type="arabicParenR"/>
            </a:pPr>
            <a:r>
              <a:rPr lang="en"/>
              <a:t>Do the in class practice </a:t>
            </a:r>
            <a:endParaRPr/>
          </a:p>
          <a:p>
            <a:pPr indent="-325755" lvl="0" marL="457200" rtl="0" algn="l">
              <a:spcBef>
                <a:spcPts val="0"/>
              </a:spcBef>
              <a:spcAft>
                <a:spcPts val="0"/>
              </a:spcAft>
              <a:buSzPct val="100000"/>
              <a:buAutoNum type="arabicParenR"/>
            </a:pPr>
            <a:r>
              <a:rPr lang="en"/>
              <a:t>Come to each lecture</a:t>
            </a:r>
            <a:endParaRPr/>
          </a:p>
          <a:p>
            <a:pPr indent="-325755" lvl="0" marL="457200" rtl="0" algn="l">
              <a:spcBef>
                <a:spcPts val="0"/>
              </a:spcBef>
              <a:spcAft>
                <a:spcPts val="0"/>
              </a:spcAft>
              <a:buSzPct val="100000"/>
              <a:buAutoNum type="arabicParenR"/>
            </a:pPr>
            <a:r>
              <a:rPr lang="en"/>
              <a:t>Use my additional study resources (in the </a:t>
            </a:r>
            <a:r>
              <a:rPr lang="en" u="sng">
                <a:solidFill>
                  <a:schemeClr val="hlink"/>
                </a:solidFill>
                <a:hlinkClick r:id="rId3"/>
              </a:rPr>
              <a:t>Github repo</a:t>
            </a:r>
            <a:r>
              <a:rPr lang="en"/>
              <a:t>)</a:t>
            </a:r>
            <a:endParaRPr/>
          </a:p>
          <a:p>
            <a:pPr indent="-325755" lvl="0" marL="457200" rtl="0" algn="l">
              <a:spcBef>
                <a:spcPts val="0"/>
              </a:spcBef>
              <a:spcAft>
                <a:spcPts val="0"/>
              </a:spcAft>
              <a:buSzPct val="100000"/>
              <a:buAutoNum type="arabicParenR"/>
            </a:pPr>
            <a:r>
              <a:rPr lang="en"/>
              <a:t>Reach out to me for assistance outside of class*</a:t>
            </a:r>
            <a:endParaRPr/>
          </a:p>
          <a:p>
            <a:pPr indent="0" lvl="0" marL="0" rtl="0" algn="l">
              <a:spcBef>
                <a:spcPts val="1200"/>
              </a:spcBef>
              <a:spcAft>
                <a:spcPts val="1200"/>
              </a:spcAft>
              <a:buNone/>
            </a:pPr>
            <a:r>
              <a:rPr lang="en"/>
              <a:t>No student who has done </a:t>
            </a:r>
            <a:r>
              <a:rPr b="1" lang="en"/>
              <a:t>honest*</a:t>
            </a:r>
            <a:r>
              <a:rPr lang="en"/>
              <a:t> work and asked for my help understanding the material has failed my course and almost everyone who puts in real effort gets an A or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Fail</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 am not saying this to scare you or make myself seem mean, tough, etc., but…</a:t>
            </a:r>
            <a:endParaRPr/>
          </a:p>
          <a:p>
            <a:pPr indent="0" lvl="0" marL="0" rtl="0" algn="l">
              <a:spcBef>
                <a:spcPts val="1200"/>
              </a:spcBef>
              <a:spcAft>
                <a:spcPts val="0"/>
              </a:spcAft>
              <a:buNone/>
            </a:pPr>
            <a:r>
              <a:rPr lang="en"/>
              <a:t>I fail a lot of students, roughly a </a:t>
            </a:r>
            <a:r>
              <a:rPr lang="en"/>
              <a:t>third,</a:t>
            </a:r>
            <a:r>
              <a:rPr lang="en"/>
              <a:t> and this occurs for two reasons:</a:t>
            </a:r>
            <a:endParaRPr/>
          </a:p>
          <a:p>
            <a:pPr indent="-325755" lvl="0" marL="457200" rtl="0" algn="l">
              <a:spcBef>
                <a:spcPts val="1200"/>
              </a:spcBef>
              <a:spcAft>
                <a:spcPts val="0"/>
              </a:spcAft>
              <a:buSzPct val="100000"/>
              <a:buAutoNum type="arabicParenR"/>
            </a:pPr>
            <a:r>
              <a:rPr lang="en"/>
              <a:t>Plagiarism</a:t>
            </a:r>
            <a:r>
              <a:rPr lang="en"/>
              <a:t> on the homework assignments </a:t>
            </a:r>
            <a:endParaRPr/>
          </a:p>
          <a:p>
            <a:pPr indent="-325755" lvl="0" marL="457200" rtl="0" algn="l">
              <a:spcBef>
                <a:spcPts val="0"/>
              </a:spcBef>
              <a:spcAft>
                <a:spcPts val="0"/>
              </a:spcAft>
              <a:buSzPct val="100000"/>
              <a:buAutoNum type="arabicParenR"/>
            </a:pPr>
            <a:r>
              <a:rPr lang="en"/>
              <a:t>Cheating on the exams</a:t>
            </a:r>
            <a:endParaRPr/>
          </a:p>
          <a:p>
            <a:pPr indent="0" lvl="0" marL="0" rtl="0" algn="l">
              <a:spcBef>
                <a:spcPts val="1200"/>
              </a:spcBef>
              <a:spcAft>
                <a:spcPts val="0"/>
              </a:spcAft>
              <a:buNone/>
            </a:pPr>
            <a:r>
              <a:rPr lang="en"/>
              <a:t>If you cannot do you own honest work in this course, I beg you to just drop the class now and spare us both the </a:t>
            </a:r>
            <a:r>
              <a:rPr lang="en"/>
              <a:t>frustration</a:t>
            </a:r>
            <a:r>
              <a:rPr lang="en"/>
              <a:t> and heartache.  </a:t>
            </a:r>
            <a:endParaRPr/>
          </a:p>
          <a:p>
            <a:pPr indent="0" lvl="0" marL="0" rtl="0" algn="l">
              <a:spcBef>
                <a:spcPts val="1200"/>
              </a:spcBef>
              <a:spcAft>
                <a:spcPts val="0"/>
              </a:spcAft>
              <a:buNone/>
            </a:pPr>
            <a:r>
              <a:rPr lang="en"/>
              <a:t>Some of you may be tricky enough to actually successfully cheat, but sooooooo many of those who thought they were that tricky turned out to be not anywhere near as tricky as they thought.  </a:t>
            </a:r>
            <a:endParaRPr/>
          </a:p>
          <a:p>
            <a:pPr indent="0" lvl="0" marL="0" rtl="0" algn="l">
              <a:spcBef>
                <a:spcPts val="1200"/>
              </a:spcBef>
              <a:spcAft>
                <a:spcPts val="1200"/>
              </a:spcAft>
              <a:buNone/>
            </a:pPr>
            <a:r>
              <a:rPr lang="en"/>
              <a:t>My ears and eyes work perfectly well and I teach data analysis and computing, not to mention I was a student myself and have taught for a decade…I know at least a few things you probably don’t.  DON’T RISK 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Plagiarism</a:t>
            </a:r>
            <a:r>
              <a:rPr lang="en"/>
              <a:t> Policy</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 have a number of techniques for detecting AI generated homework submissions.</a:t>
            </a:r>
            <a:endParaRPr/>
          </a:p>
          <a:p>
            <a:pPr indent="0" lvl="0" marL="0" rtl="0" algn="l">
              <a:spcBef>
                <a:spcPts val="1200"/>
              </a:spcBef>
              <a:spcAft>
                <a:spcPts val="0"/>
              </a:spcAft>
              <a:buNone/>
            </a:pPr>
            <a:r>
              <a:rPr lang="en"/>
              <a:t>If I catch you with one of them, I will not be allowing you to try again.</a:t>
            </a:r>
            <a:endParaRPr/>
          </a:p>
          <a:p>
            <a:pPr indent="0" lvl="0" marL="0" rtl="0" algn="l">
              <a:spcBef>
                <a:spcPts val="1200"/>
              </a:spcBef>
              <a:spcAft>
                <a:spcPts val="0"/>
              </a:spcAft>
              <a:buNone/>
            </a:pPr>
            <a:r>
              <a:rPr lang="en"/>
              <a:t>It is not fair to me to lose time with my love ones and/or doing things I enjoy so that I can regrade work you should have done honestly the first time.  </a:t>
            </a:r>
            <a:endParaRPr/>
          </a:p>
          <a:p>
            <a:pPr indent="0" lvl="0" marL="0" rtl="0" algn="l">
              <a:spcBef>
                <a:spcPts val="1200"/>
              </a:spcBef>
              <a:spcAft>
                <a:spcPts val="1200"/>
              </a:spcAft>
              <a:buNone/>
            </a:pPr>
            <a:r>
              <a:rPr lang="en"/>
              <a:t>Don’t ask for another chance.  The answer is NO!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 Policy</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Exams are a SOLO activity </a:t>
            </a:r>
            <a:endParaRPr/>
          </a:p>
          <a:p>
            <a:pPr indent="0" lvl="0" marL="0" rtl="0" algn="l">
              <a:spcBef>
                <a:spcPts val="1200"/>
              </a:spcBef>
              <a:spcAft>
                <a:spcPts val="0"/>
              </a:spcAft>
              <a:buNone/>
            </a:pPr>
            <a:r>
              <a:rPr lang="en"/>
              <a:t>Don’t share your answers</a:t>
            </a:r>
            <a:endParaRPr/>
          </a:p>
          <a:p>
            <a:pPr indent="0" lvl="0" marL="0" rtl="0" algn="l">
              <a:spcBef>
                <a:spcPts val="1200"/>
              </a:spcBef>
              <a:spcAft>
                <a:spcPts val="0"/>
              </a:spcAft>
              <a:buNone/>
            </a:pPr>
            <a:r>
              <a:rPr lang="en"/>
              <a:t>Don’t look at other peoples’ exams</a:t>
            </a:r>
            <a:endParaRPr/>
          </a:p>
          <a:p>
            <a:pPr indent="0" lvl="0" marL="0" rtl="0" algn="l">
              <a:spcBef>
                <a:spcPts val="1200"/>
              </a:spcBef>
              <a:spcAft>
                <a:spcPts val="0"/>
              </a:spcAft>
              <a:buNone/>
            </a:pPr>
            <a:r>
              <a:rPr lang="en"/>
              <a:t>Don’t use outside materials</a:t>
            </a:r>
            <a:endParaRPr/>
          </a:p>
          <a:p>
            <a:pPr indent="0" lvl="0" marL="0" rtl="0" algn="l">
              <a:spcBef>
                <a:spcPts val="1200"/>
              </a:spcBef>
              <a:spcAft>
                <a:spcPts val="0"/>
              </a:spcAft>
              <a:buNone/>
            </a:pPr>
            <a:r>
              <a:rPr lang="en"/>
              <a:t>No phones or electronics of any sort </a:t>
            </a:r>
            <a:endParaRPr/>
          </a:p>
          <a:p>
            <a:pPr indent="0" lvl="0" marL="0" rtl="0" algn="l">
              <a:spcBef>
                <a:spcPts val="1200"/>
              </a:spcBef>
              <a:spcAft>
                <a:spcPts val="0"/>
              </a:spcAft>
              <a:buNone/>
            </a:pPr>
            <a:r>
              <a:rPr lang="en"/>
              <a:t>No non-verbal communication</a:t>
            </a:r>
            <a:endParaRPr/>
          </a:p>
          <a:p>
            <a:pPr indent="0" lvl="0" marL="0" rtl="0" algn="l">
              <a:spcBef>
                <a:spcPts val="1200"/>
              </a:spcBef>
              <a:spcAft>
                <a:spcPts val="0"/>
              </a:spcAft>
              <a:buNone/>
            </a:pPr>
            <a:r>
              <a:rPr lang="en"/>
              <a:t>Don’t use prior copies of exams that have </a:t>
            </a:r>
            <a:r>
              <a:rPr lang="en"/>
              <a:t>circulated</a:t>
            </a:r>
            <a:r>
              <a:rPr lang="en"/>
              <a:t> in the past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Do not ask for another chance if you’re caught cheating.  The answer is NO!</a:t>
            </a:r>
            <a:endParaRPr/>
          </a:p>
          <a:p>
            <a:pPr indent="0" lvl="0" marL="0" rtl="0" algn="l">
              <a:spcBef>
                <a:spcPts val="120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Thoughts on Cheating</a:t>
            </a:r>
            <a:endParaRPr/>
          </a:p>
        </p:txBody>
      </p:sp>
      <p:sp>
        <p:nvSpPr>
          <p:cNvPr id="115" name="Google Shape;115;p23"/>
          <p:cNvSpPr txBox="1"/>
          <p:nvPr>
            <p:ph idx="1" type="body"/>
          </p:nvPr>
        </p:nvSpPr>
        <p:spPr>
          <a:xfrm>
            <a:off x="311700" y="1152475"/>
            <a:ext cx="42951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I don’t want to fail you, but I swear on everything good in the universe that I will and have done so to at least a hundred students at this point.  </a:t>
            </a:r>
            <a:endParaRPr/>
          </a:p>
          <a:p>
            <a:pPr indent="0" lvl="0" marL="0" rtl="0" algn="l">
              <a:spcBef>
                <a:spcPts val="1200"/>
              </a:spcBef>
              <a:spcAft>
                <a:spcPts val="0"/>
              </a:spcAft>
              <a:buNone/>
            </a:pPr>
            <a:r>
              <a:rPr lang="en"/>
              <a:t>If you can’t help yourself and expect to violate my rules, do us all a favor and drop the course ASAP.</a:t>
            </a:r>
            <a:endParaRPr/>
          </a:p>
          <a:p>
            <a:pPr indent="0" lvl="0" marL="0" rtl="0" algn="l">
              <a:spcBef>
                <a:spcPts val="1200"/>
              </a:spcBef>
              <a:spcAft>
                <a:spcPts val="0"/>
              </a:spcAft>
              <a:buNone/>
            </a:pPr>
            <a:r>
              <a:rPr lang="en"/>
              <a:t>All that said, I prefer so very much that you all succeed and will go out of my way to ensure that you do, so long as you are honest and do honest work.</a:t>
            </a:r>
            <a:endParaRPr/>
          </a:p>
          <a:p>
            <a:pPr indent="0" lvl="0" marL="0" rtl="0" algn="l">
              <a:spcBef>
                <a:spcPts val="1200"/>
              </a:spcBef>
              <a:spcAft>
                <a:spcPts val="1200"/>
              </a:spcAft>
              <a:buNone/>
            </a:pPr>
            <a:r>
              <a:t/>
            </a:r>
            <a:endParaRPr/>
          </a:p>
        </p:txBody>
      </p:sp>
      <p:pic>
        <p:nvPicPr>
          <p:cNvPr id="116" name="Google Shape;116;p23"/>
          <p:cNvPicPr preferRelativeResize="0"/>
          <p:nvPr/>
        </p:nvPicPr>
        <p:blipFill>
          <a:blip r:embed="rId3">
            <a:alphaModFix/>
          </a:blip>
          <a:stretch>
            <a:fillRect/>
          </a:stretch>
        </p:blipFill>
        <p:spPr>
          <a:xfrm>
            <a:off x="4759200" y="833625"/>
            <a:ext cx="4040413" cy="38209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You’ll Be Able To Do After This Course</a:t>
            </a:r>
            <a:endParaRPr/>
          </a:p>
        </p:txBody>
      </p:sp>
      <p:sp>
        <p:nvSpPr>
          <p:cNvPr id="122" name="Google Shape;122;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7975" lvl="0" marL="457200" rtl="0" algn="l">
              <a:spcBef>
                <a:spcPts val="1200"/>
              </a:spcBef>
              <a:spcAft>
                <a:spcPts val="0"/>
              </a:spcAft>
              <a:buClr>
                <a:schemeClr val="dk2"/>
              </a:buClr>
              <a:buSzPts val="1250"/>
              <a:buChar char="●"/>
            </a:pPr>
            <a:r>
              <a:rPr lang="en" sz="1250"/>
              <a:t>Take a messy, real-world dataset and turn it into something usable</a:t>
            </a:r>
            <a:br>
              <a:rPr lang="en" sz="1250"/>
            </a:br>
            <a:endParaRPr sz="1250"/>
          </a:p>
          <a:p>
            <a:pPr indent="-307975" lvl="0" marL="457200" rtl="0" algn="l">
              <a:spcBef>
                <a:spcPts val="0"/>
              </a:spcBef>
              <a:spcAft>
                <a:spcPts val="0"/>
              </a:spcAft>
              <a:buClr>
                <a:schemeClr val="dk2"/>
              </a:buClr>
              <a:buSzPts val="1250"/>
              <a:buChar char="●"/>
            </a:pPr>
            <a:r>
              <a:rPr lang="en" sz="1250"/>
              <a:t>Explore and visualize data to uncover patterns and problems</a:t>
            </a:r>
            <a:br>
              <a:rPr lang="en" sz="1250"/>
            </a:br>
            <a:endParaRPr sz="1250"/>
          </a:p>
          <a:p>
            <a:pPr indent="-307975" lvl="0" marL="457200" rtl="0" algn="l">
              <a:spcBef>
                <a:spcPts val="0"/>
              </a:spcBef>
              <a:spcAft>
                <a:spcPts val="0"/>
              </a:spcAft>
              <a:buClr>
                <a:schemeClr val="dk2"/>
              </a:buClr>
              <a:buSzPts val="1250"/>
              <a:buChar char="●"/>
            </a:pPr>
            <a:r>
              <a:rPr lang="en" sz="1250"/>
              <a:t>Build and interpret regression and classification models</a:t>
            </a:r>
            <a:br>
              <a:rPr lang="en" sz="1250"/>
            </a:br>
            <a:endParaRPr sz="1250"/>
          </a:p>
          <a:p>
            <a:pPr indent="-307975" lvl="0" marL="457200" rtl="0" algn="l">
              <a:spcBef>
                <a:spcPts val="0"/>
              </a:spcBef>
              <a:spcAft>
                <a:spcPts val="0"/>
              </a:spcAft>
              <a:buClr>
                <a:schemeClr val="dk2"/>
              </a:buClr>
              <a:buSzPts val="1250"/>
              <a:buChar char="●"/>
            </a:pPr>
            <a:r>
              <a:rPr lang="en" sz="1250"/>
              <a:t>Evaluate whether a model is actually useful (not just “statistically significant”)</a:t>
            </a:r>
            <a:br>
              <a:rPr lang="en" sz="1250"/>
            </a:br>
            <a:endParaRPr sz="1250"/>
          </a:p>
          <a:p>
            <a:pPr indent="-307975" lvl="0" marL="457200" rtl="0" algn="l">
              <a:spcBef>
                <a:spcPts val="0"/>
              </a:spcBef>
              <a:spcAft>
                <a:spcPts val="0"/>
              </a:spcAft>
              <a:buClr>
                <a:schemeClr val="dk2"/>
              </a:buClr>
              <a:buSzPts val="1250"/>
              <a:buChar char="●"/>
            </a:pPr>
            <a:r>
              <a:rPr lang="en" sz="1250"/>
              <a:t>Avoid common mistakes that make analyses look good but fail in reality</a:t>
            </a:r>
            <a:br>
              <a:rPr lang="en" sz="1250"/>
            </a:br>
            <a:endParaRPr sz="1250"/>
          </a:p>
          <a:p>
            <a:pPr indent="-307975" lvl="0" marL="457200" rtl="0" algn="l">
              <a:spcBef>
                <a:spcPts val="0"/>
              </a:spcBef>
              <a:spcAft>
                <a:spcPts val="0"/>
              </a:spcAft>
              <a:buClr>
                <a:schemeClr val="dk2"/>
              </a:buClr>
              <a:buSzPts val="1250"/>
              <a:buChar char="●"/>
            </a:pPr>
            <a:r>
              <a:rPr lang="en" sz="1250"/>
              <a:t>Use Python to perform real data analysis</a:t>
            </a:r>
            <a:br>
              <a:rPr lang="en" sz="1250"/>
            </a:br>
            <a:endParaRPr sz="1250"/>
          </a:p>
          <a:p>
            <a:pPr indent="-307975" lvl="0" marL="457200" rtl="0" algn="l">
              <a:spcBef>
                <a:spcPts val="0"/>
              </a:spcBef>
              <a:spcAft>
                <a:spcPts val="0"/>
              </a:spcAft>
              <a:buClr>
                <a:schemeClr val="dk2"/>
              </a:buClr>
              <a:buSzPts val="1250"/>
              <a:buChar char="●"/>
            </a:pPr>
            <a:r>
              <a:rPr lang="en" sz="1250"/>
              <a:t>Translate results into clear, actionable business decisions</a:t>
            </a:r>
            <a:endParaRPr sz="1250"/>
          </a:p>
          <a:p>
            <a:pPr indent="0" lvl="0" marL="0" rtl="0" algn="l">
              <a:spcBef>
                <a:spcPts val="1200"/>
              </a:spcBef>
              <a:spcAft>
                <a:spcPts val="1200"/>
              </a:spcAft>
              <a:buNone/>
            </a:pPr>
            <a:r>
              <a:rPr lang="en" sz="1250"/>
              <a:t>Yay!</a:t>
            </a:r>
            <a:endParaRPr sz="125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Resources</a:t>
            </a:r>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Course Materials via Github</a:t>
            </a:r>
            <a:r>
              <a:rPr lang="en"/>
              <a:t> - Including study guides, cheat sheets, textbooks, etc.</a:t>
            </a:r>
            <a:endParaRPr/>
          </a:p>
          <a:p>
            <a:pPr indent="0" lvl="0" marL="0" rtl="0" algn="l">
              <a:spcBef>
                <a:spcPts val="1200"/>
              </a:spcBef>
              <a:spcAft>
                <a:spcPts val="0"/>
              </a:spcAft>
              <a:buNone/>
            </a:pPr>
            <a:r>
              <a:rPr lang="en" u="sng">
                <a:solidFill>
                  <a:schemeClr val="hlink"/>
                </a:solidFill>
                <a:hlinkClick r:id="rId4"/>
              </a:rPr>
              <a:t>Download Anaconda (Python)</a:t>
            </a:r>
            <a:r>
              <a:rPr lang="en"/>
              <a:t> </a:t>
            </a:r>
            <a:endParaRPr/>
          </a:p>
          <a:p>
            <a:pPr indent="0" lvl="0" marL="0" rtl="0" algn="l">
              <a:spcBef>
                <a:spcPts val="1200"/>
              </a:spcBef>
              <a:spcAft>
                <a:spcPts val="0"/>
              </a:spcAft>
              <a:buNone/>
            </a:pPr>
            <a:r>
              <a:rPr lang="en" u="sng">
                <a:solidFill>
                  <a:schemeClr val="hlink"/>
                </a:solidFill>
                <a:hlinkClick r:id="rId5"/>
              </a:rPr>
              <a:t>Crash Course Statistics</a:t>
            </a:r>
            <a:r>
              <a:rPr lang="en"/>
              <a:t> - Awesome short video lectures</a:t>
            </a:r>
            <a:endParaRPr/>
          </a:p>
          <a:p>
            <a:pPr indent="0" lvl="0" marL="0" rtl="0" algn="l">
              <a:spcBef>
                <a:spcPts val="1200"/>
              </a:spcBef>
              <a:spcAft>
                <a:spcPts val="1200"/>
              </a:spcAft>
              <a:buNone/>
            </a:pPr>
            <a:r>
              <a:rPr lang="en" u="sng">
                <a:solidFill>
                  <a:schemeClr val="hlink"/>
                </a:solidFill>
                <a:hlinkClick r:id="rId6"/>
              </a:rPr>
              <a:t>Khan Academy Statistics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