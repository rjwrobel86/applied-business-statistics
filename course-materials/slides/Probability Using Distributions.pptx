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Noto Sans Symbols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2B74BD-2BE7-4E28-B89F-D3BC367D84D5}">
  <a:tblStyle styleId="{2B2B74BD-2BE7-4E28-B89F-D3BC367D84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NotoSansSymbols-bold.fntdata"/><Relationship Id="rId63" Type="http://schemas.openxmlformats.org/officeDocument/2006/relationships/font" Target="fonts/NotoSansSymbols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a6cfbe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a6cfbe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aa6cfbee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aa6cfbee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aa6cfbee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aa6cfbee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aa6cfbee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aa6cfbee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aa6cfbee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aa6cfbee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aa6cfbee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aa6cfbee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c9ea5e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ac9ea5e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ac9ea5e1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ac9ea5e1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aa6cfbee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aa6cfbee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aa6cfbee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aa6cfbee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aa6cfbee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aa6cfbee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aa6cfbee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aa6cfbee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aa6cfbee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aa6cfbee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aa6cfbee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aa6cfbee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aa6cfbee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aa6cfbee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aa6cfbee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aa6cfbee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aa6cfbee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aa6cfbee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aa6cfbee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aa6cfbee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aa6cfbee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aa6cfbee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aa6cfbee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aa6cfbee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aa6cfbee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aa6cfbee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aa6cfbee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aa6cfbee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aa6cfbee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aa6cfbee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aa6cfbee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aa6cfbee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aa6cfbee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aa6cfbee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aa6cfbee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aa6cfbee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aa6cfbee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aa6cfbee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aa6cfbee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aa6cfbee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aa6cfbee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aa6cfbee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aa6cfbee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aa6cfbee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aa6cfbee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aa6cfbee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aa6cfbee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aa6cfbee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aa6cfbee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aa6cfbee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aa6cfbee4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aa6cfbee4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aa6cfbee4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eaa6cfbee4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aa6cfbee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aa6cfbee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aa6cfbee4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aa6cfbee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aa6cfbee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aa6cfbee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aa6cfbee4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aa6cfbee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aa6cfbee4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aa6cfbee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eaa6cfbee4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eaa6cfbee4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aa6cfbee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aa6cfbee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aa6cfbee4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eaa6cfbee4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aa6cfbee4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eaa6cfbee4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aa6cfbee4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aa6cfbee4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aa6cfbee4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eaa6cfbee4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aa6cfbee4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eaa6cfbee4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aa6cfbee4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aa6cfbee4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aa6cfbee4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aa6cfbee4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aa6cfbee4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aa6cfbee4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aa6cfbee4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eaa6cfbee4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aa6cfbee4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aa6cfbee4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aa6cfbee4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eaa6cfbee4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aa6cfbee4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eaa6cfbee4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aa6cfbee4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eaa6cfbee4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aa6cfbee4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eaa6cfbee4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Using Distributions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Variables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variables are variables that represent the outcomes of a random process or experiment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They assign a numerical value to each possible outcome of a random phenomenon, and its value depends on chance.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probability of a variable taking a certain value / range of values is given by its “probability distribution”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Discrete random variables distribution is given by a probability mass function, while continuous random variables are specified by a probability density function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Distributions	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73575"/>
            <a:ext cx="3799275" cy="413745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311700" y="1334700"/>
            <a:ext cx="37110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Probability distributions are mathematical formulas that specify the likelihood of a random variable taking on specific values given specific parameters.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325" y="3323800"/>
            <a:ext cx="3965525" cy="8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175" y="175226"/>
            <a:ext cx="7408524" cy="47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PDF vs CDF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47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Density Function: provides the likelihood of a random variable taking a range of values.  Area under curve sums to 1.  Height = Density.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Cumulative Density Function: shows the probability that random variable will take a value less than or equal to a given value.  Height = Probability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900" y="796425"/>
            <a:ext cx="5049300" cy="243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0727" y="3299101"/>
            <a:ext cx="280327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8788" y="3227298"/>
            <a:ext cx="1960425" cy="71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Probability Distributions</a:t>
            </a:r>
            <a:endParaRPr/>
          </a:p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Uniform, Normal, and Standardized Normal Distributions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Distribution 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value in the interval has an equal probability of occurrence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= minimum value of distribution, B = maximum value of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XL = minimum bound of interval, XH = maximum bound of interval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P(XL &lt; x &lt; XH) = (XH - XL) / (B - 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 = (A + B) /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Max: 200, Min: 30…Mean = 115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P(100 &lt; x &lt; 150) = 50 / 170 = 29.4%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544" y="2356100"/>
            <a:ext cx="4280526" cy="2646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9"/>
          <p:cNvCxnSpPr/>
          <p:nvPr/>
        </p:nvCxnSpPr>
        <p:spPr>
          <a:xfrm>
            <a:off x="6547250" y="3325975"/>
            <a:ext cx="0" cy="124290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9"/>
          <p:cNvCxnSpPr/>
          <p:nvPr/>
        </p:nvCxnSpPr>
        <p:spPr>
          <a:xfrm>
            <a:off x="7653325" y="3325975"/>
            <a:ext cx="0" cy="124290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9"/>
          <p:cNvCxnSpPr/>
          <p:nvPr/>
        </p:nvCxnSpPr>
        <p:spPr>
          <a:xfrm rot="10800000">
            <a:off x="6547050" y="4568975"/>
            <a:ext cx="1093200" cy="6600"/>
          </a:xfrm>
          <a:prstGeom prst="straightConnector1">
            <a:avLst/>
          </a:prstGeom>
          <a:noFill/>
          <a:ln cap="flat" cmpd="sng" w="38100">
            <a:solidFill>
              <a:srgbClr val="FF3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9"/>
          <p:cNvSpPr txBox="1"/>
          <p:nvPr/>
        </p:nvSpPr>
        <p:spPr>
          <a:xfrm>
            <a:off x="6713250" y="2818200"/>
            <a:ext cx="76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3300"/>
                </a:solidFill>
              </a:rPr>
              <a:t>29.4%</a:t>
            </a:r>
            <a:endParaRPr sz="150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Uniform Distribution Example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video game “spawns” an enemy in a random location along a 500 meter span of map.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that an enemy is spawned into the last 50 meters of the 500 meter map (so between meter 450 and 500)?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P(XL &lt; x &lt; XH) = (XH - XL) / (B - 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XL = 450, XH = 500, A = 0, B= 500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(500 - 450) / (500 - 0) = 50 / 500 = 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450" y="2145500"/>
            <a:ext cx="17526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vs PRNGs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292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Computers typically use pseudo-random number generators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True randomness can’t be deterministically programmed, but it can be faked pretty well using complex formulas and semi-random inputs (system clock, your seed selection, even lava lamps)!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LLMs, by contrast, generate “randomness” poorly as they are using the weighted average of their training sets and people aren’t random.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200" y="1485300"/>
            <a:ext cx="5500698" cy="293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10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Lava Lamps at Cloudflare HQ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375" y="768388"/>
            <a:ext cx="7439252" cy="418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Distribution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402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Centered on the mean value of the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Mean = Median = Mode = Peak of Curve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Symmetrical - 50% of the data are above the mean and 50% are below the mean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Width determined by the standard deviation of the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 rotWithShape="1">
          <a:blip r:embed="rId3">
            <a:alphaModFix/>
          </a:blip>
          <a:srcRect b="13226" l="11021" r="9746" t="29569"/>
          <a:stretch/>
        </p:blipFill>
        <p:spPr>
          <a:xfrm>
            <a:off x="4483425" y="742175"/>
            <a:ext cx="4504874" cy="18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3100" y="3378050"/>
            <a:ext cx="3965525" cy="8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Distribution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229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Distributions A and B have the same mean value, but A has a larger standard deviation than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Distributions A and C have the same standard deviation, but C has a larger mean than A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0737" y="1028700"/>
            <a:ext cx="5978524" cy="366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Your Data Normally Distributed?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upcoming methodology to work correctly, the data you’re analyzing must be (roughly / approximately) normally distributed?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to tell if the data are normally distributed: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Histogram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Q-Q Plot*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Statistical test - Shapiro-Wilk*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 rotWithShape="1">
          <a:blip r:embed="rId3">
            <a:alphaModFix/>
          </a:blip>
          <a:srcRect b="0" l="0" r="49339" t="0"/>
          <a:stretch/>
        </p:blipFill>
        <p:spPr>
          <a:xfrm>
            <a:off x="4475675" y="2912025"/>
            <a:ext cx="3623350" cy="18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Q-Q Plots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Q-Q plots compare the distribution of your data with a theoretical distribution of your choosing.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Your data’s distribution is shown on the Y-axis and the theoretical distribution is shown on the X-axis.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45 degree line runs across the plot diagonally.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Points will fall on the line to the extent that the actual data matches up with the theoretical distribution</a:t>
            </a:r>
            <a:endParaRPr/>
          </a:p>
        </p:txBody>
      </p:sp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b="0" l="27440" r="48702" t="0"/>
          <a:stretch/>
        </p:blipFill>
        <p:spPr>
          <a:xfrm>
            <a:off x="5100500" y="400637"/>
            <a:ext cx="3000873" cy="434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4771"/>
            <a:ext cx="9144003" cy="4513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Shapiro-Wilk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H0: Normally Distributed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HA: Non-Normally Distributed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Alpha = 1 - Confidence Level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p-value is less than alpha, reject the null hypothesis that the data are normally distributed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May or may not be a valid procedure*</a:t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196" y="917149"/>
            <a:ext cx="465360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Standardized Normal Distribution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152475"/>
            <a:ext cx="521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standardized normal distribution is a special case of the normal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Standard Deviation =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Any normally distributed data can be converted to the standardized normal distribution using the Z formula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(X - Mean) / Standard Deviation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# of standard deviations away from the mean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Z is negative if below the mean and positive if above</a:t>
            </a:r>
            <a:endParaRPr/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153" y="1849653"/>
            <a:ext cx="3018150" cy="185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776" y="503825"/>
            <a:ext cx="7075475" cy="434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	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 = (X - Mean) / Standard Deviation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we have a series with a mean of 50 and a standard deviation of 15, what is the Z value for the number 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(18 - 50) / 15 = -1.77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Interpretation: 18 is 1.77 standard deviations below the mean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convert to the standardized normal distribution?</a:t>
            </a:r>
            <a:endParaRPr/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 that we can use pre-calculated probabilities (area under the curve) from a Z table / statistics software!</a:t>
            </a:r>
            <a:endParaRPr/>
          </a:p>
        </p:txBody>
      </p:sp>
      <p:pic>
        <p:nvPicPr>
          <p:cNvPr descr="Z table negative"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903" y="1682425"/>
            <a:ext cx="3203725" cy="3295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z table positive" id="188" name="Google Shape;18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154" y="1682425"/>
            <a:ext cx="3154921" cy="329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Probabilities Using Z - p(x&lt;X)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normally distributed monthly sales data with a mean of 200 and a standard deviation of 15, what is the probability of selling less than 190 units on any given month?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(190-200)/15 = –0.66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Z table negative"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926" y="333050"/>
            <a:ext cx="2395125" cy="246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33"/>
          <p:cNvCxnSpPr/>
          <p:nvPr/>
        </p:nvCxnSpPr>
        <p:spPr>
          <a:xfrm flipH="1" rot="10800000">
            <a:off x="3123575" y="2310950"/>
            <a:ext cx="4270500" cy="7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7" name="Google Shape;1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765" y="2796625"/>
            <a:ext cx="2806761" cy="199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3"/>
          <p:cNvSpPr txBox="1"/>
          <p:nvPr/>
        </p:nvSpPr>
        <p:spPr>
          <a:xfrm>
            <a:off x="311700" y="34880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p(x&lt;190) = .2546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Probabilities Using Z - p(x&gt;X)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normally distributed monthly sales data with a mean of 200 and a standard deviation of 15, what is the probability of selling more than 190 units on any given month?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(190-200)/15 = –0.66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Z table negative" id="205" name="Google Shape;2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926" y="333050"/>
            <a:ext cx="2395125" cy="246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34"/>
          <p:cNvCxnSpPr/>
          <p:nvPr/>
        </p:nvCxnSpPr>
        <p:spPr>
          <a:xfrm flipH="1" rot="10800000">
            <a:off x="3123575" y="2310950"/>
            <a:ext cx="4270500" cy="7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7" name="Google Shape;2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075" y="3085250"/>
            <a:ext cx="2465340" cy="175344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4"/>
          <p:cNvSpPr txBox="1"/>
          <p:nvPr/>
        </p:nvSpPr>
        <p:spPr>
          <a:xfrm>
            <a:off x="311700" y="3510025"/>
            <a:ext cx="30000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p(x&lt;190) = .2546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p(x&gt;190) = 1 - .2546 = .7454 = 74.54%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Probabilities Using Z - p(XL&lt;x&lt;XH)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normally distributed monthly sales data with a mean of 200 and a standard deviation of 15, what is the probability of selling between 180 and 215?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(180-200)/15 = –1.33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p(&lt;180) = 0.0918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 = (215-200)/15 =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p(&lt;215) = 0.8413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74.95%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descr="Z table negative"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126" y="167625"/>
            <a:ext cx="2395125" cy="2463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35"/>
          <p:cNvCxnSpPr/>
          <p:nvPr/>
        </p:nvCxnSpPr>
        <p:spPr>
          <a:xfrm flipH="1" rot="10800000">
            <a:off x="2111825" y="1696725"/>
            <a:ext cx="5222700" cy="127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z table positive" id="217" name="Google Shape;21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1948" y="2680750"/>
            <a:ext cx="2303478" cy="240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35"/>
          <p:cNvCxnSpPr/>
          <p:nvPr/>
        </p:nvCxnSpPr>
        <p:spPr>
          <a:xfrm flipH="1" rot="10800000">
            <a:off x="2210925" y="3490450"/>
            <a:ext cx="4449900" cy="35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9" name="Google Shape;21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5392" y="3808400"/>
            <a:ext cx="1797282" cy="12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X, Given the Probability</a:t>
            </a:r>
            <a:endParaRPr/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Z = (X - Mean) / Stdev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With a little algebra, we can solve for X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X = Mean + Z * Stdev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Given normally distributed data with a mean of 100 and standard deviation of 15, what value of X will be greater than 40% of the data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Find 40% in the table = Z = -.25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X = 100 -.25*15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X = 100 - 3.75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290"/>
              <a:t>X = 96.25</a:t>
            </a:r>
            <a:endParaRPr sz="129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90"/>
          </a:p>
        </p:txBody>
      </p:sp>
      <p:pic>
        <p:nvPicPr>
          <p:cNvPr descr="Z table negative" id="226" name="Google Shape;2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900" y="1213051"/>
            <a:ext cx="3473450" cy="357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Distribution in Excel</a:t>
            </a:r>
            <a:endParaRPr/>
          </a:p>
        </p:txBody>
      </p:sp>
      <p:sp>
        <p:nvSpPr>
          <p:cNvPr id="232" name="Google Shape;23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=standardize(x, mean, stdev) to find 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=norm.dist(x, mean, stdev, TRUE) for &lt;=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=1 - norm.dist(x, mean, stdev, TRUE) for 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=norm.dist(XH, mean, stdev, TRUE) - norm.dist(XL, mean, stdev, TRUE) for XL&lt;x&lt;XH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To generate random normally distributed data, =norm.inv(rand(),mean,stdev)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 generate uniformly distributed data =rand() or =randbetween(low, high)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Problems</a:t>
            </a:r>
            <a:endParaRPr/>
          </a:p>
        </p:txBody>
      </p:sp>
      <p:sp>
        <p:nvSpPr>
          <p:cNvPr id="238" name="Google Shape;23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IQ has a mean of 100 and a standard deviation of 15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of having an IQ greater than 140?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Female height has a mean of 64.5 inches and a standard deviation of 2.5 inches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of a woman being shorter than 60 inches?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Monthly sales have a mean of 500 and a standard deviation of 125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probability of selling between 300 and 400 units next month?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Probability Distributions</a:t>
            </a:r>
            <a:endParaRPr/>
          </a:p>
        </p:txBody>
      </p:sp>
      <p:sp>
        <p:nvSpPr>
          <p:cNvPr id="244" name="Google Shape;244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and Poisson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vs Continuous </a:t>
            </a:r>
            <a:endParaRPr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1152475"/>
            <a:ext cx="8472300" cy="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only takes on whole number values and is typically a count.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Continuous takes any value within an interval and is typically a measure.</a:t>
            </a:r>
            <a:endParaRPr/>
          </a:p>
        </p:txBody>
      </p:sp>
      <p:pic>
        <p:nvPicPr>
          <p:cNvPr id="251" name="Google Shape;2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225" y="2198450"/>
            <a:ext cx="6713175" cy="282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Factorials!</a:t>
            </a:r>
            <a:endParaRPr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The factorial of a number is the product of that  number multiplied by all of the positive integers below it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n! = n * (n-1) * (n-2)...3 * 2 * 1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5! = 5 x 4 x 3 x 2 x 1 = 120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1! = 1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0! = 1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Combinations</a:t>
            </a:r>
            <a:endParaRPr/>
          </a:p>
        </p:txBody>
      </p:sp>
      <p:sp>
        <p:nvSpPr>
          <p:cNvPr id="263" name="Google Shape;263;p42"/>
          <p:cNvSpPr txBox="1"/>
          <p:nvPr>
            <p:ph idx="1" type="body"/>
          </p:nvPr>
        </p:nvSpPr>
        <p:spPr>
          <a:xfrm>
            <a:off x="311700" y="1152475"/>
            <a:ext cx="417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How many groups of k size can be made from a set of n items?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How many ways can 5 cards be drawn from a deck of 52?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52! / 5!*47!...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Use a calculator / computer!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965"/>
              <a:t>=2,598,960</a:t>
            </a:r>
            <a:endParaRPr sz="19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  <p:pic>
        <p:nvPicPr>
          <p:cNvPr id="264" name="Google Shape;2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064" y="2296319"/>
            <a:ext cx="3257586" cy="11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Probability Formula</a:t>
            </a:r>
            <a:endParaRPr/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711650" y="3222175"/>
            <a:ext cx="6463800" cy="2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number of events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= number of successes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 = probability of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271" name="Google Shape;271;p43"/>
          <p:cNvCxnSpPr/>
          <p:nvPr/>
        </p:nvCxnSpPr>
        <p:spPr>
          <a:xfrm>
            <a:off x="4094162" y="2127250"/>
            <a:ext cx="15303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2" name="Google Shape;272;p43"/>
          <p:cNvSpPr txBox="1"/>
          <p:nvPr/>
        </p:nvSpPr>
        <p:spPr>
          <a:xfrm>
            <a:off x="1219200" y="1828800"/>
            <a:ext cx="2295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P(X=x |n,π)</a:t>
            </a:r>
            <a:endParaRPr/>
          </a:p>
        </p:txBody>
      </p:sp>
      <p:sp>
        <p:nvSpPr>
          <p:cNvPr id="273" name="Google Shape;273;p43"/>
          <p:cNvSpPr txBox="1"/>
          <p:nvPr/>
        </p:nvSpPr>
        <p:spPr>
          <a:xfrm>
            <a:off x="4648200" y="1524000"/>
            <a:ext cx="406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274" name="Google Shape;274;p43"/>
          <p:cNvSpPr txBox="1"/>
          <p:nvPr/>
        </p:nvSpPr>
        <p:spPr>
          <a:xfrm>
            <a:off x="3859212" y="2127250"/>
            <a:ext cx="501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x!</a:t>
            </a:r>
            <a:endParaRPr/>
          </a:p>
        </p:txBody>
      </p:sp>
      <p:sp>
        <p:nvSpPr>
          <p:cNvPr id="275" name="Google Shape;275;p43"/>
          <p:cNvSpPr txBox="1"/>
          <p:nvPr/>
        </p:nvSpPr>
        <p:spPr>
          <a:xfrm>
            <a:off x="4532312" y="2143125"/>
            <a:ext cx="406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276" name="Google Shape;276;p43"/>
          <p:cNvSpPr txBox="1"/>
          <p:nvPr/>
        </p:nvSpPr>
        <p:spPr>
          <a:xfrm>
            <a:off x="5184775" y="2143125"/>
            <a:ext cx="387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77" name="Google Shape;277;p43"/>
          <p:cNvSpPr txBox="1"/>
          <p:nvPr/>
        </p:nvSpPr>
        <p:spPr>
          <a:xfrm>
            <a:off x="5791200" y="1828800"/>
            <a:ext cx="4620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endParaRPr/>
          </a:p>
        </p:txBody>
      </p:sp>
      <p:sp>
        <p:nvSpPr>
          <p:cNvPr id="278" name="Google Shape;278;p43"/>
          <p:cNvSpPr txBox="1"/>
          <p:nvPr/>
        </p:nvSpPr>
        <p:spPr>
          <a:xfrm>
            <a:off x="6324600" y="1828800"/>
            <a:ext cx="1530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(1-</a:t>
            </a:r>
            <a:r>
              <a:rPr b="0" i="0" lang="en" sz="3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79" name="Google Shape;279;p43"/>
          <p:cNvSpPr txBox="1"/>
          <p:nvPr/>
        </p:nvSpPr>
        <p:spPr>
          <a:xfrm>
            <a:off x="6057900" y="1736725"/>
            <a:ext cx="369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80" name="Google Shape;280;p43"/>
          <p:cNvSpPr txBox="1"/>
          <p:nvPr/>
        </p:nvSpPr>
        <p:spPr>
          <a:xfrm>
            <a:off x="7175500" y="1752600"/>
            <a:ext cx="3525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281" name="Google Shape;281;p43"/>
          <p:cNvSpPr txBox="1"/>
          <p:nvPr/>
        </p:nvSpPr>
        <p:spPr>
          <a:xfrm>
            <a:off x="7634287" y="1730375"/>
            <a:ext cx="33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82" name="Google Shape;282;p43"/>
          <p:cNvSpPr txBox="1"/>
          <p:nvPr/>
        </p:nvSpPr>
        <p:spPr>
          <a:xfrm>
            <a:off x="4903787" y="1524000"/>
            <a:ext cx="293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283" name="Google Shape;283;p43"/>
          <p:cNvSpPr txBox="1"/>
          <p:nvPr/>
        </p:nvSpPr>
        <p:spPr>
          <a:xfrm>
            <a:off x="4392612" y="2127250"/>
            <a:ext cx="315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</p:txBody>
      </p:sp>
      <p:sp>
        <p:nvSpPr>
          <p:cNvPr id="284" name="Google Shape;284;p43"/>
          <p:cNvSpPr txBox="1"/>
          <p:nvPr/>
        </p:nvSpPr>
        <p:spPr>
          <a:xfrm>
            <a:off x="5459412" y="2127250"/>
            <a:ext cx="315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85" name="Google Shape;285;p43"/>
          <p:cNvSpPr txBox="1"/>
          <p:nvPr/>
        </p:nvSpPr>
        <p:spPr>
          <a:xfrm>
            <a:off x="5602287" y="2160587"/>
            <a:ext cx="293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286" name="Google Shape;286;p43"/>
          <p:cNvSpPr txBox="1"/>
          <p:nvPr/>
        </p:nvSpPr>
        <p:spPr>
          <a:xfrm>
            <a:off x="3352800" y="1828800"/>
            <a:ext cx="404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1" i="0" lang="en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/>
          </a:p>
        </p:txBody>
      </p:sp>
      <p:sp>
        <p:nvSpPr>
          <p:cNvPr id="287" name="Google Shape;287;p43"/>
          <p:cNvSpPr txBox="1"/>
          <p:nvPr/>
        </p:nvSpPr>
        <p:spPr>
          <a:xfrm>
            <a:off x="4849812" y="2127250"/>
            <a:ext cx="404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0" i="0" lang="en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/>
          </a:p>
        </p:txBody>
      </p:sp>
      <p:sp>
        <p:nvSpPr>
          <p:cNvPr id="288" name="Google Shape;288;p43"/>
          <p:cNvSpPr txBox="1"/>
          <p:nvPr/>
        </p:nvSpPr>
        <p:spPr>
          <a:xfrm>
            <a:off x="7405687" y="1730375"/>
            <a:ext cx="381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None/>
            </a:pPr>
            <a:r>
              <a:rPr b="1" i="0" lang="en" sz="2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Probability </a:t>
            </a:r>
            <a:endParaRPr/>
          </a:p>
        </p:txBody>
      </p:sp>
      <p:sp>
        <p:nvSpPr>
          <p:cNvPr id="294" name="Google Shape;294;p4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to calculate probability of getting a fixed number of successful outcomes in a fixed number of independent trials where each trial has only two possible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Answers: “What is the probability of x successes in n trials?”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Assumes: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A fixed number of trials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Outcomes are binary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Probability of success is constant across trials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Trials are independent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Trials are identical</a:t>
            </a:r>
            <a:endParaRPr/>
          </a:p>
        </p:txBody>
      </p:sp>
      <p:sp>
        <p:nvSpPr>
          <p:cNvPr id="295" name="Google Shape;295;p44"/>
          <p:cNvSpPr txBox="1"/>
          <p:nvPr/>
        </p:nvSpPr>
        <p:spPr>
          <a:xfrm>
            <a:off x="4762400" y="1152475"/>
            <a:ext cx="42603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Could be used to estimate  the probabilities of: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certain number of customers purchasing a car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certain number of defaults in a portfolio of loans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certain number of defective products in a production process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certain number of successful treatments of sick patients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243" y="0"/>
            <a:ext cx="670511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19" y="0"/>
            <a:ext cx="80967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Probability</a:t>
            </a:r>
            <a:endParaRPr/>
          </a:p>
        </p:txBody>
      </p:sp>
      <p:sp>
        <p:nvSpPr>
          <p:cNvPr id="311" name="Google Shape;311;p47"/>
          <p:cNvSpPr txBox="1"/>
          <p:nvPr>
            <p:ph idx="1" type="body"/>
          </p:nvPr>
        </p:nvSpPr>
        <p:spPr>
          <a:xfrm>
            <a:off x="711650" y="3222175"/>
            <a:ext cx="7827000" cy="2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probability of getting two heads in a series of five coin flips?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=5, x = 2, pi = 0.5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12" name="Google Shape;312;p47"/>
          <p:cNvCxnSpPr/>
          <p:nvPr/>
        </p:nvCxnSpPr>
        <p:spPr>
          <a:xfrm>
            <a:off x="4094162" y="2127250"/>
            <a:ext cx="15303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3" name="Google Shape;313;p47"/>
          <p:cNvSpPr txBox="1"/>
          <p:nvPr/>
        </p:nvSpPr>
        <p:spPr>
          <a:xfrm>
            <a:off x="1219200" y="1828800"/>
            <a:ext cx="2295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P(X=x |n,π)</a:t>
            </a:r>
            <a:endParaRPr/>
          </a:p>
        </p:txBody>
      </p:sp>
      <p:sp>
        <p:nvSpPr>
          <p:cNvPr id="314" name="Google Shape;314;p47"/>
          <p:cNvSpPr txBox="1"/>
          <p:nvPr/>
        </p:nvSpPr>
        <p:spPr>
          <a:xfrm>
            <a:off x="4648200" y="1524000"/>
            <a:ext cx="406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315" name="Google Shape;315;p47"/>
          <p:cNvSpPr txBox="1"/>
          <p:nvPr/>
        </p:nvSpPr>
        <p:spPr>
          <a:xfrm>
            <a:off x="3859212" y="2127250"/>
            <a:ext cx="5016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x!</a:t>
            </a:r>
            <a:endParaRPr/>
          </a:p>
        </p:txBody>
      </p:sp>
      <p:sp>
        <p:nvSpPr>
          <p:cNvPr id="316" name="Google Shape;316;p47"/>
          <p:cNvSpPr txBox="1"/>
          <p:nvPr/>
        </p:nvSpPr>
        <p:spPr>
          <a:xfrm>
            <a:off x="4532312" y="2143125"/>
            <a:ext cx="406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317" name="Google Shape;317;p47"/>
          <p:cNvSpPr txBox="1"/>
          <p:nvPr/>
        </p:nvSpPr>
        <p:spPr>
          <a:xfrm>
            <a:off x="5184775" y="2143125"/>
            <a:ext cx="387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318" name="Google Shape;318;p47"/>
          <p:cNvSpPr txBox="1"/>
          <p:nvPr/>
        </p:nvSpPr>
        <p:spPr>
          <a:xfrm>
            <a:off x="5791200" y="1828800"/>
            <a:ext cx="4620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endParaRPr/>
          </a:p>
        </p:txBody>
      </p:sp>
      <p:sp>
        <p:nvSpPr>
          <p:cNvPr id="319" name="Google Shape;319;p47"/>
          <p:cNvSpPr txBox="1"/>
          <p:nvPr/>
        </p:nvSpPr>
        <p:spPr>
          <a:xfrm>
            <a:off x="6324600" y="1828800"/>
            <a:ext cx="1530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(1-</a:t>
            </a:r>
            <a:r>
              <a:rPr b="0" i="0" lang="en" sz="32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π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20" name="Google Shape;320;p47"/>
          <p:cNvSpPr txBox="1"/>
          <p:nvPr/>
        </p:nvSpPr>
        <p:spPr>
          <a:xfrm>
            <a:off x="6057900" y="1736725"/>
            <a:ext cx="369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321" name="Google Shape;321;p47"/>
          <p:cNvSpPr txBox="1"/>
          <p:nvPr/>
        </p:nvSpPr>
        <p:spPr>
          <a:xfrm>
            <a:off x="7175500" y="1752600"/>
            <a:ext cx="3525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322" name="Google Shape;322;p47"/>
          <p:cNvSpPr txBox="1"/>
          <p:nvPr/>
        </p:nvSpPr>
        <p:spPr>
          <a:xfrm>
            <a:off x="7634287" y="1730375"/>
            <a:ext cx="339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323" name="Google Shape;323;p47"/>
          <p:cNvSpPr txBox="1"/>
          <p:nvPr/>
        </p:nvSpPr>
        <p:spPr>
          <a:xfrm>
            <a:off x="4903787" y="1524000"/>
            <a:ext cx="293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324" name="Google Shape;324;p47"/>
          <p:cNvSpPr txBox="1"/>
          <p:nvPr/>
        </p:nvSpPr>
        <p:spPr>
          <a:xfrm>
            <a:off x="4392612" y="2127250"/>
            <a:ext cx="315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</p:txBody>
      </p:sp>
      <p:sp>
        <p:nvSpPr>
          <p:cNvPr id="325" name="Google Shape;325;p47"/>
          <p:cNvSpPr txBox="1"/>
          <p:nvPr/>
        </p:nvSpPr>
        <p:spPr>
          <a:xfrm>
            <a:off x="5459412" y="2127250"/>
            <a:ext cx="315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26" name="Google Shape;326;p47"/>
          <p:cNvSpPr txBox="1"/>
          <p:nvPr/>
        </p:nvSpPr>
        <p:spPr>
          <a:xfrm>
            <a:off x="5602287" y="2160587"/>
            <a:ext cx="293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327" name="Google Shape;327;p47"/>
          <p:cNvSpPr txBox="1"/>
          <p:nvPr/>
        </p:nvSpPr>
        <p:spPr>
          <a:xfrm>
            <a:off x="3352800" y="1828800"/>
            <a:ext cx="404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1" i="0" lang="en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endParaRPr/>
          </a:p>
        </p:txBody>
      </p:sp>
      <p:sp>
        <p:nvSpPr>
          <p:cNvPr id="328" name="Google Shape;328;p47"/>
          <p:cNvSpPr txBox="1"/>
          <p:nvPr/>
        </p:nvSpPr>
        <p:spPr>
          <a:xfrm>
            <a:off x="4849812" y="2127250"/>
            <a:ext cx="404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0" i="0" lang="en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/>
          </a:p>
        </p:txBody>
      </p:sp>
      <p:sp>
        <p:nvSpPr>
          <p:cNvPr id="329" name="Google Shape;329;p47"/>
          <p:cNvSpPr txBox="1"/>
          <p:nvPr/>
        </p:nvSpPr>
        <p:spPr>
          <a:xfrm>
            <a:off x="7405687" y="1730375"/>
            <a:ext cx="3810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Symbols"/>
              <a:buNone/>
            </a:pPr>
            <a:r>
              <a:rPr b="1" i="0" lang="en" sz="2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in Excel</a:t>
            </a:r>
            <a:endParaRPr/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=binom.dist(x, # of trials, probability of success, False) for specific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=binom.dist(x, # of trials, probability of success,True) for &lt;=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=1 - binom.dist(x, # of trials, probability of success, True) for 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1752" y="739525"/>
            <a:ext cx="6008402" cy="381687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87050" y="601950"/>
            <a:ext cx="3212100" cy="3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probability of getting two heads in a series of 5 coin flips?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 =5, x = 2, pi = 0.5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0.312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p(x&lt;2)?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p(0) + p(1)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0.031 + 0.156 = 0.187 = 18.7%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p(x&gt;=2)?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1 - 0.187 = .813 = 81.3%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49"/>
          <p:cNvCxnSpPr/>
          <p:nvPr/>
        </p:nvCxnSpPr>
        <p:spPr>
          <a:xfrm>
            <a:off x="2349650" y="2038500"/>
            <a:ext cx="3972300" cy="104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Probability 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a 10% chance of default and 6 loans, what is the probability of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defaults (=): Calculate p(5)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Less than 5 defaults (&lt;):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p(0) + p(1) + p(2) + p(3) + p(4)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of less defaults (&lt;=):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p(0) + p(1) + p(2) + p(3) + p(4) + p(5)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More than 5 defaults (&gt;):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Calculate 1 - [p(0) + p(1) + p(2) + p(3) + p(4) + p(5)]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5 or more defaults (&gt;=):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Calculate 1 - [p(0) + p(1) + p(2) + p(3) + p(4)] </a:t>
            </a:r>
            <a:endParaRPr/>
          </a:p>
        </p:txBody>
      </p:sp>
      <p:pic>
        <p:nvPicPr>
          <p:cNvPr id="349" name="Google Shape;34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375" y="1665350"/>
            <a:ext cx="3785049" cy="290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Problems</a:t>
            </a:r>
            <a:endParaRPr/>
          </a:p>
        </p:txBody>
      </p:sp>
      <p:sp>
        <p:nvSpPr>
          <p:cNvPr id="355" name="Google Shape;355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You’re an attorney with a client facing seven charges.  There is a one percent chance of conviction for each charge.  What is the probability that your client will face at least one conviction?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P(1) + P(2) + P(3) + P(4) + P(5) + P(6) + P(7)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1 - P(0)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6.7%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Binomial Distribution Statistics</a:t>
            </a:r>
            <a:endParaRPr/>
          </a:p>
        </p:txBody>
      </p:sp>
      <p:sp>
        <p:nvSpPr>
          <p:cNvPr id="361" name="Google Shape;36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number of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probability of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mean = n * 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standard deviation = sqrt(n*p*(1-p))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Probability</a:t>
            </a:r>
            <a:endParaRPr/>
          </a:p>
        </p:txBody>
      </p:sp>
      <p:sp>
        <p:nvSpPr>
          <p:cNvPr id="367" name="Google Shape;367;p53"/>
          <p:cNvSpPr txBox="1"/>
          <p:nvPr>
            <p:ph idx="1" type="body"/>
          </p:nvPr>
        </p:nvSpPr>
        <p:spPr>
          <a:xfrm>
            <a:off x="311700" y="1152475"/>
            <a:ext cx="412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to calculate the probability of a given number of events occurring in a given interval of time or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Answers: “What is the probability that an event happens x times in a given amount of time or space?”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Events are independent (no clustering)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Average rate is constant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Probability of two events occurring at the </a:t>
            </a:r>
            <a:r>
              <a:rPr i="1" lang="en"/>
              <a:t>exact</a:t>
            </a:r>
            <a:r>
              <a:rPr lang="en"/>
              <a:t> same time = 0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Mean = Variance*</a:t>
            </a:r>
            <a:endParaRPr/>
          </a:p>
        </p:txBody>
      </p:sp>
      <p:sp>
        <p:nvSpPr>
          <p:cNvPr id="368" name="Google Shape;368;p53"/>
          <p:cNvSpPr txBox="1"/>
          <p:nvPr/>
        </p:nvSpPr>
        <p:spPr>
          <a:xfrm>
            <a:off x="4572000" y="994800"/>
            <a:ext cx="4123500" cy="29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Could be used for estimating the probabilities of a certain number of: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Customers entering a store per hour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Phone calls received by a call center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Employees calling in sick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Potholes in a given length (x width = area) of road.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9" name="Google Shape;369;p53"/>
          <p:cNvSpPr txBox="1"/>
          <p:nvPr/>
        </p:nvSpPr>
        <p:spPr>
          <a:xfrm>
            <a:off x="2185825" y="4480925"/>
            <a:ext cx="5318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Unlike binomial, poisson does not require a fixed number of trials.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Probability Formula</a:t>
            </a:r>
            <a:endParaRPr/>
          </a:p>
        </p:txBody>
      </p:sp>
      <p:pic>
        <p:nvPicPr>
          <p:cNvPr id="375" name="Google Shape;37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838" y="1294366"/>
            <a:ext cx="6020325" cy="339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551" y="0"/>
            <a:ext cx="69408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6"/>
          <p:cNvSpPr txBox="1"/>
          <p:nvPr>
            <p:ph idx="1" type="body"/>
          </p:nvPr>
        </p:nvSpPr>
        <p:spPr>
          <a:xfrm>
            <a:off x="252775" y="364600"/>
            <a:ext cx="4208100" cy="44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Distribution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Non-Cumulative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(Many pages omitted)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Average number of calls in an hour is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p(x=4)?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lambda = 3 and x =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.1680 = 16.8%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p(x&lt;4)?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p(0) + p(1) + p(2)  + p(3)  = .0498 + .1494 + .2240 + .2240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=.6472 = 64.72%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p(x&gt;=4)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= 1 - 0.6472 = .3528 or 35.28%</a:t>
            </a:r>
            <a:endParaRPr/>
          </a:p>
        </p:txBody>
      </p:sp>
      <p:pic>
        <p:nvPicPr>
          <p:cNvPr id="386" name="Google Shape;386;p56"/>
          <p:cNvPicPr preferRelativeResize="0"/>
          <p:nvPr/>
        </p:nvPicPr>
        <p:blipFill rotWithShape="1">
          <a:blip r:embed="rId3">
            <a:alphaModFix/>
          </a:blip>
          <a:srcRect b="0" l="22929" r="0" t="0"/>
          <a:stretch/>
        </p:blipFill>
        <p:spPr>
          <a:xfrm>
            <a:off x="4572000" y="0"/>
            <a:ext cx="4528474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7" name="Google Shape;387;p56"/>
          <p:cNvCxnSpPr/>
          <p:nvPr/>
        </p:nvCxnSpPr>
        <p:spPr>
          <a:xfrm>
            <a:off x="1257850" y="2908500"/>
            <a:ext cx="7345200" cy="115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7"/>
          <p:cNvSpPr txBox="1"/>
          <p:nvPr>
            <p:ph idx="1" type="body"/>
          </p:nvPr>
        </p:nvSpPr>
        <p:spPr>
          <a:xfrm>
            <a:off x="311700" y="252175"/>
            <a:ext cx="3106500" cy="43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Poisson Distribution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Cumulative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(Many pages omitted)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Average number of calls per hour is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What is p(x&lt;4)?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lambda = 3 and x =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0.6472 or 64.72%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p(x&gt;4)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1-.6472 =  .3528 = 35.28%</a:t>
            </a:r>
            <a:endParaRPr/>
          </a:p>
        </p:txBody>
      </p:sp>
      <p:pic>
        <p:nvPicPr>
          <p:cNvPr id="393" name="Google Shape;3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8049" y="916350"/>
            <a:ext cx="4928226" cy="3652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4" name="Google Shape;394;p57"/>
          <p:cNvCxnSpPr/>
          <p:nvPr/>
        </p:nvCxnSpPr>
        <p:spPr>
          <a:xfrm flipH="1" rot="10800000">
            <a:off x="1994325" y="3193150"/>
            <a:ext cx="3976800" cy="1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Probability</a:t>
            </a:r>
            <a:endParaRPr/>
          </a:p>
        </p:txBody>
      </p:sp>
      <p:pic>
        <p:nvPicPr>
          <p:cNvPr id="400" name="Google Shape;400;p58"/>
          <p:cNvPicPr preferRelativeResize="0"/>
          <p:nvPr/>
        </p:nvPicPr>
        <p:blipFill rotWithShape="1">
          <a:blip r:embed="rId3">
            <a:alphaModFix/>
          </a:blip>
          <a:srcRect b="45534" l="0" r="0" t="0"/>
          <a:stretch/>
        </p:blipFill>
        <p:spPr>
          <a:xfrm>
            <a:off x="1561850" y="1294371"/>
            <a:ext cx="6020300" cy="185127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8"/>
          <p:cNvSpPr txBox="1"/>
          <p:nvPr>
            <p:ph idx="1" type="body"/>
          </p:nvPr>
        </p:nvSpPr>
        <p:spPr>
          <a:xfrm>
            <a:off x="311700" y="3246975"/>
            <a:ext cx="83787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the probability of getting 10 calls in an hour if the average hourly call rate is 5?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Probability 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an average of 10 customers per hour, what is the probability you’ll have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customers (=): Calculate p(5)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Less than 5 customers (&lt;):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p(0) + p(1) + p(2) + p(3) + p(4)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of less customers (&lt;=):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p(0) + p(1) + p(2) + p(3) + p(4) + p(5)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More than 5 customers (&gt;):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Calculate 1 - [p(0) + p(1) + p(2) + p(3) + p(4) + p(5)]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5 of more customers (&gt;=):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Calculate 1 - [p(0) + p(1) + p(2) + p(3) + p(4)] </a:t>
            </a:r>
            <a:endParaRPr/>
          </a:p>
        </p:txBody>
      </p:sp>
      <p:pic>
        <p:nvPicPr>
          <p:cNvPr id="408" name="Google Shape;40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78525"/>
            <a:ext cx="4342174" cy="321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Poisson In Excel</a:t>
            </a:r>
            <a:endParaRPr/>
          </a:p>
        </p:txBody>
      </p:sp>
      <p:sp>
        <p:nvSpPr>
          <p:cNvPr id="414" name="Google Shape;41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=poisson.dist(x, mean, False) for specific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=poisson.dist(x, mean, True) for &lt;=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=1 - poisson.dist(x, mean, True) for 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Mean =/= Variance?!</a:t>
            </a:r>
            <a:endParaRPr/>
          </a:p>
        </p:txBody>
      </p:sp>
      <p:sp>
        <p:nvSpPr>
          <p:cNvPr id="420" name="Google Shape;42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variance &gt; mean = overdispersion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negative binomial distribution or generalized poisson distribution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variance &lt; mean = underdispersion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generalized poisson distribution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Poisson </a:t>
            </a:r>
            <a:endParaRPr/>
          </a:p>
        </p:txBody>
      </p:sp>
      <p:pic>
        <p:nvPicPr>
          <p:cNvPr id="426" name="Google Shape;42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024295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1720" y="1170125"/>
            <a:ext cx="377907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Distribution</a:t>
            </a:r>
            <a:endParaRPr/>
          </a:p>
        </p:txBody>
      </p:sp>
      <p:sp>
        <p:nvSpPr>
          <p:cNvPr id="433" name="Google Shape;433;p6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calculate the probability that the first success occurs on a specific trial.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Answers: What is the probability that the first success happens on trial x?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Outcomes are binary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Probability of success is constant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Trials are independent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Number of trials is </a:t>
            </a:r>
            <a:r>
              <a:rPr b="1" lang="en"/>
              <a:t>not fixed in advance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experiment continues until the first success</a:t>
            </a:r>
            <a:endParaRPr/>
          </a:p>
        </p:txBody>
      </p:sp>
      <p:sp>
        <p:nvSpPr>
          <p:cNvPr id="434" name="Google Shape;434;p6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be used to estimate: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trial on which a customer first makes a purchase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call on which a salesperson first closes a deal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day on which a machine first fails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The attempt on which a student first passes an exam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flip on which a coin first lands heads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Probability Example</a:t>
            </a:r>
            <a:endParaRPr/>
          </a:p>
        </p:txBody>
      </p:sp>
      <p:sp>
        <p:nvSpPr>
          <p:cNvPr id="440" name="Google Shape;440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probability that the first head occurs on the 4th coin flip?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0.5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=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P(X=4) = [(0.5)^3]*0.5 = 0.0625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Implication: Tails, Tails, Tails, Heads</a:t>
            </a:r>
            <a:endParaRPr/>
          </a:p>
        </p:txBody>
      </p:sp>
      <p:sp>
        <p:nvSpPr>
          <p:cNvPr id="441" name="Google Shape;441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Extensions: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(1-p)^x-1 = probability of no succes in the first X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Complement gives at least one success in first X trials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 &lt; x) = 1 - (1 - p)^x-1 (no success after first x trials)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 &lt;= x) = 1 - (1 - p)^x (at least one success after first x trials)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P(X &gt; x) = (1 - p)^x (no success in trials 1 - x)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P(X &gt;= x) = (1 - p)^x-1 (first success happens on trial x or later)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Geometric Distribution Problems</a:t>
            </a:r>
            <a:endParaRPr/>
          </a:p>
        </p:txBody>
      </p:sp>
      <p:graphicFrame>
        <p:nvGraphicFramePr>
          <p:cNvPr id="447" name="Google Shape;447;p65"/>
          <p:cNvGraphicFramePr/>
          <p:nvPr/>
        </p:nvGraphicFramePr>
        <p:xfrm>
          <a:off x="483538" y="140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{2B2B74BD-2BE7-4E28-B89F-D3BC367D84D5}</a:tableStyleId>
              </a:tblPr>
              <a:tblGrid>
                <a:gridCol w="1472200"/>
                <a:gridCol w="2381475"/>
                <a:gridCol w="3139225"/>
              </a:tblGrid>
              <a:tr h="510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Question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Formula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Interpretation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=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(1-p)^{x-1}p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First success on trial 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&lt;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( 1-(1-p)^{x-1}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Success before 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=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( 1-(1-p)^x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Success by 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&gt;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(1-p)^x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Still waiting after 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X &gt;= x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 (1-p)^{x-1}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 or later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Geometric Distribution</a:t>
            </a:r>
            <a:endParaRPr/>
          </a:p>
        </p:txBody>
      </p:sp>
      <p:sp>
        <p:nvSpPr>
          <p:cNvPr id="453" name="Google Shape;453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model the number of attempts until first success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20% chance of making a sale.  How many meetings are needed until first sale?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many meetings until a sale?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E(X) = 1 / 0.2 =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P(sale on 3rd meeting)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00" y="2020575"/>
            <a:ext cx="4343900" cy="22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9125" y="3583650"/>
            <a:ext cx="3395000" cy="98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and Variance of Geometric Distributed Data</a:t>
            </a:r>
            <a:endParaRPr/>
          </a:p>
        </p:txBody>
      </p:sp>
      <p:sp>
        <p:nvSpPr>
          <p:cNvPr id="462" name="Google Shape;462;p6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 = probability of success per trial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Mean = E[X] = 1/p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Variance = (1-p)/p^2</a:t>
            </a:r>
            <a:endParaRPr sz="1800"/>
          </a:p>
        </p:txBody>
      </p:sp>
      <p:sp>
        <p:nvSpPr>
          <p:cNvPr id="463" name="Google Shape;463;p6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Statistics For Discrete Distributions</a:t>
            </a:r>
            <a:endParaRPr/>
          </a:p>
        </p:txBody>
      </p:sp>
      <p:sp>
        <p:nvSpPr>
          <p:cNvPr id="469" name="Google Shape;469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Variance: </a:t>
            </a:r>
            <a:endParaRPr/>
          </a:p>
        </p:txBody>
      </p:sp>
      <p:pic>
        <p:nvPicPr>
          <p:cNvPr id="470" name="Google Shape;47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050" y="968475"/>
            <a:ext cx="3421875" cy="9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7050" y="2251550"/>
            <a:ext cx="5132825" cy="11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