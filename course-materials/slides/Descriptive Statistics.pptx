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3500" cx="9144000"/>
  <p:notesSz cx="6858000" cy="9144000"/>
  <p:embeddedFontLst>
    <p:embeddedFont>
      <p:font typeface="Proxima Nova"/>
      <p:regular r:id="rId63"/>
      <p:bold r:id="rId64"/>
      <p:italic r:id="rId65"/>
      <p:boldItalic r:id="rId66"/>
    </p:embeddedFont>
    <p:embeddedFont>
      <p:font typeface="Alfa Slab One"/>
      <p:regular r:id="rId67"/>
    </p:embeddedFont>
    <p:embeddedFont>
      <p:font typeface="Open Sans"/>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9DC9EB-9361-4B51-8153-D682CE428B52}">
  <a:tblStyle styleId="{A49DC9EB-9361-4B51-8153-D682CE428B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boldItalic.fntdata"/><Relationship Id="rId70" Type="http://schemas.openxmlformats.org/officeDocument/2006/relationships/font" Target="fonts/OpenSans-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roximaNova-bold.fntdata"/><Relationship Id="rId63" Type="http://schemas.openxmlformats.org/officeDocument/2006/relationships/font" Target="fonts/ProximaNova-regular.fntdata"/><Relationship Id="rId22" Type="http://schemas.openxmlformats.org/officeDocument/2006/relationships/slide" Target="slides/slide16.xml"/><Relationship Id="rId66" Type="http://schemas.openxmlformats.org/officeDocument/2006/relationships/font" Target="fonts/ProximaNova-boldItalic.fntdata"/><Relationship Id="rId21" Type="http://schemas.openxmlformats.org/officeDocument/2006/relationships/slide" Target="slides/slide15.xml"/><Relationship Id="rId65" Type="http://schemas.openxmlformats.org/officeDocument/2006/relationships/font" Target="fonts/ProximaNova-italic.fntdata"/><Relationship Id="rId24" Type="http://schemas.openxmlformats.org/officeDocument/2006/relationships/slide" Target="slides/slide18.xml"/><Relationship Id="rId68" Type="http://schemas.openxmlformats.org/officeDocument/2006/relationships/font" Target="fonts/OpenSans-regular.fntdata"/><Relationship Id="rId23" Type="http://schemas.openxmlformats.org/officeDocument/2006/relationships/slide" Target="slides/slide17.xml"/><Relationship Id="rId67" Type="http://schemas.openxmlformats.org/officeDocument/2006/relationships/font" Target="fonts/AlfaSlabOne-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2717c0bb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2717c0bb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2717c0bb5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2717c0bb5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51b89d698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51b89d698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cafa005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cafa005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2717c0bb5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2717c0bb5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f372d030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f372d030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1b89d698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1b89d698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1b89d69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1b89d69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f49c845e9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f49c845e9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51b89d698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51b89d698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49c845e9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f49c845e9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51b89d69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51b89d69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51b89d698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51b89d698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4968cc9e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4968cc9e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1b89d698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51b89d698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https://en.wikipedia.org/wiki/Bessel%27s_correction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1b89d698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1b89d698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035a1099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035a1099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https://mathcenter.oxford.emory.edu/site/math117/besselCorrection/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1b89d698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51b89d698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51b89d698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51b89d698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8853f712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68853f712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8853f712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8853f712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9cd79c6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9cd79c6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49c845e9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f49c845e9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51b89d698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51b89d698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350c6503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c350c6503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51c7ec20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51c7ec20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f372d030b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f372d030b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90740e35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90740e35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51c7ec207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51c7ec207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51b89d698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51b89d698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a3e43ca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ea3e43ca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1c7ec207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51c7ec207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c350c650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c350c650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f49c845e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f49c845e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a3e43ca1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ea3e43ca1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c350c6503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c350c6503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6417e5a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66417e5a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d8318b3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d8318b3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c350c6503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c350c6503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2ab2d931f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2ab2d931f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2ab2d931f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2ab2d931f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2ab2d931f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2ab2d931f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2ab2d931f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2ab2d931f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454ca687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454ca687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2ab2d931f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2ab2d931f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f49c845e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f49c845e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2ab2d931f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2ab2d931f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2ab2d931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2ab2d931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2ab2d931f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2ab2d931f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2ab2d931f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2ab2d931f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2ab2d931f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2ab2d931f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2ab2d931f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2ab2d931f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2ab2d931f9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2ab2d931f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545b59bd5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545b59bd5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545b59bd5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545b59bd5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17.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www.youtube.com/watch?v=kn83BA7cRNM" TargetMode="External"/><Relationship Id="rId4" Type="http://schemas.openxmlformats.org/officeDocument/2006/relationships/image" Target="../media/image37.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www.youtube.com/watch?v=R4yfNi_8Kqw" TargetMode="External"/><Relationship Id="rId4" Type="http://schemas.openxmlformats.org/officeDocument/2006/relationships/image" Target="../media/image3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Descriptive Statistics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Descriptive vs Inferential Statistics</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Statistics is often separated into two categories: </a:t>
            </a:r>
            <a:r>
              <a:rPr b="1" lang="en"/>
              <a:t>Descriptive and Inferential</a:t>
            </a:r>
            <a:endParaRPr b="1"/>
          </a:p>
          <a:p>
            <a:pPr indent="0" lvl="0" marL="0" rtl="0" algn="l">
              <a:spcBef>
                <a:spcPts val="1200"/>
              </a:spcBef>
              <a:spcAft>
                <a:spcPts val="0"/>
              </a:spcAft>
              <a:buNone/>
            </a:pPr>
            <a:r>
              <a:rPr b="1" lang="en"/>
              <a:t>Descriptive </a:t>
            </a:r>
            <a:r>
              <a:rPr b="1" lang="en"/>
              <a:t>statistics</a:t>
            </a:r>
            <a:r>
              <a:rPr lang="en"/>
              <a:t> seeks to…describe or summarize data in a clear, concise, and standardized way, allowing us to quickly understand the </a:t>
            </a:r>
            <a:r>
              <a:rPr lang="en"/>
              <a:t>fundamental</a:t>
            </a:r>
            <a:r>
              <a:rPr lang="en"/>
              <a:t> characteristics of a data set, as well as to make simple comparisons between data sets</a:t>
            </a:r>
            <a:endParaRPr/>
          </a:p>
          <a:p>
            <a:pPr indent="0" lvl="0" marL="0" rtl="0" algn="l">
              <a:spcBef>
                <a:spcPts val="1200"/>
              </a:spcBef>
              <a:spcAft>
                <a:spcPts val="0"/>
              </a:spcAft>
              <a:buNone/>
            </a:pPr>
            <a:r>
              <a:rPr lang="en"/>
              <a:t>Examples of descriptive statistics include averages, ranges, variance, etc.</a:t>
            </a:r>
            <a:endParaRPr/>
          </a:p>
          <a:p>
            <a:pPr indent="0" lvl="0" marL="0" rtl="0" algn="l">
              <a:spcBef>
                <a:spcPts val="1200"/>
              </a:spcBef>
              <a:spcAft>
                <a:spcPts val="0"/>
              </a:spcAft>
              <a:buNone/>
            </a:pPr>
            <a:r>
              <a:rPr b="1" lang="en"/>
              <a:t>Inferential statistics</a:t>
            </a:r>
            <a:r>
              <a:rPr lang="en"/>
              <a:t> seeks to…infer the properties of a population from a sample using probability theory</a:t>
            </a:r>
            <a:endParaRPr/>
          </a:p>
          <a:p>
            <a:pPr indent="0" lvl="0" marL="0" rtl="0" algn="l">
              <a:spcBef>
                <a:spcPts val="1200"/>
              </a:spcBef>
              <a:spcAft>
                <a:spcPts val="0"/>
              </a:spcAft>
              <a:buNone/>
            </a:pPr>
            <a:r>
              <a:rPr lang="en"/>
              <a:t>Examples of inferential statistics include hypothesis testing, confidence intervals, regression analysis, etc.</a:t>
            </a:r>
            <a:endParaRPr/>
          </a:p>
          <a:p>
            <a:pPr indent="0" lvl="0" marL="45720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Descriptive Statistics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Main types of descriptive statistics:</a:t>
            </a:r>
            <a:endParaRPr sz="2500"/>
          </a:p>
          <a:p>
            <a:pPr indent="-387350" lvl="0" marL="457200" rtl="0" algn="l">
              <a:spcBef>
                <a:spcPts val="1200"/>
              </a:spcBef>
              <a:spcAft>
                <a:spcPts val="0"/>
              </a:spcAft>
              <a:buSzPts val="2500"/>
              <a:buAutoNum type="arabicParenR"/>
            </a:pPr>
            <a:r>
              <a:rPr lang="en" sz="2500"/>
              <a:t>Measures of central </a:t>
            </a:r>
            <a:r>
              <a:rPr lang="en" sz="2500"/>
              <a:t>tendency </a:t>
            </a:r>
            <a:endParaRPr sz="2500"/>
          </a:p>
          <a:p>
            <a:pPr indent="-387350" lvl="0" marL="457200" rtl="0" algn="l">
              <a:spcBef>
                <a:spcPts val="0"/>
              </a:spcBef>
              <a:spcAft>
                <a:spcPts val="0"/>
              </a:spcAft>
              <a:buSzPts val="2500"/>
              <a:buAutoNum type="arabicParenR"/>
            </a:pPr>
            <a:r>
              <a:rPr lang="en" sz="2500"/>
              <a:t>Measures of spread / dispersion  </a:t>
            </a:r>
            <a:endParaRPr sz="2500"/>
          </a:p>
          <a:p>
            <a:pPr indent="-387350" lvl="0" marL="457200" rtl="0" algn="l">
              <a:spcBef>
                <a:spcPts val="0"/>
              </a:spcBef>
              <a:spcAft>
                <a:spcPts val="0"/>
              </a:spcAft>
              <a:buSzPts val="2500"/>
              <a:buAutoNum type="arabicParenR"/>
            </a:pPr>
            <a:r>
              <a:rPr lang="en" sz="2500"/>
              <a:t>Distribution / Shape</a:t>
            </a:r>
            <a:endParaRPr sz="2500"/>
          </a:p>
          <a:p>
            <a:pPr indent="-387350" lvl="0" marL="457200" rtl="0" algn="l">
              <a:spcBef>
                <a:spcPts val="0"/>
              </a:spcBef>
              <a:spcAft>
                <a:spcPts val="0"/>
              </a:spcAft>
              <a:buSzPts val="2500"/>
              <a:buAutoNum type="arabicParenR"/>
            </a:pPr>
            <a:r>
              <a:rPr lang="en" sz="2500"/>
              <a:t>Measures of association (if more than one series)</a:t>
            </a:r>
            <a:endParaRPr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Central Tendency</a:t>
            </a:r>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100"/>
              <a:t>Commonly referred to as “averages”</a:t>
            </a:r>
            <a:endParaRPr sz="2100"/>
          </a:p>
          <a:p>
            <a:pPr indent="0" lvl="0" marL="0" rtl="0" algn="l">
              <a:spcBef>
                <a:spcPts val="1200"/>
              </a:spcBef>
              <a:spcAft>
                <a:spcPts val="0"/>
              </a:spcAft>
              <a:buNone/>
            </a:pPr>
            <a:r>
              <a:rPr lang="en" sz="2100"/>
              <a:t>Used to give an idea of the “middle” of the data</a:t>
            </a:r>
            <a:endParaRPr sz="2100"/>
          </a:p>
          <a:p>
            <a:pPr indent="0" lvl="0" marL="0" rtl="0" algn="l">
              <a:spcBef>
                <a:spcPts val="1200"/>
              </a:spcBef>
              <a:spcAft>
                <a:spcPts val="0"/>
              </a:spcAft>
              <a:buNone/>
            </a:pPr>
            <a:r>
              <a:rPr lang="en" sz="2100"/>
              <a:t>We’re going to cover:</a:t>
            </a:r>
            <a:endParaRPr sz="2100"/>
          </a:p>
          <a:p>
            <a:pPr indent="-361950" lvl="0" marL="457200" rtl="0" algn="l">
              <a:spcBef>
                <a:spcPts val="1200"/>
              </a:spcBef>
              <a:spcAft>
                <a:spcPts val="0"/>
              </a:spcAft>
              <a:buSzPts val="2100"/>
              <a:buAutoNum type="arabicParenR"/>
            </a:pPr>
            <a:r>
              <a:rPr lang="en" sz="2100"/>
              <a:t>Arithmetic</a:t>
            </a:r>
            <a:r>
              <a:rPr lang="en" sz="2100"/>
              <a:t> mean</a:t>
            </a:r>
            <a:endParaRPr sz="2100"/>
          </a:p>
          <a:p>
            <a:pPr indent="-361950" lvl="0" marL="457200" rtl="0" algn="l">
              <a:spcBef>
                <a:spcPts val="0"/>
              </a:spcBef>
              <a:spcAft>
                <a:spcPts val="0"/>
              </a:spcAft>
              <a:buSzPts val="2100"/>
              <a:buAutoNum type="arabicParenR"/>
            </a:pPr>
            <a:r>
              <a:rPr lang="en" sz="2100"/>
              <a:t>Weighted mean</a:t>
            </a:r>
            <a:endParaRPr sz="2100"/>
          </a:p>
          <a:p>
            <a:pPr indent="-361950" lvl="0" marL="457200" rtl="0" algn="l">
              <a:spcBef>
                <a:spcPts val="0"/>
              </a:spcBef>
              <a:spcAft>
                <a:spcPts val="0"/>
              </a:spcAft>
              <a:buSzPts val="2100"/>
              <a:buAutoNum type="arabicParenR"/>
            </a:pPr>
            <a:r>
              <a:rPr lang="en" sz="2100"/>
              <a:t>Geometric mean</a:t>
            </a:r>
            <a:endParaRPr sz="2100"/>
          </a:p>
          <a:p>
            <a:pPr indent="-361950" lvl="0" marL="457200" rtl="0" algn="l">
              <a:spcBef>
                <a:spcPts val="0"/>
              </a:spcBef>
              <a:spcAft>
                <a:spcPts val="0"/>
              </a:spcAft>
              <a:buSzPts val="2100"/>
              <a:buAutoNum type="arabicParenR"/>
            </a:pPr>
            <a:r>
              <a:rPr lang="en" sz="2100"/>
              <a:t>Median</a:t>
            </a:r>
            <a:endParaRPr sz="2100"/>
          </a:p>
          <a:p>
            <a:pPr indent="-361950" lvl="0" marL="457200" rtl="0" algn="l">
              <a:spcBef>
                <a:spcPts val="0"/>
              </a:spcBef>
              <a:spcAft>
                <a:spcPts val="0"/>
              </a:spcAft>
              <a:buSzPts val="2100"/>
              <a:buAutoNum type="arabicParenR"/>
            </a:pPr>
            <a:r>
              <a:rPr lang="en" sz="2100"/>
              <a:t>Mode</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p:cNvPicPr preferRelativeResize="0"/>
          <p:nvPr/>
        </p:nvPicPr>
        <p:blipFill>
          <a:blip r:embed="rId3">
            <a:alphaModFix/>
          </a:blip>
          <a:stretch>
            <a:fillRect/>
          </a:stretch>
        </p:blipFill>
        <p:spPr>
          <a:xfrm>
            <a:off x="946462" y="603600"/>
            <a:ext cx="7251075" cy="3616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Central Tendency: </a:t>
            </a:r>
            <a:r>
              <a:rPr lang="en"/>
              <a:t>Arithmetic</a:t>
            </a:r>
            <a:r>
              <a:rPr lang="en"/>
              <a:t> Mean</a:t>
            </a:r>
            <a:endParaRPr/>
          </a:p>
        </p:txBody>
      </p:sp>
      <p:sp>
        <p:nvSpPr>
          <p:cNvPr id="85" name="Google Shape;85;p18"/>
          <p:cNvSpPr txBox="1"/>
          <p:nvPr>
            <p:ph idx="1" type="body"/>
          </p:nvPr>
        </p:nvSpPr>
        <p:spPr>
          <a:xfrm>
            <a:off x="311700" y="1502075"/>
            <a:ext cx="42603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sz="1943"/>
              <a:t>There are many types of “average”.</a:t>
            </a:r>
            <a:endParaRPr sz="1943"/>
          </a:p>
          <a:p>
            <a:pPr indent="0" lvl="0" marL="0" rtl="0" algn="l">
              <a:spcBef>
                <a:spcPts val="1200"/>
              </a:spcBef>
              <a:spcAft>
                <a:spcPts val="0"/>
              </a:spcAft>
              <a:buNone/>
            </a:pPr>
            <a:r>
              <a:rPr lang="en" sz="1943"/>
              <a:t>The most common is the “</a:t>
            </a:r>
            <a:r>
              <a:rPr lang="en" sz="1943"/>
              <a:t>arithmetic</a:t>
            </a:r>
            <a:r>
              <a:rPr lang="en" sz="1943"/>
              <a:t> mean”, often just called the “mean”</a:t>
            </a:r>
            <a:endParaRPr sz="1943"/>
          </a:p>
          <a:p>
            <a:pPr indent="0" lvl="0" marL="0" rtl="0" algn="l">
              <a:spcBef>
                <a:spcPts val="1200"/>
              </a:spcBef>
              <a:spcAft>
                <a:spcPts val="0"/>
              </a:spcAft>
              <a:buNone/>
            </a:pPr>
            <a:r>
              <a:rPr lang="en" sz="1943"/>
              <a:t>Add up all the numbers, then divide by the number of numbers in the series</a:t>
            </a:r>
            <a:endParaRPr sz="1943"/>
          </a:p>
          <a:p>
            <a:pPr indent="0" lvl="0" marL="0" rtl="0" algn="l">
              <a:spcBef>
                <a:spcPts val="1200"/>
              </a:spcBef>
              <a:spcAft>
                <a:spcPts val="0"/>
              </a:spcAft>
              <a:buNone/>
            </a:pPr>
            <a:r>
              <a:rPr lang="en" sz="1943"/>
              <a:t>If we have a series of five numbers {1, 2, 3, 4, 5}</a:t>
            </a:r>
            <a:endParaRPr sz="1943"/>
          </a:p>
          <a:p>
            <a:pPr indent="0" lvl="0" marL="0" rtl="0" algn="l">
              <a:spcBef>
                <a:spcPts val="1200"/>
              </a:spcBef>
              <a:spcAft>
                <a:spcPts val="0"/>
              </a:spcAft>
              <a:buNone/>
            </a:pPr>
            <a:r>
              <a:rPr lang="en" sz="1943"/>
              <a:t>1 + 2 + 3 + 4 + 5 = 15</a:t>
            </a:r>
            <a:endParaRPr sz="1943"/>
          </a:p>
          <a:p>
            <a:pPr indent="0" lvl="0" marL="0" rtl="0" algn="l">
              <a:spcBef>
                <a:spcPts val="1200"/>
              </a:spcBef>
              <a:spcAft>
                <a:spcPts val="0"/>
              </a:spcAft>
              <a:buNone/>
            </a:pPr>
            <a:r>
              <a:rPr lang="en" sz="1943"/>
              <a:t>15 / 5 =  3</a:t>
            </a:r>
            <a:endParaRPr sz="1943"/>
          </a:p>
          <a:p>
            <a:pPr indent="0" lvl="0" marL="0" rtl="0" algn="l">
              <a:spcBef>
                <a:spcPts val="1200"/>
              </a:spcBef>
              <a:spcAft>
                <a:spcPts val="0"/>
              </a:spcAft>
              <a:buNone/>
            </a:pPr>
            <a:r>
              <a:t/>
            </a:r>
            <a:endParaRPr sz="1943"/>
          </a:p>
          <a:p>
            <a:pPr indent="0" lvl="0" marL="0" rtl="0" algn="l">
              <a:spcBef>
                <a:spcPts val="1200"/>
              </a:spcBef>
              <a:spcAft>
                <a:spcPts val="1200"/>
              </a:spcAft>
              <a:buNone/>
            </a:pPr>
            <a:r>
              <a:rPr lang="en" sz="1943"/>
              <a:t>Warning: The arithmetic mean is sensitive to extreme values / outliers</a:t>
            </a:r>
            <a:endParaRPr sz="1943"/>
          </a:p>
        </p:txBody>
      </p:sp>
      <p:pic>
        <p:nvPicPr>
          <p:cNvPr id="86" name="Google Shape;86;p18"/>
          <p:cNvPicPr preferRelativeResize="0"/>
          <p:nvPr/>
        </p:nvPicPr>
        <p:blipFill>
          <a:blip r:embed="rId3">
            <a:alphaModFix/>
          </a:blip>
          <a:stretch>
            <a:fillRect/>
          </a:stretch>
        </p:blipFill>
        <p:spPr>
          <a:xfrm>
            <a:off x="5651750" y="1601450"/>
            <a:ext cx="2419350" cy="2076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Central Tendency: Weighted Mean</a:t>
            </a:r>
            <a:endParaRPr/>
          </a:p>
        </p:txBody>
      </p:sp>
      <p:sp>
        <p:nvSpPr>
          <p:cNvPr id="92" name="Google Shape;92;p19"/>
          <p:cNvSpPr txBox="1"/>
          <p:nvPr>
            <p:ph idx="1" type="body"/>
          </p:nvPr>
        </p:nvSpPr>
        <p:spPr>
          <a:xfrm>
            <a:off x="311700" y="1558625"/>
            <a:ext cx="3567600" cy="301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Used when observations contribute to average unequally</a:t>
            </a:r>
            <a:endParaRPr/>
          </a:p>
          <a:p>
            <a:pPr indent="0" lvl="0" marL="0" rtl="0" algn="l">
              <a:spcBef>
                <a:spcPts val="1200"/>
              </a:spcBef>
              <a:spcAft>
                <a:spcPts val="0"/>
              </a:spcAft>
              <a:buNone/>
            </a:pPr>
            <a:r>
              <a:rPr lang="en"/>
              <a:t>Prevents small groups from having the same </a:t>
            </a:r>
            <a:r>
              <a:rPr lang="en"/>
              <a:t>influence</a:t>
            </a:r>
            <a:r>
              <a:rPr lang="en"/>
              <a:t> as large groups</a:t>
            </a:r>
            <a:endParaRPr/>
          </a:p>
          <a:p>
            <a:pPr indent="0" lvl="0" marL="0" rtl="0" algn="l">
              <a:spcBef>
                <a:spcPts val="1200"/>
              </a:spcBef>
              <a:spcAft>
                <a:spcPts val="0"/>
              </a:spcAft>
              <a:buNone/>
            </a:pPr>
            <a:r>
              <a:rPr lang="en"/>
              <a:t>Xi = value, Wi = weight</a:t>
            </a:r>
            <a:endParaRPr/>
          </a:p>
          <a:p>
            <a:pPr indent="0" lvl="0" marL="0" rtl="0" algn="l">
              <a:spcBef>
                <a:spcPts val="1200"/>
              </a:spcBef>
              <a:spcAft>
                <a:spcPts val="0"/>
              </a:spcAft>
              <a:buNone/>
            </a:pPr>
            <a:r>
              <a:rPr lang="en"/>
              <a:t>[70(10) + 80(20) + 90(30)] / [10 + 20 + 30]</a:t>
            </a:r>
            <a:endParaRPr/>
          </a:p>
          <a:p>
            <a:pPr indent="0" lvl="0" marL="0" rtl="0" algn="l">
              <a:spcBef>
                <a:spcPts val="1200"/>
              </a:spcBef>
              <a:spcAft>
                <a:spcPts val="0"/>
              </a:spcAft>
              <a:buNone/>
            </a:pPr>
            <a:r>
              <a:rPr lang="en"/>
              <a:t>=83.33 vs </a:t>
            </a:r>
            <a:r>
              <a:rPr lang="en"/>
              <a:t>arithmetic</a:t>
            </a:r>
            <a:r>
              <a:rPr lang="en"/>
              <a:t> mean of 80</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93" name="Google Shape;93;p19"/>
          <p:cNvPicPr preferRelativeResize="0"/>
          <p:nvPr/>
        </p:nvPicPr>
        <p:blipFill>
          <a:blip r:embed="rId3">
            <a:alphaModFix/>
          </a:blip>
          <a:stretch>
            <a:fillRect/>
          </a:stretch>
        </p:blipFill>
        <p:spPr>
          <a:xfrm>
            <a:off x="6771400" y="1188925"/>
            <a:ext cx="1881625" cy="826900"/>
          </a:xfrm>
          <a:prstGeom prst="rect">
            <a:avLst/>
          </a:prstGeom>
          <a:noFill/>
          <a:ln>
            <a:noFill/>
          </a:ln>
        </p:spPr>
      </p:pic>
      <p:graphicFrame>
        <p:nvGraphicFramePr>
          <p:cNvPr id="94" name="Google Shape;94;p19"/>
          <p:cNvGraphicFramePr/>
          <p:nvPr/>
        </p:nvGraphicFramePr>
        <p:xfrm>
          <a:off x="4814500" y="2735225"/>
          <a:ext cx="3000000" cy="3000000"/>
        </p:xfrm>
        <a:graphic>
          <a:graphicData uri="http://schemas.openxmlformats.org/drawingml/2006/table">
            <a:tbl>
              <a:tblPr>
                <a:noFill/>
                <a:tableStyleId>{A49DC9EB-9361-4B51-8153-D682CE428B52}</a:tableStyleId>
              </a:tblPr>
              <a:tblGrid>
                <a:gridCol w="2008900"/>
                <a:gridCol w="2008900"/>
              </a:tblGrid>
              <a:tr h="381000">
                <a:tc>
                  <a:txBody>
                    <a:bodyPr/>
                    <a:lstStyle/>
                    <a:p>
                      <a:pPr indent="0" lvl="0" marL="0" rtl="0" algn="l">
                        <a:spcBef>
                          <a:spcPts val="0"/>
                        </a:spcBef>
                        <a:spcAft>
                          <a:spcPts val="0"/>
                        </a:spcAft>
                        <a:buNone/>
                      </a:pPr>
                      <a:r>
                        <a:rPr lang="en"/>
                        <a:t>Score</a:t>
                      </a:r>
                      <a:endParaRPr/>
                    </a:p>
                  </a:txBody>
                  <a:tcPr marT="91425" marB="91425" marR="91425" marL="91425"/>
                </a:tc>
                <a:tc>
                  <a:txBody>
                    <a:bodyPr/>
                    <a:lstStyle/>
                    <a:p>
                      <a:pPr indent="0" lvl="0" marL="0" rtl="0" algn="l">
                        <a:spcBef>
                          <a:spcPts val="0"/>
                        </a:spcBef>
                        <a:spcAft>
                          <a:spcPts val="0"/>
                        </a:spcAft>
                        <a:buNone/>
                      </a:pPr>
                      <a:r>
                        <a:rPr lang="en"/>
                        <a:t>Students</a:t>
                      </a:r>
                      <a:endParaRPr/>
                    </a:p>
                  </a:txBody>
                  <a:tcPr marT="91425" marB="91425" marR="91425" marL="91425"/>
                </a:tc>
              </a:tr>
              <a:tr h="381000">
                <a:tc>
                  <a:txBody>
                    <a:bodyPr/>
                    <a:lstStyle/>
                    <a:p>
                      <a:pPr indent="0" lvl="0" marL="0" rtl="0" algn="l">
                        <a:spcBef>
                          <a:spcPts val="0"/>
                        </a:spcBef>
                        <a:spcAft>
                          <a:spcPts val="0"/>
                        </a:spcAft>
                        <a:buNone/>
                      </a:pPr>
                      <a:r>
                        <a:rPr lang="en"/>
                        <a:t>70</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r>
              <a:tr h="381000">
                <a:tc>
                  <a:txBody>
                    <a:bodyPr/>
                    <a:lstStyle/>
                    <a:p>
                      <a:pPr indent="0" lvl="0" marL="0" rtl="0" algn="l">
                        <a:spcBef>
                          <a:spcPts val="0"/>
                        </a:spcBef>
                        <a:spcAft>
                          <a:spcPts val="0"/>
                        </a:spcAft>
                        <a:buNone/>
                      </a:pPr>
                      <a:r>
                        <a:rPr lang="en"/>
                        <a:t>80</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r>
              <a:tr h="381000">
                <a:tc>
                  <a:txBody>
                    <a:bodyPr/>
                    <a:lstStyle/>
                    <a:p>
                      <a:pPr indent="0" lvl="0" marL="0" rtl="0" algn="l">
                        <a:spcBef>
                          <a:spcPts val="0"/>
                        </a:spcBef>
                        <a:spcAft>
                          <a:spcPts val="0"/>
                        </a:spcAft>
                        <a:buNone/>
                      </a:pPr>
                      <a:r>
                        <a:rPr lang="en"/>
                        <a:t>90</a:t>
                      </a:r>
                      <a:endParaRPr/>
                    </a:p>
                  </a:txBody>
                  <a:tcPr marT="91425" marB="91425" marR="91425" marL="91425"/>
                </a:tc>
                <a:tc>
                  <a:txBody>
                    <a:bodyPr/>
                    <a:lstStyle/>
                    <a:p>
                      <a:pPr indent="0" lvl="0" marL="0" rtl="0" algn="l">
                        <a:spcBef>
                          <a:spcPts val="0"/>
                        </a:spcBef>
                        <a:spcAft>
                          <a:spcPts val="0"/>
                        </a:spcAft>
                        <a:buNone/>
                      </a:pPr>
                      <a:r>
                        <a:rPr lang="en"/>
                        <a:t>30</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Central Tendency: Geometric Mean</a:t>
            </a:r>
            <a:endParaRPr/>
          </a:p>
        </p:txBody>
      </p:sp>
      <p:sp>
        <p:nvSpPr>
          <p:cNvPr id="100" name="Google Shape;100;p20"/>
          <p:cNvSpPr txBox="1"/>
          <p:nvPr>
            <p:ph idx="1" type="body"/>
          </p:nvPr>
        </p:nvSpPr>
        <p:spPr>
          <a:xfrm>
            <a:off x="311700" y="1325550"/>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The geometric mean is used for multiplicative change, growth rates, and compound returns</a:t>
            </a:r>
            <a:endParaRPr/>
          </a:p>
          <a:p>
            <a:pPr indent="0" lvl="0" marL="0" rtl="0" algn="l">
              <a:spcBef>
                <a:spcPts val="1200"/>
              </a:spcBef>
              <a:spcAft>
                <a:spcPts val="0"/>
              </a:spcAft>
              <a:buNone/>
            </a:pPr>
            <a:r>
              <a:rPr lang="en"/>
              <a:t>Examples: Investment returns, population growth, inflation rates</a:t>
            </a:r>
            <a:endParaRPr/>
          </a:p>
          <a:p>
            <a:pPr indent="0" lvl="0" marL="0" rtl="0" algn="l">
              <a:spcBef>
                <a:spcPts val="1200"/>
              </a:spcBef>
              <a:spcAft>
                <a:spcPts val="0"/>
              </a:spcAft>
              <a:buNone/>
            </a:pPr>
            <a:r>
              <a:rPr lang="en"/>
              <a:t>Multiply each number in a series together, then take the n’th root of that product, where n is the number of numbers in our series</a:t>
            </a:r>
            <a:endParaRPr/>
          </a:p>
          <a:p>
            <a:pPr indent="0" lvl="0" marL="0" rtl="0" algn="l">
              <a:spcBef>
                <a:spcPts val="1200"/>
              </a:spcBef>
              <a:spcAft>
                <a:spcPts val="0"/>
              </a:spcAft>
              <a:buNone/>
            </a:pPr>
            <a:r>
              <a:rPr lang="en"/>
              <a:t>The n’th root of x is the number y such that raising y^n = x</a:t>
            </a:r>
            <a:endParaRPr/>
          </a:p>
          <a:p>
            <a:pPr indent="0" lvl="0" marL="0" rtl="0" algn="l">
              <a:spcBef>
                <a:spcPts val="1200"/>
              </a:spcBef>
              <a:spcAft>
                <a:spcPts val="0"/>
              </a:spcAft>
              <a:buNone/>
            </a:pPr>
            <a:r>
              <a:rPr lang="en"/>
              <a:t>Given {1, 2, 4, 8, 16}, we multiply 1 x 2 x 4 x 8 x 16 = 1024</a:t>
            </a:r>
            <a:endParaRPr/>
          </a:p>
          <a:p>
            <a:pPr indent="0" lvl="0" marL="0" rtl="0" algn="l">
              <a:spcBef>
                <a:spcPts val="1200"/>
              </a:spcBef>
              <a:spcAft>
                <a:spcPts val="0"/>
              </a:spcAft>
              <a:buNone/>
            </a:pPr>
            <a:r>
              <a:rPr lang="en"/>
              <a:t>1024^(⅕) = 4</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01" name="Google Shape;101;p20"/>
          <p:cNvPicPr preferRelativeResize="0"/>
          <p:nvPr/>
        </p:nvPicPr>
        <p:blipFill>
          <a:blip r:embed="rId3">
            <a:alphaModFix/>
          </a:blip>
          <a:stretch>
            <a:fillRect/>
          </a:stretch>
        </p:blipFill>
        <p:spPr>
          <a:xfrm>
            <a:off x="5661075" y="3809300"/>
            <a:ext cx="2566125" cy="98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29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Measures of Central Tendency: Geometric Mean Rate of Return</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Geometric Rate of Return = [(1+R1)(1+R2)...(1+Rn)]^(1/n) - 1</a:t>
            </a:r>
            <a:endParaRPr/>
          </a:p>
          <a:p>
            <a:pPr indent="0" lvl="0" marL="0" rtl="0" algn="l">
              <a:spcBef>
                <a:spcPts val="1200"/>
              </a:spcBef>
              <a:spcAft>
                <a:spcPts val="1200"/>
              </a:spcAft>
              <a:buNone/>
            </a:pPr>
            <a:r>
              <a:t/>
            </a:r>
            <a:endParaRPr/>
          </a:p>
        </p:txBody>
      </p:sp>
      <p:graphicFrame>
        <p:nvGraphicFramePr>
          <p:cNvPr id="108" name="Google Shape;108;p21"/>
          <p:cNvGraphicFramePr/>
          <p:nvPr/>
        </p:nvGraphicFramePr>
        <p:xfrm>
          <a:off x="857100" y="1646900"/>
          <a:ext cx="3000000" cy="3000000"/>
        </p:xfrm>
        <a:graphic>
          <a:graphicData uri="http://schemas.openxmlformats.org/drawingml/2006/table">
            <a:tbl>
              <a:tblPr>
                <a:noFill/>
                <a:tableStyleId>{A49DC9EB-9361-4B51-8153-D682CE428B52}</a:tableStyleId>
              </a:tblPr>
              <a:tblGrid>
                <a:gridCol w="1369450"/>
                <a:gridCol w="1369450"/>
                <a:gridCol w="1369450"/>
                <a:gridCol w="1369450"/>
              </a:tblGrid>
              <a:tr h="396200">
                <a:tc>
                  <a:txBody>
                    <a:bodyPr/>
                    <a:lstStyle/>
                    <a:p>
                      <a:pPr indent="0" lvl="0" marL="0" rtl="0" algn="l">
                        <a:spcBef>
                          <a:spcPts val="0"/>
                        </a:spcBef>
                        <a:spcAft>
                          <a:spcPts val="0"/>
                        </a:spcAft>
                        <a:buNone/>
                      </a:pPr>
                      <a:r>
                        <a:rPr lang="en"/>
                        <a:t>Period</a:t>
                      </a:r>
                      <a:endParaRPr/>
                    </a:p>
                  </a:txBody>
                  <a:tcPr marT="91425" marB="91425" marR="91425" marL="91425"/>
                </a:tc>
                <a:tc>
                  <a:txBody>
                    <a:bodyPr/>
                    <a:lstStyle/>
                    <a:p>
                      <a:pPr indent="0" lvl="0" marL="0" rtl="0" algn="l">
                        <a:spcBef>
                          <a:spcPts val="0"/>
                        </a:spcBef>
                        <a:spcAft>
                          <a:spcPts val="0"/>
                        </a:spcAft>
                        <a:buNone/>
                      </a:pPr>
                      <a:r>
                        <a:rPr lang="en"/>
                        <a:t>Starting Amount</a:t>
                      </a:r>
                      <a:endParaRPr/>
                    </a:p>
                  </a:txBody>
                  <a:tcPr marT="91425" marB="91425" marR="91425" marL="91425"/>
                </a:tc>
                <a:tc>
                  <a:txBody>
                    <a:bodyPr/>
                    <a:lstStyle/>
                    <a:p>
                      <a:pPr indent="0" lvl="0" marL="0" rtl="0" algn="l">
                        <a:spcBef>
                          <a:spcPts val="0"/>
                        </a:spcBef>
                        <a:spcAft>
                          <a:spcPts val="0"/>
                        </a:spcAft>
                        <a:buNone/>
                      </a:pPr>
                      <a:r>
                        <a:rPr lang="en"/>
                        <a:t>Interest Rate</a:t>
                      </a:r>
                      <a:endParaRPr/>
                    </a:p>
                  </a:txBody>
                  <a:tcPr marT="91425" marB="91425" marR="91425" marL="91425"/>
                </a:tc>
                <a:tc>
                  <a:txBody>
                    <a:bodyPr/>
                    <a:lstStyle/>
                    <a:p>
                      <a:pPr indent="0" lvl="0" marL="0" rtl="0" algn="l">
                        <a:spcBef>
                          <a:spcPts val="0"/>
                        </a:spcBef>
                        <a:spcAft>
                          <a:spcPts val="0"/>
                        </a:spcAft>
                        <a:buNone/>
                      </a:pPr>
                      <a:r>
                        <a:rPr lang="en"/>
                        <a:t>Ending Amount</a:t>
                      </a:r>
                      <a:endParaRPr/>
                    </a:p>
                  </a:txBody>
                  <a:tcPr marT="91425" marB="91425" marR="91425" marL="91425"/>
                </a:tc>
              </a:tr>
              <a:tr h="3962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100,000</a:t>
                      </a:r>
                      <a:endParaRPr/>
                    </a:p>
                  </a:txBody>
                  <a:tcPr marT="91425" marB="91425" marR="91425" marL="91425"/>
                </a:tc>
                <a:tc>
                  <a:txBody>
                    <a:bodyPr/>
                    <a:lstStyle/>
                    <a:p>
                      <a:pPr indent="0" lvl="0" marL="0" rtl="0" algn="l">
                        <a:spcBef>
                          <a:spcPts val="0"/>
                        </a:spcBef>
                        <a:spcAft>
                          <a:spcPts val="0"/>
                        </a:spcAft>
                        <a:buNone/>
                      </a:pPr>
                      <a:r>
                        <a:rPr lang="en"/>
                        <a:t>.05</a:t>
                      </a:r>
                      <a:endParaRPr/>
                    </a:p>
                  </a:txBody>
                  <a:tcPr marT="91425" marB="91425" marR="91425" marL="91425"/>
                </a:tc>
                <a:tc>
                  <a:txBody>
                    <a:bodyPr/>
                    <a:lstStyle/>
                    <a:p>
                      <a:pPr indent="0" lvl="0" marL="0" rtl="0" algn="l">
                        <a:spcBef>
                          <a:spcPts val="0"/>
                        </a:spcBef>
                        <a:spcAft>
                          <a:spcPts val="0"/>
                        </a:spcAft>
                        <a:buNone/>
                      </a:pPr>
                      <a:r>
                        <a:rPr lang="en"/>
                        <a:t>105,000</a:t>
                      </a:r>
                      <a:endParaRPr/>
                    </a:p>
                  </a:txBody>
                  <a:tcPr marT="91425" marB="91425" marR="91425" marL="91425"/>
                </a:tc>
              </a:tr>
              <a:tr h="396200">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105,000</a:t>
                      </a:r>
                      <a:endParaRPr/>
                    </a:p>
                  </a:txBody>
                  <a:tcPr marT="91425" marB="91425" marR="91425" marL="91425"/>
                </a:tc>
                <a:tc>
                  <a:txBody>
                    <a:bodyPr/>
                    <a:lstStyle/>
                    <a:p>
                      <a:pPr indent="0" lvl="0" marL="0" rtl="0" algn="l">
                        <a:spcBef>
                          <a:spcPts val="0"/>
                        </a:spcBef>
                        <a:spcAft>
                          <a:spcPts val="0"/>
                        </a:spcAft>
                        <a:buNone/>
                      </a:pPr>
                      <a:r>
                        <a:rPr lang="en"/>
                        <a:t>.08</a:t>
                      </a:r>
                      <a:endParaRPr/>
                    </a:p>
                  </a:txBody>
                  <a:tcPr marT="91425" marB="91425" marR="91425" marL="91425"/>
                </a:tc>
                <a:tc>
                  <a:txBody>
                    <a:bodyPr/>
                    <a:lstStyle/>
                    <a:p>
                      <a:pPr indent="0" lvl="0" marL="0" rtl="0" algn="l">
                        <a:spcBef>
                          <a:spcPts val="0"/>
                        </a:spcBef>
                        <a:spcAft>
                          <a:spcPts val="0"/>
                        </a:spcAft>
                        <a:buNone/>
                      </a:pPr>
                      <a:r>
                        <a:rPr lang="en"/>
                        <a:t>113,400</a:t>
                      </a:r>
                      <a:endParaRPr/>
                    </a:p>
                  </a:txBody>
                  <a:tcPr marT="91425" marB="91425" marR="91425" marL="91425"/>
                </a:tc>
              </a:tr>
              <a:tr h="396200">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113,400</a:t>
                      </a:r>
                      <a:endParaRPr/>
                    </a:p>
                  </a:txBody>
                  <a:tcPr marT="91425" marB="91425" marR="91425" marL="91425"/>
                </a:tc>
                <a:tc>
                  <a:txBody>
                    <a:bodyPr/>
                    <a:lstStyle/>
                    <a:p>
                      <a:pPr indent="0" lvl="0" marL="0" rtl="0" algn="l">
                        <a:spcBef>
                          <a:spcPts val="0"/>
                        </a:spcBef>
                        <a:spcAft>
                          <a:spcPts val="0"/>
                        </a:spcAft>
                        <a:buNone/>
                      </a:pPr>
                      <a:r>
                        <a:rPr lang="en"/>
                        <a:t>.02</a:t>
                      </a:r>
                      <a:endParaRPr/>
                    </a:p>
                  </a:txBody>
                  <a:tcPr marT="91425" marB="91425" marR="91425" marL="91425"/>
                </a:tc>
                <a:tc>
                  <a:txBody>
                    <a:bodyPr/>
                    <a:lstStyle/>
                    <a:p>
                      <a:pPr indent="0" lvl="0" marL="0" rtl="0" algn="l">
                        <a:spcBef>
                          <a:spcPts val="0"/>
                        </a:spcBef>
                        <a:spcAft>
                          <a:spcPts val="0"/>
                        </a:spcAft>
                        <a:buNone/>
                      </a:pPr>
                      <a:r>
                        <a:rPr lang="en"/>
                        <a:t>115,668</a:t>
                      </a:r>
                      <a:endParaRPr/>
                    </a:p>
                  </a:txBody>
                  <a:tcPr marT="91425" marB="91425" marR="91425" marL="91425"/>
                </a:tc>
              </a:tr>
              <a:tr h="396200">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115,668</a:t>
                      </a:r>
                      <a:endParaRPr/>
                    </a:p>
                  </a:txBody>
                  <a:tcPr marT="91425" marB="91425" marR="91425" marL="91425"/>
                </a:tc>
                <a:tc>
                  <a:txBody>
                    <a:bodyPr/>
                    <a:lstStyle/>
                    <a:p>
                      <a:pPr indent="0" lvl="0" marL="0" rtl="0" algn="l">
                        <a:spcBef>
                          <a:spcPts val="0"/>
                        </a:spcBef>
                        <a:spcAft>
                          <a:spcPts val="0"/>
                        </a:spcAft>
                        <a:buNone/>
                      </a:pPr>
                      <a:r>
                        <a:rPr lang="en"/>
                        <a:t>.09</a:t>
                      </a:r>
                      <a:endParaRPr/>
                    </a:p>
                  </a:txBody>
                  <a:tcPr marT="91425" marB="91425" marR="91425" marL="91425"/>
                </a:tc>
                <a:tc>
                  <a:txBody>
                    <a:bodyPr/>
                    <a:lstStyle/>
                    <a:p>
                      <a:pPr indent="0" lvl="0" marL="0" rtl="0" algn="l">
                        <a:spcBef>
                          <a:spcPts val="0"/>
                        </a:spcBef>
                        <a:spcAft>
                          <a:spcPts val="0"/>
                        </a:spcAft>
                        <a:buNone/>
                      </a:pPr>
                      <a:r>
                        <a:rPr lang="en"/>
                        <a:t>126,078</a:t>
                      </a:r>
                      <a:endParaRPr/>
                    </a:p>
                  </a:txBody>
                  <a:tcPr marT="91425" marB="91425" marR="91425" marL="91425"/>
                </a:tc>
              </a:tr>
              <a:tr h="396200">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126,078</a:t>
                      </a:r>
                      <a:endParaRPr/>
                    </a:p>
                  </a:txBody>
                  <a:tcPr marT="91425" marB="91425" marR="91425" marL="91425"/>
                </a:tc>
                <a:tc>
                  <a:txBody>
                    <a:bodyPr/>
                    <a:lstStyle/>
                    <a:p>
                      <a:pPr indent="0" lvl="0" marL="0" rtl="0" algn="l">
                        <a:spcBef>
                          <a:spcPts val="0"/>
                        </a:spcBef>
                        <a:spcAft>
                          <a:spcPts val="0"/>
                        </a:spcAft>
                        <a:buNone/>
                      </a:pPr>
                      <a:r>
                        <a:rPr lang="en"/>
                        <a:t>.15</a:t>
                      </a:r>
                      <a:endParaRPr/>
                    </a:p>
                  </a:txBody>
                  <a:tcPr marT="91425" marB="91425" marR="91425" marL="91425"/>
                </a:tc>
                <a:tc>
                  <a:txBody>
                    <a:bodyPr/>
                    <a:lstStyle/>
                    <a:p>
                      <a:pPr indent="0" lvl="0" marL="0" rtl="0" algn="l">
                        <a:spcBef>
                          <a:spcPts val="0"/>
                        </a:spcBef>
                        <a:spcAft>
                          <a:spcPts val="0"/>
                        </a:spcAft>
                        <a:buNone/>
                      </a:pPr>
                      <a:r>
                        <a:rPr lang="en"/>
                        <a:t>144,989</a:t>
                      </a:r>
                      <a:endParaRPr/>
                    </a:p>
                  </a:txBody>
                  <a:tcPr marT="91425" marB="91425" marR="91425" marL="91425"/>
                </a:tc>
              </a:tr>
              <a:tr h="396200">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144,989</a:t>
                      </a:r>
                      <a:endParaRPr/>
                    </a:p>
                  </a:txBody>
                  <a:tcPr marT="91425" marB="91425" marR="91425" marL="91425"/>
                </a:tc>
                <a:tc>
                  <a:txBody>
                    <a:bodyPr/>
                    <a:lstStyle/>
                    <a:p>
                      <a:pPr indent="0" lvl="0" marL="0" rtl="0" algn="l">
                        <a:spcBef>
                          <a:spcPts val="0"/>
                        </a:spcBef>
                        <a:spcAft>
                          <a:spcPts val="0"/>
                        </a:spcAft>
                        <a:buNone/>
                      </a:pPr>
                      <a:r>
                        <a:rPr lang="en"/>
                        <a:t>.09</a:t>
                      </a:r>
                      <a:endParaRPr/>
                    </a:p>
                  </a:txBody>
                  <a:tcPr marT="91425" marB="91425" marR="91425" marL="91425"/>
                </a:tc>
                <a:tc>
                  <a:txBody>
                    <a:bodyPr/>
                    <a:lstStyle/>
                    <a:p>
                      <a:pPr indent="0" lvl="0" marL="0" rtl="0" algn="l">
                        <a:spcBef>
                          <a:spcPts val="0"/>
                        </a:spcBef>
                        <a:spcAft>
                          <a:spcPts val="0"/>
                        </a:spcAft>
                        <a:buNone/>
                      </a:pPr>
                      <a:r>
                        <a:rPr lang="en"/>
                        <a:t>158,038</a:t>
                      </a:r>
                      <a:endParaRPr/>
                    </a:p>
                  </a:txBody>
                  <a:tcPr marT="91425" marB="91425" marR="91425" marL="91425"/>
                </a:tc>
              </a:tr>
              <a:tr h="396200">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158,038</a:t>
                      </a:r>
                      <a:endParaRPr/>
                    </a:p>
                  </a:txBody>
                  <a:tcPr marT="91425" marB="91425" marR="91425" marL="91425"/>
                </a:tc>
                <a:tc>
                  <a:txBody>
                    <a:bodyPr/>
                    <a:lstStyle/>
                    <a:p>
                      <a:pPr indent="0" lvl="0" marL="0" rtl="0" algn="l">
                        <a:spcBef>
                          <a:spcPts val="0"/>
                        </a:spcBef>
                        <a:spcAft>
                          <a:spcPts val="0"/>
                        </a:spcAft>
                        <a:buNone/>
                      </a:pPr>
                      <a:r>
                        <a:rPr lang="en"/>
                        <a:t>.11</a:t>
                      </a:r>
                      <a:endParaRPr/>
                    </a:p>
                  </a:txBody>
                  <a:tcPr marT="91425" marB="91425" marR="91425" marL="91425"/>
                </a:tc>
                <a:tc>
                  <a:txBody>
                    <a:bodyPr/>
                    <a:lstStyle/>
                    <a:p>
                      <a:pPr indent="0" lvl="0" marL="0" rtl="0" algn="l">
                        <a:spcBef>
                          <a:spcPts val="0"/>
                        </a:spcBef>
                        <a:spcAft>
                          <a:spcPts val="0"/>
                        </a:spcAft>
                        <a:buNone/>
                      </a:pPr>
                      <a:r>
                        <a:rPr lang="en"/>
                        <a:t>175,422</a:t>
                      </a:r>
                      <a:endParaRPr/>
                    </a:p>
                  </a:txBody>
                  <a:tcPr marT="91425" marB="91425" marR="91425" marL="91425"/>
                </a:tc>
              </a:tr>
            </a:tbl>
          </a:graphicData>
        </a:graphic>
      </p:graphicFrame>
      <p:sp>
        <p:nvSpPr>
          <p:cNvPr id="109" name="Google Shape;109;p21"/>
          <p:cNvSpPr txBox="1"/>
          <p:nvPr/>
        </p:nvSpPr>
        <p:spPr>
          <a:xfrm>
            <a:off x="6665275" y="1794700"/>
            <a:ext cx="1561200" cy="327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Arithmetic</a:t>
            </a:r>
            <a:r>
              <a:rPr lang="en"/>
              <a:t> Mean:</a:t>
            </a:r>
            <a:endParaRPr/>
          </a:p>
          <a:p>
            <a:pPr indent="0" lvl="0" marL="0" rtl="0" algn="l">
              <a:spcBef>
                <a:spcPts val="0"/>
              </a:spcBef>
              <a:spcAft>
                <a:spcPts val="0"/>
              </a:spcAft>
              <a:buNone/>
            </a:pPr>
            <a:r>
              <a:rPr lang="en"/>
              <a:t>8.42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Geometric Mean: 8.36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8.42% = </a:t>
            </a:r>
            <a:r>
              <a:rPr b="1" lang="en" sz="1300">
                <a:solidFill>
                  <a:srgbClr val="FFFFFF"/>
                </a:solidFill>
                <a:highlight>
                  <a:srgbClr val="106060"/>
                </a:highlight>
                <a:latin typeface="Open Sans"/>
                <a:ea typeface="Open Sans"/>
                <a:cs typeface="Open Sans"/>
                <a:sym typeface="Open Sans"/>
              </a:rPr>
              <a:t>$176,102</a:t>
            </a:r>
            <a:endParaRPr b="1" sz="1300">
              <a:solidFill>
                <a:srgbClr val="FFFFFF"/>
              </a:solidFill>
              <a:highlight>
                <a:srgbClr val="106060"/>
              </a:highlight>
              <a:latin typeface="Open Sans"/>
              <a:ea typeface="Open Sans"/>
              <a:cs typeface="Open Sans"/>
              <a:sym typeface="Open Sans"/>
            </a:endParaRPr>
          </a:p>
          <a:p>
            <a:pPr indent="0" lvl="0" marL="0" rtl="0" algn="l">
              <a:spcBef>
                <a:spcPts val="0"/>
              </a:spcBef>
              <a:spcAft>
                <a:spcPts val="0"/>
              </a:spcAft>
              <a:buNone/>
            </a:pPr>
            <a:r>
              <a:t/>
            </a:r>
            <a:endParaRPr/>
          </a:p>
          <a:p>
            <a:pPr indent="0" lvl="0" marL="0" rtl="0" algn="l">
              <a:spcBef>
                <a:spcPts val="0"/>
              </a:spcBef>
              <a:spcAft>
                <a:spcPts val="0"/>
              </a:spcAft>
              <a:buNone/>
            </a:pPr>
            <a:r>
              <a:rPr lang="en"/>
              <a:t>@ 8.36% = </a:t>
            </a:r>
            <a:endParaRPr/>
          </a:p>
          <a:p>
            <a:pPr indent="0" lvl="0" marL="0" rtl="0" algn="l">
              <a:lnSpc>
                <a:spcPct val="120000"/>
              </a:lnSpc>
              <a:spcBef>
                <a:spcPts val="0"/>
              </a:spcBef>
              <a:spcAft>
                <a:spcPts val="0"/>
              </a:spcAft>
              <a:buClr>
                <a:schemeClr val="dk1"/>
              </a:buClr>
              <a:buSzPts val="1100"/>
              <a:buFont typeface="Arial"/>
              <a:buNone/>
            </a:pPr>
            <a:r>
              <a:rPr b="1" lang="en" sz="1300">
                <a:solidFill>
                  <a:srgbClr val="FFFFFF"/>
                </a:solidFill>
                <a:highlight>
                  <a:srgbClr val="106060"/>
                </a:highlight>
                <a:latin typeface="Open Sans"/>
                <a:ea typeface="Open Sans"/>
                <a:cs typeface="Open Sans"/>
                <a:sym typeface="Open Sans"/>
              </a:rPr>
              <a:t>$175,421</a:t>
            </a:r>
            <a:endParaRPr b="1" sz="1300">
              <a:solidFill>
                <a:srgbClr val="FFFFFF"/>
              </a:solidFill>
              <a:highlight>
                <a:srgbClr val="106060"/>
              </a:highlight>
              <a:latin typeface="Open Sans"/>
              <a:ea typeface="Open Sans"/>
              <a:cs typeface="Open Sans"/>
              <a:sym typeface="Open Sans"/>
            </a:endParaRPr>
          </a:p>
          <a:p>
            <a:pPr indent="0" lvl="0" marL="0" rtl="0" algn="l">
              <a:spcBef>
                <a:spcPts val="500"/>
              </a:spcBef>
              <a:spcAft>
                <a:spcPts val="0"/>
              </a:spcAft>
              <a:buNone/>
            </a:pPr>
            <a:r>
              <a:t/>
            </a:r>
            <a:endParaRPr/>
          </a:p>
          <a:p>
            <a:pPr indent="0" lvl="0" marL="0" rtl="0" algn="l">
              <a:spcBef>
                <a:spcPts val="0"/>
              </a:spcBef>
              <a:spcAft>
                <a:spcPts val="0"/>
              </a:spcAft>
              <a:buNone/>
            </a:pPr>
            <a:r>
              <a:rPr lang="en"/>
              <a:t>AM off by $794</a:t>
            </a:r>
            <a:endParaRPr/>
          </a:p>
          <a:p>
            <a:pPr indent="0" lvl="0" marL="0" rtl="0" algn="l">
              <a:spcBef>
                <a:spcPts val="0"/>
              </a:spcBef>
              <a:spcAft>
                <a:spcPts val="0"/>
              </a:spcAft>
              <a:buNone/>
            </a:pPr>
            <a:r>
              <a:rPr lang="en"/>
              <a:t>GM off by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Measures of Central Tendency: Geometric Mean Rate of Return</a:t>
            </a:r>
            <a:endParaRPr/>
          </a:p>
          <a:p>
            <a:pPr indent="0" lvl="0" marL="0" rtl="0" algn="l">
              <a:spcBef>
                <a:spcPts val="0"/>
              </a:spcBef>
              <a:spcAft>
                <a:spcPts val="0"/>
              </a:spcAft>
              <a:buNone/>
            </a:pPr>
            <a:r>
              <a:t/>
            </a:r>
            <a:endParaRPr/>
          </a:p>
        </p:txBody>
      </p:sp>
      <p:sp>
        <p:nvSpPr>
          <p:cNvPr id="115" name="Google Shape;115;p22"/>
          <p:cNvSpPr txBox="1"/>
          <p:nvPr>
            <p:ph idx="1" type="body"/>
          </p:nvPr>
        </p:nvSpPr>
        <p:spPr>
          <a:xfrm>
            <a:off x="311700" y="1412575"/>
            <a:ext cx="8520600" cy="31563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05"/>
              <a:buNone/>
            </a:pPr>
            <a:r>
              <a:rPr lang="en" sz="1290"/>
              <a:t>Period 1: $100,000, then a 50% decline</a:t>
            </a:r>
            <a:endParaRPr sz="1290"/>
          </a:p>
          <a:p>
            <a:pPr indent="0" lvl="0" marL="0" rtl="0" algn="l">
              <a:lnSpc>
                <a:spcPct val="105000"/>
              </a:lnSpc>
              <a:spcBef>
                <a:spcPts val="1200"/>
              </a:spcBef>
              <a:spcAft>
                <a:spcPts val="0"/>
              </a:spcAft>
              <a:buSzPts val="605"/>
              <a:buNone/>
            </a:pPr>
            <a:r>
              <a:rPr lang="en" sz="1290"/>
              <a:t>Period 2: $50,000, then a 100% increase</a:t>
            </a:r>
            <a:endParaRPr sz="1290"/>
          </a:p>
          <a:p>
            <a:pPr indent="0" lvl="0" marL="0" rtl="0" algn="l">
              <a:lnSpc>
                <a:spcPct val="105000"/>
              </a:lnSpc>
              <a:spcBef>
                <a:spcPts val="1200"/>
              </a:spcBef>
              <a:spcAft>
                <a:spcPts val="0"/>
              </a:spcAft>
              <a:buSzPts val="605"/>
              <a:buNone/>
            </a:pPr>
            <a:r>
              <a:rPr lang="en" sz="1290"/>
              <a:t>Period 3: $100,000</a:t>
            </a:r>
            <a:endParaRPr sz="1290"/>
          </a:p>
          <a:p>
            <a:pPr indent="0" lvl="0" marL="0" rtl="0" algn="l">
              <a:lnSpc>
                <a:spcPct val="105000"/>
              </a:lnSpc>
              <a:spcBef>
                <a:spcPts val="1200"/>
              </a:spcBef>
              <a:spcAft>
                <a:spcPts val="0"/>
              </a:spcAft>
              <a:buSzPts val="605"/>
              <a:buNone/>
            </a:pPr>
            <a:r>
              <a:t/>
            </a:r>
            <a:endParaRPr sz="1290"/>
          </a:p>
          <a:p>
            <a:pPr indent="0" lvl="0" marL="0" rtl="0" algn="l">
              <a:lnSpc>
                <a:spcPct val="105000"/>
              </a:lnSpc>
              <a:spcBef>
                <a:spcPts val="1200"/>
              </a:spcBef>
              <a:spcAft>
                <a:spcPts val="0"/>
              </a:spcAft>
              <a:buSzPts val="605"/>
              <a:buNone/>
            </a:pPr>
            <a:r>
              <a:rPr lang="en" sz="1290"/>
              <a:t>Arithmetic mean rate of return = (-.5 + 1 )/ 2 </a:t>
            </a:r>
            <a:endParaRPr sz="1290"/>
          </a:p>
          <a:p>
            <a:pPr indent="0" lvl="0" marL="0" rtl="0" algn="l">
              <a:lnSpc>
                <a:spcPct val="105000"/>
              </a:lnSpc>
              <a:spcBef>
                <a:spcPts val="1200"/>
              </a:spcBef>
              <a:spcAft>
                <a:spcPts val="0"/>
              </a:spcAft>
              <a:buSzPts val="605"/>
              <a:buNone/>
            </a:pPr>
            <a:r>
              <a:rPr lang="en" sz="1290"/>
              <a:t>= 25%</a:t>
            </a:r>
            <a:endParaRPr sz="1290"/>
          </a:p>
          <a:p>
            <a:pPr indent="0" lvl="0" marL="0" rtl="0" algn="l">
              <a:lnSpc>
                <a:spcPct val="105000"/>
              </a:lnSpc>
              <a:spcBef>
                <a:spcPts val="1200"/>
              </a:spcBef>
              <a:spcAft>
                <a:spcPts val="0"/>
              </a:spcAft>
              <a:buSzPts val="605"/>
              <a:buNone/>
            </a:pPr>
            <a:r>
              <a:t/>
            </a:r>
            <a:endParaRPr sz="1290"/>
          </a:p>
          <a:p>
            <a:pPr indent="0" lvl="0" marL="0" rtl="0" algn="l">
              <a:lnSpc>
                <a:spcPct val="105000"/>
              </a:lnSpc>
              <a:spcBef>
                <a:spcPts val="1200"/>
              </a:spcBef>
              <a:spcAft>
                <a:spcPts val="0"/>
              </a:spcAft>
              <a:buSzPts val="605"/>
              <a:buNone/>
            </a:pPr>
            <a:r>
              <a:rPr lang="en" sz="1290"/>
              <a:t>Geometric Rate of Return = [(1 + R1) x (1 + R2) x (1 + Rn)]^1/n - 1</a:t>
            </a:r>
            <a:endParaRPr sz="1290"/>
          </a:p>
          <a:p>
            <a:pPr indent="0" lvl="0" marL="0" rtl="0" algn="l">
              <a:lnSpc>
                <a:spcPct val="105000"/>
              </a:lnSpc>
              <a:spcBef>
                <a:spcPts val="1200"/>
              </a:spcBef>
              <a:spcAft>
                <a:spcPts val="0"/>
              </a:spcAft>
              <a:buSzPts val="605"/>
              <a:buNone/>
            </a:pPr>
            <a:r>
              <a:rPr lang="en" sz="1290"/>
              <a:t>[(1 + -0.5) X (1 + 1)]^½ -1 = [(0.5) * (2)]^½ -1</a:t>
            </a:r>
            <a:endParaRPr sz="1290"/>
          </a:p>
          <a:p>
            <a:pPr indent="0" lvl="0" marL="0" rtl="0" algn="l">
              <a:lnSpc>
                <a:spcPct val="105000"/>
              </a:lnSpc>
              <a:spcBef>
                <a:spcPts val="1200"/>
              </a:spcBef>
              <a:spcAft>
                <a:spcPts val="1200"/>
              </a:spcAft>
              <a:buSzPts val="605"/>
              <a:buNone/>
            </a:pPr>
            <a:r>
              <a:rPr lang="en" sz="1290"/>
              <a:t>=0%</a:t>
            </a:r>
            <a:endParaRPr sz="129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Measures of Central Tendency: Median</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460"/>
              <a:t>The median is the number in the middle of an </a:t>
            </a:r>
            <a:r>
              <a:rPr b="1" i="1" lang="en" sz="1460" u="sng"/>
              <a:t>ordered series</a:t>
            </a:r>
            <a:endParaRPr b="1" i="1" sz="1460" u="sng"/>
          </a:p>
          <a:p>
            <a:pPr indent="0" lvl="0" marL="0" rtl="0" algn="l">
              <a:lnSpc>
                <a:spcPct val="95000"/>
              </a:lnSpc>
              <a:spcBef>
                <a:spcPts val="1200"/>
              </a:spcBef>
              <a:spcAft>
                <a:spcPts val="0"/>
              </a:spcAft>
              <a:buSzPts val="770"/>
              <a:buNone/>
            </a:pPr>
            <a:r>
              <a:rPr lang="en" sz="1460"/>
              <a:t>50% of the data fall above the median, 50% fall below the median</a:t>
            </a:r>
            <a:endParaRPr sz="1460"/>
          </a:p>
          <a:p>
            <a:pPr indent="0" lvl="0" marL="0" rtl="0" algn="l">
              <a:lnSpc>
                <a:spcPct val="95000"/>
              </a:lnSpc>
              <a:spcBef>
                <a:spcPts val="1200"/>
              </a:spcBef>
              <a:spcAft>
                <a:spcPts val="0"/>
              </a:spcAft>
              <a:buSzPts val="770"/>
              <a:buNone/>
            </a:pPr>
            <a:r>
              <a:rPr lang="en" sz="1460"/>
              <a:t>Position of median = (n + 1) / 2, if series is ordered </a:t>
            </a:r>
            <a:endParaRPr sz="1460"/>
          </a:p>
          <a:p>
            <a:pPr indent="0" lvl="0" marL="0" rtl="0" algn="l">
              <a:lnSpc>
                <a:spcPct val="95000"/>
              </a:lnSpc>
              <a:spcBef>
                <a:spcPts val="1200"/>
              </a:spcBef>
              <a:spcAft>
                <a:spcPts val="0"/>
              </a:spcAft>
              <a:buSzPts val="770"/>
              <a:buNone/>
            </a:pPr>
            <a:r>
              <a:rPr lang="en" sz="1460"/>
              <a:t>If we have the series {1, 3, 5, 2, 4}</a:t>
            </a:r>
            <a:endParaRPr sz="1460"/>
          </a:p>
          <a:p>
            <a:pPr indent="0" lvl="0" marL="0" rtl="0" algn="l">
              <a:lnSpc>
                <a:spcPct val="95000"/>
              </a:lnSpc>
              <a:spcBef>
                <a:spcPts val="1200"/>
              </a:spcBef>
              <a:spcAft>
                <a:spcPts val="0"/>
              </a:spcAft>
              <a:buSzPts val="770"/>
              <a:buNone/>
            </a:pPr>
            <a:r>
              <a:rPr lang="en" sz="1460"/>
              <a:t>First we order it {1, 2, 3, 4, 5}</a:t>
            </a:r>
            <a:endParaRPr sz="1460"/>
          </a:p>
          <a:p>
            <a:pPr indent="0" lvl="0" marL="0" rtl="0" algn="l">
              <a:lnSpc>
                <a:spcPct val="95000"/>
              </a:lnSpc>
              <a:spcBef>
                <a:spcPts val="1200"/>
              </a:spcBef>
              <a:spcAft>
                <a:spcPts val="0"/>
              </a:spcAft>
              <a:buSzPts val="770"/>
              <a:buNone/>
            </a:pPr>
            <a:r>
              <a:rPr lang="en" sz="1460"/>
              <a:t>The number in the middle is the median, so 3</a:t>
            </a:r>
            <a:endParaRPr sz="1460"/>
          </a:p>
          <a:p>
            <a:pPr indent="0" lvl="0" marL="0" rtl="0" algn="l">
              <a:lnSpc>
                <a:spcPct val="95000"/>
              </a:lnSpc>
              <a:spcBef>
                <a:spcPts val="1200"/>
              </a:spcBef>
              <a:spcAft>
                <a:spcPts val="0"/>
              </a:spcAft>
              <a:buSzPts val="770"/>
              <a:buNone/>
            </a:pPr>
            <a:r>
              <a:rPr lang="en" sz="1460"/>
              <a:t>What if there is an even numbered series?</a:t>
            </a:r>
            <a:endParaRPr sz="1460"/>
          </a:p>
          <a:p>
            <a:pPr indent="0" lvl="0" marL="0" rtl="0" algn="l">
              <a:lnSpc>
                <a:spcPct val="95000"/>
              </a:lnSpc>
              <a:spcBef>
                <a:spcPts val="1200"/>
              </a:spcBef>
              <a:spcAft>
                <a:spcPts val="0"/>
              </a:spcAft>
              <a:buSzPts val="770"/>
              <a:buNone/>
            </a:pPr>
            <a:r>
              <a:rPr lang="en" sz="1460"/>
              <a:t>{1, 2, 3, 4, 5, 6}</a:t>
            </a:r>
            <a:endParaRPr sz="1460"/>
          </a:p>
          <a:p>
            <a:pPr indent="0" lvl="0" marL="0" rtl="0" algn="l">
              <a:lnSpc>
                <a:spcPct val="95000"/>
              </a:lnSpc>
              <a:spcBef>
                <a:spcPts val="1200"/>
              </a:spcBef>
              <a:spcAft>
                <a:spcPts val="0"/>
              </a:spcAft>
              <a:buSzPts val="770"/>
              <a:buNone/>
            </a:pPr>
            <a:r>
              <a:rPr lang="en" sz="1460"/>
              <a:t>The median is the mean of the middle two numbers, so (3 + 4) / 2, which is 3.5</a:t>
            </a:r>
            <a:endParaRPr sz="1460"/>
          </a:p>
          <a:p>
            <a:pPr indent="0" lvl="0" marL="0" rtl="0" algn="l">
              <a:lnSpc>
                <a:spcPct val="95000"/>
              </a:lnSpc>
              <a:spcBef>
                <a:spcPts val="1200"/>
              </a:spcBef>
              <a:spcAft>
                <a:spcPts val="1200"/>
              </a:spcAft>
              <a:buSzPts val="770"/>
              <a:buNone/>
            </a:pPr>
            <a:r>
              <a:rPr lang="en" sz="1460"/>
              <a:t>Unlike the mean, the median is not sensitive to </a:t>
            </a:r>
            <a:r>
              <a:rPr lang="en" sz="1460"/>
              <a:t>extreme</a:t>
            </a:r>
            <a:r>
              <a:rPr lang="en" sz="1460"/>
              <a:t> values</a:t>
            </a:r>
            <a:endParaRPr sz="146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Mean vs Median and Extreme Values</a:t>
            </a:r>
            <a:endParaRPr/>
          </a:p>
        </p:txBody>
      </p:sp>
      <p:sp>
        <p:nvSpPr>
          <p:cNvPr id="127" name="Google Shape;127;p24"/>
          <p:cNvSpPr txBox="1"/>
          <p:nvPr>
            <p:ph idx="1" type="body"/>
          </p:nvPr>
        </p:nvSpPr>
        <p:spPr>
          <a:xfrm>
            <a:off x="311700" y="1444925"/>
            <a:ext cx="8520600" cy="3123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1290"/>
              <a:t>The mean is the most commonly reported average and should generally be used when sensitivity to extreme values isn’t an issue.  </a:t>
            </a:r>
            <a:endParaRPr sz="1290"/>
          </a:p>
          <a:p>
            <a:pPr indent="0" lvl="0" marL="0" rtl="0" algn="l">
              <a:lnSpc>
                <a:spcPct val="95000"/>
              </a:lnSpc>
              <a:spcBef>
                <a:spcPts val="1200"/>
              </a:spcBef>
              <a:spcAft>
                <a:spcPts val="0"/>
              </a:spcAft>
              <a:buSzPts val="605"/>
              <a:buNone/>
            </a:pPr>
            <a:r>
              <a:rPr lang="en" sz="1290"/>
              <a:t>Otherwise, use the median or report both</a:t>
            </a:r>
            <a:endParaRPr sz="1290"/>
          </a:p>
          <a:p>
            <a:pPr indent="0" lvl="0" marL="0" rtl="0" algn="l">
              <a:lnSpc>
                <a:spcPct val="95000"/>
              </a:lnSpc>
              <a:spcBef>
                <a:spcPts val="1200"/>
              </a:spcBef>
              <a:spcAft>
                <a:spcPts val="0"/>
              </a:spcAft>
              <a:buSzPts val="605"/>
              <a:buNone/>
            </a:pPr>
            <a:r>
              <a:t/>
            </a:r>
            <a:endParaRPr sz="1290"/>
          </a:p>
          <a:p>
            <a:pPr indent="0" lvl="0" marL="0" rtl="0" algn="l">
              <a:lnSpc>
                <a:spcPct val="95000"/>
              </a:lnSpc>
              <a:spcBef>
                <a:spcPts val="1200"/>
              </a:spcBef>
              <a:spcAft>
                <a:spcPts val="0"/>
              </a:spcAft>
              <a:buSzPts val="605"/>
              <a:buNone/>
            </a:pPr>
            <a:r>
              <a:rPr lang="en" sz="1290"/>
              <a:t>Incomes = [20000, 35000, 60000, 80000, 110000]</a:t>
            </a:r>
            <a:endParaRPr sz="1290"/>
          </a:p>
          <a:p>
            <a:pPr indent="0" lvl="0" marL="0" rtl="0" algn="l">
              <a:lnSpc>
                <a:spcPct val="95000"/>
              </a:lnSpc>
              <a:spcBef>
                <a:spcPts val="1200"/>
              </a:spcBef>
              <a:spcAft>
                <a:spcPts val="0"/>
              </a:spcAft>
              <a:buSzPts val="605"/>
              <a:buNone/>
            </a:pPr>
            <a:r>
              <a:rPr lang="en" sz="1290"/>
              <a:t>Mean = 61,000</a:t>
            </a:r>
            <a:endParaRPr sz="1290"/>
          </a:p>
          <a:p>
            <a:pPr indent="0" lvl="0" marL="0" rtl="0" algn="l">
              <a:lnSpc>
                <a:spcPct val="95000"/>
              </a:lnSpc>
              <a:spcBef>
                <a:spcPts val="1200"/>
              </a:spcBef>
              <a:spcAft>
                <a:spcPts val="0"/>
              </a:spcAft>
              <a:buSzPts val="605"/>
              <a:buNone/>
            </a:pPr>
            <a:r>
              <a:rPr lang="en" sz="1290"/>
              <a:t>Median = 60,000</a:t>
            </a:r>
            <a:endParaRPr sz="1290"/>
          </a:p>
          <a:p>
            <a:pPr indent="0" lvl="0" marL="0" rtl="0" algn="l">
              <a:lnSpc>
                <a:spcPct val="95000"/>
              </a:lnSpc>
              <a:spcBef>
                <a:spcPts val="1200"/>
              </a:spcBef>
              <a:spcAft>
                <a:spcPts val="0"/>
              </a:spcAft>
              <a:buSzPts val="605"/>
              <a:buNone/>
            </a:pPr>
            <a:r>
              <a:t/>
            </a:r>
            <a:endParaRPr sz="1290"/>
          </a:p>
          <a:p>
            <a:pPr indent="0" lvl="0" marL="0" rtl="0" algn="l">
              <a:lnSpc>
                <a:spcPct val="95000"/>
              </a:lnSpc>
              <a:spcBef>
                <a:spcPts val="1200"/>
              </a:spcBef>
              <a:spcAft>
                <a:spcPts val="0"/>
              </a:spcAft>
              <a:buSzPts val="605"/>
              <a:buNone/>
            </a:pPr>
            <a:r>
              <a:rPr lang="en" sz="1290"/>
              <a:t>Incomes = [20000, 35000, 60000, 80000, 900000]</a:t>
            </a:r>
            <a:endParaRPr sz="1290"/>
          </a:p>
          <a:p>
            <a:pPr indent="0" lvl="0" marL="0" rtl="0" algn="l">
              <a:lnSpc>
                <a:spcPct val="95000"/>
              </a:lnSpc>
              <a:spcBef>
                <a:spcPts val="1200"/>
              </a:spcBef>
              <a:spcAft>
                <a:spcPts val="0"/>
              </a:spcAft>
              <a:buSzPts val="605"/>
              <a:buNone/>
            </a:pPr>
            <a:r>
              <a:rPr lang="en" sz="1290"/>
              <a:t>Mean = 219,000</a:t>
            </a:r>
            <a:endParaRPr sz="1290"/>
          </a:p>
          <a:p>
            <a:pPr indent="0" lvl="0" marL="0" rtl="0" algn="l">
              <a:lnSpc>
                <a:spcPct val="95000"/>
              </a:lnSpc>
              <a:spcBef>
                <a:spcPts val="1200"/>
              </a:spcBef>
              <a:spcAft>
                <a:spcPts val="1200"/>
              </a:spcAft>
              <a:buSzPts val="605"/>
              <a:buNone/>
            </a:pPr>
            <a:r>
              <a:rPr lang="en" sz="1290"/>
              <a:t>Median = 60,000</a:t>
            </a:r>
            <a:endParaRPr sz="129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Measures of Central Tendency: Mode</a:t>
            </a:r>
            <a:endParaRPr/>
          </a:p>
        </p:txBody>
      </p:sp>
      <p:sp>
        <p:nvSpPr>
          <p:cNvPr id="133" name="Google Shape;13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mode is the most commonly </a:t>
            </a:r>
            <a:r>
              <a:rPr lang="en"/>
              <a:t>occurring</a:t>
            </a:r>
            <a:r>
              <a:rPr lang="en"/>
              <a:t> number in a series</a:t>
            </a:r>
            <a:endParaRPr/>
          </a:p>
          <a:p>
            <a:pPr indent="0" lvl="0" marL="0" rtl="0" algn="l">
              <a:spcBef>
                <a:spcPts val="1200"/>
              </a:spcBef>
              <a:spcAft>
                <a:spcPts val="0"/>
              </a:spcAft>
              <a:buNone/>
            </a:pPr>
            <a:r>
              <a:rPr lang="en"/>
              <a:t>Most useful for categorical data / counts </a:t>
            </a:r>
            <a:endParaRPr/>
          </a:p>
          <a:p>
            <a:pPr indent="0" lvl="0" marL="0" rtl="0" algn="l">
              <a:spcBef>
                <a:spcPts val="1200"/>
              </a:spcBef>
              <a:spcAft>
                <a:spcPts val="0"/>
              </a:spcAft>
              <a:buNone/>
            </a:pPr>
            <a:r>
              <a:rPr lang="en"/>
              <a:t>If we have {1, 2, 2, 4, 5}, 2 occurs twice and the others only occur once, so the mode is 2</a:t>
            </a:r>
            <a:endParaRPr/>
          </a:p>
          <a:p>
            <a:pPr indent="0" lvl="0" marL="0" rtl="0" algn="l">
              <a:spcBef>
                <a:spcPts val="1200"/>
              </a:spcBef>
              <a:spcAft>
                <a:spcPts val="0"/>
              </a:spcAft>
              <a:buNone/>
            </a:pPr>
            <a:r>
              <a:rPr lang="en"/>
              <a:t>If we have {1, 2, 3, 4, 5}, all numbers occur equally so there is no mode.</a:t>
            </a:r>
            <a:endParaRPr/>
          </a:p>
          <a:p>
            <a:pPr indent="0" lvl="0" marL="0" rtl="0" algn="l">
              <a:spcBef>
                <a:spcPts val="1200"/>
              </a:spcBef>
              <a:spcAft>
                <a:spcPts val="0"/>
              </a:spcAft>
              <a:buNone/>
            </a:pPr>
            <a:r>
              <a:rPr lang="en"/>
              <a:t>If we have {1, 1, 3, 3, 5}, we have two modes, aka the data is bimodal, and our answer would be both 1 and 3</a:t>
            </a:r>
            <a:endParaRPr/>
          </a:p>
          <a:p>
            <a:pPr indent="0" lvl="0" marL="0" rtl="0" algn="l">
              <a:spcBef>
                <a:spcPts val="1200"/>
              </a:spcBef>
              <a:spcAft>
                <a:spcPts val="1200"/>
              </a:spcAft>
              <a:buNone/>
            </a:pPr>
            <a:r>
              <a:rPr lang="en"/>
              <a:t>The mode is also not sensitive to extreme values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a:t>
            </a:r>
            <a:r>
              <a:rPr lang="en"/>
              <a:t>Dispersion</a:t>
            </a:r>
            <a:r>
              <a:rPr lang="en"/>
              <a:t> </a:t>
            </a:r>
            <a:endParaRPr/>
          </a:p>
        </p:txBody>
      </p:sp>
      <p:sp>
        <p:nvSpPr>
          <p:cNvPr id="139" name="Google Shape;13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Measures of </a:t>
            </a:r>
            <a:r>
              <a:rPr lang="en"/>
              <a:t>dispersion</a:t>
            </a:r>
            <a:r>
              <a:rPr lang="en"/>
              <a:t> tell us how spread out the data are</a:t>
            </a:r>
            <a:endParaRPr/>
          </a:p>
          <a:p>
            <a:pPr indent="0" lvl="0" marL="0" rtl="0" algn="l">
              <a:spcBef>
                <a:spcPts val="1200"/>
              </a:spcBef>
              <a:spcAft>
                <a:spcPts val="0"/>
              </a:spcAft>
              <a:buNone/>
            </a:pPr>
            <a:r>
              <a:rPr lang="en"/>
              <a:t>Between knowing where the data is centered (averages) and how the data are spread out from the mean, we can get an even better idea of our data’s properties</a:t>
            </a:r>
            <a:endParaRPr/>
          </a:p>
          <a:p>
            <a:pPr indent="0" lvl="0" marL="0" rtl="0" algn="l">
              <a:spcBef>
                <a:spcPts val="1200"/>
              </a:spcBef>
              <a:spcAft>
                <a:spcPts val="0"/>
              </a:spcAft>
              <a:buNone/>
            </a:pPr>
            <a:r>
              <a:rPr lang="en"/>
              <a:t>We’re going to cover </a:t>
            </a:r>
            <a:endParaRPr/>
          </a:p>
          <a:p>
            <a:pPr indent="-342900" lvl="0" marL="457200" rtl="0" algn="l">
              <a:spcBef>
                <a:spcPts val="1200"/>
              </a:spcBef>
              <a:spcAft>
                <a:spcPts val="0"/>
              </a:spcAft>
              <a:buSzPts val="1800"/>
              <a:buAutoNum type="arabicParenR"/>
            </a:pPr>
            <a:r>
              <a:rPr lang="en"/>
              <a:t>Range</a:t>
            </a:r>
            <a:endParaRPr/>
          </a:p>
          <a:p>
            <a:pPr indent="-342900" lvl="0" marL="457200" rtl="0" algn="l">
              <a:spcBef>
                <a:spcPts val="0"/>
              </a:spcBef>
              <a:spcAft>
                <a:spcPts val="0"/>
              </a:spcAft>
              <a:buSzPts val="1800"/>
              <a:buAutoNum type="arabicParenR"/>
            </a:pPr>
            <a:r>
              <a:rPr lang="en"/>
              <a:t>Interquartile Range (IQR)</a:t>
            </a:r>
            <a:endParaRPr/>
          </a:p>
          <a:p>
            <a:pPr indent="-342900" lvl="0" marL="457200" rtl="0" algn="l">
              <a:spcBef>
                <a:spcPts val="0"/>
              </a:spcBef>
              <a:spcAft>
                <a:spcPts val="0"/>
              </a:spcAft>
              <a:buSzPts val="1800"/>
              <a:buAutoNum type="arabicParenR"/>
            </a:pPr>
            <a:r>
              <a:rPr lang="en"/>
              <a:t>Variance</a:t>
            </a:r>
            <a:endParaRPr/>
          </a:p>
          <a:p>
            <a:pPr indent="-342900" lvl="0" marL="457200" rtl="0" algn="l">
              <a:spcBef>
                <a:spcPts val="0"/>
              </a:spcBef>
              <a:spcAft>
                <a:spcPts val="0"/>
              </a:spcAft>
              <a:buSzPts val="1800"/>
              <a:buAutoNum type="arabicParenR"/>
            </a:pPr>
            <a:r>
              <a:rPr lang="en"/>
              <a:t>Standard deviation</a:t>
            </a:r>
            <a:endParaRPr/>
          </a:p>
          <a:p>
            <a:pPr indent="-342900" lvl="0" marL="457200" rtl="0" algn="l">
              <a:spcBef>
                <a:spcPts val="0"/>
              </a:spcBef>
              <a:spcAft>
                <a:spcPts val="0"/>
              </a:spcAft>
              <a:buSzPts val="1800"/>
              <a:buAutoNum type="arabicParenR"/>
            </a:pPr>
            <a:r>
              <a:rPr lang="en"/>
              <a:t>Median Absolute </a:t>
            </a:r>
            <a:r>
              <a:rPr lang="en"/>
              <a:t>Deviation</a:t>
            </a:r>
            <a:endParaRPr/>
          </a:p>
          <a:p>
            <a:pPr indent="-342900" lvl="0" marL="457200" rtl="0" algn="l">
              <a:spcBef>
                <a:spcPts val="0"/>
              </a:spcBef>
              <a:spcAft>
                <a:spcPts val="0"/>
              </a:spcAft>
              <a:buSzPts val="1800"/>
              <a:buAutoNum type="arabicParenR"/>
            </a:pPr>
            <a:r>
              <a:rPr lang="en"/>
              <a:t>Coefficient of variation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Dispersion: Range</a:t>
            </a:r>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Range = Largest Value - Smallest Value</a:t>
            </a:r>
            <a:endParaRPr/>
          </a:p>
          <a:p>
            <a:pPr indent="0" lvl="0" marL="0" rtl="0" algn="l">
              <a:spcBef>
                <a:spcPts val="1200"/>
              </a:spcBef>
              <a:spcAft>
                <a:spcPts val="0"/>
              </a:spcAft>
              <a:buNone/>
            </a:pPr>
            <a:r>
              <a:rPr lang="en"/>
              <a:t>X = {2, 6, 3, 9, 3}</a:t>
            </a:r>
            <a:endParaRPr/>
          </a:p>
          <a:p>
            <a:pPr indent="0" lvl="0" marL="0" rtl="0" algn="l">
              <a:spcBef>
                <a:spcPts val="1200"/>
              </a:spcBef>
              <a:spcAft>
                <a:spcPts val="0"/>
              </a:spcAft>
              <a:buNone/>
            </a:pPr>
            <a:r>
              <a:rPr lang="en"/>
              <a:t>Max = 9</a:t>
            </a:r>
            <a:endParaRPr/>
          </a:p>
          <a:p>
            <a:pPr indent="0" lvl="0" marL="0" rtl="0" algn="l">
              <a:spcBef>
                <a:spcPts val="1200"/>
              </a:spcBef>
              <a:spcAft>
                <a:spcPts val="0"/>
              </a:spcAft>
              <a:buNone/>
            </a:pPr>
            <a:r>
              <a:rPr lang="en"/>
              <a:t>Min = 2</a:t>
            </a:r>
            <a:endParaRPr/>
          </a:p>
          <a:p>
            <a:pPr indent="0" lvl="0" marL="0" rtl="0" algn="l">
              <a:spcBef>
                <a:spcPts val="1200"/>
              </a:spcBef>
              <a:spcAft>
                <a:spcPts val="0"/>
              </a:spcAft>
              <a:buNone/>
            </a:pPr>
            <a:r>
              <a:rPr lang="en"/>
              <a:t>Range = 9 - 2 = 7</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Range is sensitive to outliers</a:t>
            </a:r>
            <a:endParaRPr/>
          </a:p>
          <a:p>
            <a:pPr indent="0" lvl="0" marL="45720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Dispersion: Variance</a:t>
            </a:r>
            <a:endParaRPr/>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Variance is the average squared distance the </a:t>
            </a:r>
            <a:r>
              <a:rPr lang="en"/>
              <a:t>numbers</a:t>
            </a:r>
            <a:r>
              <a:rPr lang="en"/>
              <a:t> in a series are away from the series mean</a:t>
            </a:r>
            <a:endParaRPr/>
          </a:p>
          <a:p>
            <a:pPr indent="0" lvl="0" marL="0" rtl="0" algn="l">
              <a:spcBef>
                <a:spcPts val="1200"/>
              </a:spcBef>
              <a:spcAft>
                <a:spcPts val="0"/>
              </a:spcAft>
              <a:buNone/>
            </a:pPr>
            <a:r>
              <a:rPr lang="en"/>
              <a:t>Variance is calculated by</a:t>
            </a:r>
            <a:endParaRPr/>
          </a:p>
          <a:p>
            <a:pPr indent="-342900" lvl="0" marL="457200" rtl="0" algn="l">
              <a:spcBef>
                <a:spcPts val="1200"/>
              </a:spcBef>
              <a:spcAft>
                <a:spcPts val="0"/>
              </a:spcAft>
              <a:buSzPts val="1800"/>
              <a:buAutoNum type="arabicParenR"/>
            </a:pPr>
            <a:r>
              <a:rPr lang="en"/>
              <a:t>Calculating the series mean</a:t>
            </a:r>
            <a:endParaRPr/>
          </a:p>
          <a:p>
            <a:pPr indent="-342900" lvl="0" marL="457200" rtl="0" algn="l">
              <a:spcBef>
                <a:spcPts val="0"/>
              </a:spcBef>
              <a:spcAft>
                <a:spcPts val="0"/>
              </a:spcAft>
              <a:buSzPts val="1800"/>
              <a:buAutoNum type="arabicParenR"/>
            </a:pPr>
            <a:r>
              <a:rPr lang="en"/>
              <a:t>Subtracting the mean from each value in the series</a:t>
            </a:r>
            <a:endParaRPr/>
          </a:p>
          <a:p>
            <a:pPr indent="-342900" lvl="0" marL="457200" rtl="0" algn="l">
              <a:spcBef>
                <a:spcPts val="0"/>
              </a:spcBef>
              <a:spcAft>
                <a:spcPts val="0"/>
              </a:spcAft>
              <a:buSzPts val="1800"/>
              <a:buAutoNum type="arabicParenR"/>
            </a:pPr>
            <a:r>
              <a:rPr lang="en"/>
              <a:t>Squaring each difference</a:t>
            </a:r>
            <a:endParaRPr/>
          </a:p>
          <a:p>
            <a:pPr indent="-342900" lvl="0" marL="457200" rtl="0" algn="l">
              <a:spcBef>
                <a:spcPts val="0"/>
              </a:spcBef>
              <a:spcAft>
                <a:spcPts val="0"/>
              </a:spcAft>
              <a:buSzPts val="1800"/>
              <a:buAutoNum type="arabicParenR"/>
            </a:pPr>
            <a:r>
              <a:rPr lang="en"/>
              <a:t>Adding up all those squared differences </a:t>
            </a:r>
            <a:endParaRPr/>
          </a:p>
          <a:p>
            <a:pPr indent="-342900" lvl="0" marL="457200" rtl="0" algn="l">
              <a:spcBef>
                <a:spcPts val="0"/>
              </a:spcBef>
              <a:spcAft>
                <a:spcPts val="0"/>
              </a:spcAft>
              <a:buSzPts val="1800"/>
              <a:buAutoNum type="arabicParenR"/>
            </a:pPr>
            <a:r>
              <a:rPr lang="en"/>
              <a:t>Dividing the total by either A) the population size (N) for population variance, or B) the sample size minus one (n -1) for sample variance</a:t>
            </a:r>
            <a:endParaRPr/>
          </a:p>
        </p:txBody>
      </p:sp>
      <p:pic>
        <p:nvPicPr>
          <p:cNvPr id="152" name="Google Shape;152;p28"/>
          <p:cNvPicPr preferRelativeResize="0"/>
          <p:nvPr/>
        </p:nvPicPr>
        <p:blipFill>
          <a:blip r:embed="rId3">
            <a:alphaModFix/>
          </a:blip>
          <a:stretch>
            <a:fillRect/>
          </a:stretch>
        </p:blipFill>
        <p:spPr>
          <a:xfrm>
            <a:off x="6186850" y="1661400"/>
            <a:ext cx="2645450" cy="910350"/>
          </a:xfrm>
          <a:prstGeom prst="rect">
            <a:avLst/>
          </a:prstGeom>
          <a:noFill/>
          <a:ln>
            <a:noFill/>
          </a:ln>
        </p:spPr>
      </p:pic>
      <p:pic>
        <p:nvPicPr>
          <p:cNvPr id="153" name="Google Shape;153;p28"/>
          <p:cNvPicPr preferRelativeResize="0"/>
          <p:nvPr/>
        </p:nvPicPr>
        <p:blipFill>
          <a:blip r:embed="rId4">
            <a:alphaModFix/>
          </a:blip>
          <a:stretch>
            <a:fillRect/>
          </a:stretch>
        </p:blipFill>
        <p:spPr>
          <a:xfrm>
            <a:off x="6186850" y="2637079"/>
            <a:ext cx="2645450" cy="9103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Dispersion: Variance	</a:t>
            </a:r>
            <a:endParaRPr/>
          </a:p>
          <a:p>
            <a:pPr indent="0" lvl="0" marL="0" rtl="0" algn="l">
              <a:spcBef>
                <a:spcPts val="0"/>
              </a:spcBef>
              <a:spcAft>
                <a:spcPts val="0"/>
              </a:spcAft>
              <a:buNone/>
            </a:pPr>
            <a:r>
              <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our series is {1, 2, 3, 4, 5}, our mean is 3</a:t>
            </a:r>
            <a:endParaRPr/>
          </a:p>
          <a:p>
            <a:pPr indent="0" lvl="0" marL="0" rtl="0" algn="l">
              <a:spcBef>
                <a:spcPts val="1200"/>
              </a:spcBef>
              <a:spcAft>
                <a:spcPts val="0"/>
              </a:spcAft>
              <a:buNone/>
            </a:pPr>
            <a:r>
              <a:rPr lang="en"/>
              <a:t>(1-3)^2 + (2-3)</a:t>
            </a:r>
            <a:r>
              <a:rPr lang="en"/>
              <a:t>^2</a:t>
            </a:r>
            <a:r>
              <a:rPr lang="en"/>
              <a:t> + (3-3)</a:t>
            </a:r>
            <a:r>
              <a:rPr lang="en"/>
              <a:t>^2</a:t>
            </a:r>
            <a:r>
              <a:rPr lang="en"/>
              <a:t> + (4-3)</a:t>
            </a:r>
            <a:r>
              <a:rPr lang="en"/>
              <a:t>^2</a:t>
            </a:r>
            <a:r>
              <a:rPr lang="en"/>
              <a:t> + (5-3)</a:t>
            </a:r>
            <a:r>
              <a:rPr lang="en"/>
              <a:t>^2</a:t>
            </a:r>
            <a:r>
              <a:rPr lang="en"/>
              <a:t> = </a:t>
            </a:r>
            <a:endParaRPr/>
          </a:p>
          <a:p>
            <a:pPr indent="0" lvl="0" marL="0" rtl="0" algn="l">
              <a:spcBef>
                <a:spcPts val="1200"/>
              </a:spcBef>
              <a:spcAft>
                <a:spcPts val="0"/>
              </a:spcAft>
              <a:buNone/>
            </a:pPr>
            <a:r>
              <a:rPr lang="en"/>
              <a:t>-2</a:t>
            </a:r>
            <a:r>
              <a:rPr lang="en"/>
              <a:t>^2</a:t>
            </a:r>
            <a:r>
              <a:rPr lang="en"/>
              <a:t> + -1</a:t>
            </a:r>
            <a:r>
              <a:rPr lang="en"/>
              <a:t>^2</a:t>
            </a:r>
            <a:r>
              <a:rPr lang="en"/>
              <a:t> + 0</a:t>
            </a:r>
            <a:r>
              <a:rPr lang="en"/>
              <a:t>^2</a:t>
            </a:r>
            <a:r>
              <a:rPr lang="en"/>
              <a:t> + 1</a:t>
            </a:r>
            <a:r>
              <a:rPr lang="en"/>
              <a:t>^2</a:t>
            </a:r>
            <a:r>
              <a:rPr lang="en"/>
              <a:t> + 2</a:t>
            </a:r>
            <a:r>
              <a:rPr lang="en"/>
              <a:t>^2 =</a:t>
            </a:r>
            <a:endParaRPr/>
          </a:p>
          <a:p>
            <a:pPr indent="0" lvl="0" marL="0" rtl="0" algn="l">
              <a:spcBef>
                <a:spcPts val="1200"/>
              </a:spcBef>
              <a:spcAft>
                <a:spcPts val="0"/>
              </a:spcAft>
              <a:buNone/>
            </a:pPr>
            <a:r>
              <a:rPr lang="en"/>
              <a:t>4 + 1 + 0 + 1 + 4 = 10</a:t>
            </a:r>
            <a:endParaRPr/>
          </a:p>
          <a:p>
            <a:pPr indent="0" lvl="0" marL="0" rtl="0" algn="l">
              <a:spcBef>
                <a:spcPts val="1200"/>
              </a:spcBef>
              <a:spcAft>
                <a:spcPts val="0"/>
              </a:spcAft>
              <a:buNone/>
            </a:pPr>
            <a:r>
              <a:rPr lang="en"/>
              <a:t>10 / 5 (since there are 5 numbers in the series) = 2</a:t>
            </a:r>
            <a:endParaRPr/>
          </a:p>
          <a:p>
            <a:pPr indent="0" lvl="0" marL="0" rtl="0" algn="l">
              <a:spcBef>
                <a:spcPts val="1200"/>
              </a:spcBef>
              <a:spcAft>
                <a:spcPts val="1200"/>
              </a:spcAft>
              <a:buNone/>
            </a:pPr>
            <a:r>
              <a:rPr lang="en"/>
              <a:t>(Would be 10/4=2.5 if sample variance)</a:t>
            </a:r>
            <a:endParaRPr/>
          </a:p>
        </p:txBody>
      </p:sp>
      <p:pic>
        <p:nvPicPr>
          <p:cNvPr id="160" name="Google Shape;160;p29"/>
          <p:cNvPicPr preferRelativeResize="0"/>
          <p:nvPr/>
        </p:nvPicPr>
        <p:blipFill>
          <a:blip r:embed="rId3">
            <a:alphaModFix/>
          </a:blip>
          <a:stretch>
            <a:fillRect/>
          </a:stretch>
        </p:blipFill>
        <p:spPr>
          <a:xfrm>
            <a:off x="6186850" y="1661400"/>
            <a:ext cx="2645450" cy="910350"/>
          </a:xfrm>
          <a:prstGeom prst="rect">
            <a:avLst/>
          </a:prstGeom>
          <a:noFill/>
          <a:ln>
            <a:noFill/>
          </a:ln>
        </p:spPr>
      </p:pic>
      <p:pic>
        <p:nvPicPr>
          <p:cNvPr id="161" name="Google Shape;161;p29"/>
          <p:cNvPicPr preferRelativeResize="0"/>
          <p:nvPr/>
        </p:nvPicPr>
        <p:blipFill>
          <a:blip r:embed="rId4">
            <a:alphaModFix/>
          </a:blip>
          <a:stretch>
            <a:fillRect/>
          </a:stretch>
        </p:blipFill>
        <p:spPr>
          <a:xfrm>
            <a:off x="6186850" y="2637079"/>
            <a:ext cx="2645450" cy="9103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Bessel’s Correction</a:t>
            </a:r>
            <a:endParaRPr/>
          </a:p>
        </p:txBody>
      </p:sp>
      <p:pic>
        <p:nvPicPr>
          <p:cNvPr id="167" name="Google Shape;167;p30"/>
          <p:cNvPicPr preferRelativeResize="0"/>
          <p:nvPr/>
        </p:nvPicPr>
        <p:blipFill>
          <a:blip r:embed="rId3">
            <a:alphaModFix/>
          </a:blip>
          <a:stretch>
            <a:fillRect/>
          </a:stretch>
        </p:blipFill>
        <p:spPr>
          <a:xfrm>
            <a:off x="311700" y="1073325"/>
            <a:ext cx="4151674" cy="3225951"/>
          </a:xfrm>
          <a:prstGeom prst="rect">
            <a:avLst/>
          </a:prstGeom>
          <a:noFill/>
          <a:ln>
            <a:noFill/>
          </a:ln>
        </p:spPr>
      </p:pic>
      <p:pic>
        <p:nvPicPr>
          <p:cNvPr id="168" name="Google Shape;168;p30"/>
          <p:cNvPicPr preferRelativeResize="0"/>
          <p:nvPr/>
        </p:nvPicPr>
        <p:blipFill>
          <a:blip r:embed="rId4">
            <a:alphaModFix/>
          </a:blip>
          <a:stretch>
            <a:fillRect/>
          </a:stretch>
        </p:blipFill>
        <p:spPr>
          <a:xfrm>
            <a:off x="4572000" y="445013"/>
            <a:ext cx="4528226" cy="2658765"/>
          </a:xfrm>
          <a:prstGeom prst="rect">
            <a:avLst/>
          </a:prstGeom>
          <a:noFill/>
          <a:ln>
            <a:noFill/>
          </a:ln>
        </p:spPr>
      </p:pic>
      <p:pic>
        <p:nvPicPr>
          <p:cNvPr id="169" name="Google Shape;169;p30"/>
          <p:cNvPicPr preferRelativeResize="0"/>
          <p:nvPr/>
        </p:nvPicPr>
        <p:blipFill>
          <a:blip r:embed="rId5">
            <a:alphaModFix/>
          </a:blip>
          <a:stretch>
            <a:fillRect/>
          </a:stretch>
        </p:blipFill>
        <p:spPr>
          <a:xfrm>
            <a:off x="4700975" y="3441500"/>
            <a:ext cx="4270275" cy="783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200"/>
              </a:spcAft>
              <a:buClr>
                <a:schemeClr val="dk1"/>
              </a:buClr>
              <a:buSzPct val="36667"/>
              <a:buFont typeface="Arial"/>
              <a:buNone/>
            </a:pPr>
            <a:r>
              <a:rPr lang="en"/>
              <a:t>Measures</a:t>
            </a:r>
            <a:r>
              <a:rPr lang="en"/>
              <a:t> of Dispersion: Standard Deviation	</a:t>
            </a:r>
            <a:endParaRPr/>
          </a:p>
        </p:txBody>
      </p:sp>
      <p:sp>
        <p:nvSpPr>
          <p:cNvPr id="175" name="Google Shape;175;p31"/>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Tells us the average distance each datapoint is from the mean</a:t>
            </a:r>
            <a:endParaRPr/>
          </a:p>
          <a:p>
            <a:pPr indent="0" lvl="0" marL="0" rtl="0" algn="l">
              <a:spcBef>
                <a:spcPts val="1200"/>
              </a:spcBef>
              <a:spcAft>
                <a:spcPts val="0"/>
              </a:spcAft>
              <a:buNone/>
            </a:pPr>
            <a:r>
              <a:rPr lang="en"/>
              <a:t>Just take the square root of variance!</a:t>
            </a:r>
            <a:endParaRPr/>
          </a:p>
          <a:p>
            <a:pPr indent="0" lvl="0" marL="0" rtl="0" algn="l">
              <a:spcBef>
                <a:spcPts val="1200"/>
              </a:spcBef>
              <a:spcAft>
                <a:spcPts val="0"/>
              </a:spcAft>
              <a:buNone/>
            </a:pPr>
            <a:r>
              <a:rPr lang="en"/>
              <a:t>Variance of {1, 2, 3, 4, 5} = 2</a:t>
            </a:r>
            <a:endParaRPr/>
          </a:p>
          <a:p>
            <a:pPr indent="0" lvl="0" marL="0" rtl="0" algn="l">
              <a:spcBef>
                <a:spcPts val="1200"/>
              </a:spcBef>
              <a:spcAft>
                <a:spcPts val="0"/>
              </a:spcAft>
              <a:buNone/>
            </a:pPr>
            <a:r>
              <a:rPr lang="en"/>
              <a:t>=sqrt(2) = 1.41</a:t>
            </a:r>
            <a:endParaRPr/>
          </a:p>
          <a:p>
            <a:pPr indent="0" lvl="0" marL="0" rtl="0" algn="l">
              <a:spcBef>
                <a:spcPts val="1200"/>
              </a:spcBef>
              <a:spcAft>
                <a:spcPts val="0"/>
              </a:spcAft>
              <a:buNone/>
            </a:pPr>
            <a:r>
              <a:rPr lang="en"/>
              <a:t>So the standard deviation of the series is 1.41</a:t>
            </a:r>
            <a:endParaRPr/>
          </a:p>
          <a:p>
            <a:pPr indent="0" lvl="0" marL="0" rtl="0" algn="l">
              <a:spcBef>
                <a:spcPts val="1200"/>
              </a:spcBef>
              <a:spcAft>
                <a:spcPts val="1200"/>
              </a:spcAft>
              <a:buNone/>
            </a:pPr>
            <a:r>
              <a:t/>
            </a:r>
            <a:endParaRPr/>
          </a:p>
        </p:txBody>
      </p:sp>
      <p:pic>
        <p:nvPicPr>
          <p:cNvPr id="176" name="Google Shape;176;p31"/>
          <p:cNvPicPr preferRelativeResize="0"/>
          <p:nvPr/>
        </p:nvPicPr>
        <p:blipFill>
          <a:blip r:embed="rId3">
            <a:alphaModFix/>
          </a:blip>
          <a:stretch>
            <a:fillRect/>
          </a:stretch>
        </p:blipFill>
        <p:spPr>
          <a:xfrm>
            <a:off x="4724400" y="1170125"/>
            <a:ext cx="4267201" cy="25646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Dispersion: Standard Deviation</a:t>
            </a:r>
            <a:endParaRPr/>
          </a:p>
        </p:txBody>
      </p:sp>
      <p:sp>
        <p:nvSpPr>
          <p:cNvPr id="182" name="Google Shape;18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With such a simple transformation, isn’t standard deviation telling us basically the same thing as variance?</a:t>
            </a:r>
            <a:endParaRPr/>
          </a:p>
          <a:p>
            <a:pPr indent="0" lvl="0" marL="0" rtl="0" algn="l">
              <a:spcBef>
                <a:spcPts val="1200"/>
              </a:spcBef>
              <a:spcAft>
                <a:spcPts val="0"/>
              </a:spcAft>
              <a:buNone/>
            </a:pPr>
            <a:r>
              <a:rPr lang="en"/>
              <a:t>Standard deviation is often easier to interpret because it is in original units</a:t>
            </a:r>
            <a:endParaRPr/>
          </a:p>
          <a:p>
            <a:pPr indent="0" lvl="0" marL="0" rtl="0" algn="l">
              <a:spcBef>
                <a:spcPts val="1200"/>
              </a:spcBef>
              <a:spcAft>
                <a:spcPts val="0"/>
              </a:spcAft>
              <a:buNone/>
            </a:pPr>
            <a:r>
              <a:rPr lang="en"/>
              <a:t>If we have a series of bins of apples each containing {1, 2, 3, 4, 5} apples, the variance of 2 is in terms of “apples squared”</a:t>
            </a:r>
            <a:endParaRPr/>
          </a:p>
          <a:p>
            <a:pPr indent="0" lvl="0" marL="0" rtl="0" algn="l">
              <a:spcBef>
                <a:spcPts val="1200"/>
              </a:spcBef>
              <a:spcAft>
                <a:spcPts val="1200"/>
              </a:spcAft>
              <a:buNone/>
            </a:pPr>
            <a:r>
              <a:rPr lang="en"/>
              <a:t>Converting to standard deviation, by taking the square root, turns the measure into “apples”, with our series having a standard deviation of 1.41 apples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Empirical Rule</a:t>
            </a:r>
            <a:endParaRPr/>
          </a:p>
          <a:p>
            <a:pPr indent="0" lvl="0" marL="0" rtl="0" algn="l">
              <a:spcBef>
                <a:spcPts val="0"/>
              </a:spcBef>
              <a:spcAft>
                <a:spcPts val="0"/>
              </a:spcAft>
              <a:buNone/>
            </a:pPr>
            <a:r>
              <a:t/>
            </a:r>
            <a:endParaRPr/>
          </a:p>
        </p:txBody>
      </p:sp>
      <p:sp>
        <p:nvSpPr>
          <p:cNvPr id="188" name="Google Shape;188;p33"/>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the data is normally distributed, about </a:t>
            </a:r>
            <a:endParaRPr/>
          </a:p>
          <a:p>
            <a:pPr indent="0" lvl="0" marL="0" rtl="0" algn="l">
              <a:spcBef>
                <a:spcPts val="1200"/>
              </a:spcBef>
              <a:spcAft>
                <a:spcPts val="0"/>
              </a:spcAft>
              <a:buNone/>
            </a:pPr>
            <a:r>
              <a:rPr lang="en"/>
              <a:t>68% of observations will fall +/- 1 standard deviation from the mean</a:t>
            </a:r>
            <a:endParaRPr/>
          </a:p>
          <a:p>
            <a:pPr indent="0" lvl="0" marL="0" rtl="0" algn="l">
              <a:spcBef>
                <a:spcPts val="1200"/>
              </a:spcBef>
              <a:spcAft>
                <a:spcPts val="0"/>
              </a:spcAft>
              <a:buNone/>
            </a:pPr>
            <a:r>
              <a:rPr lang="en"/>
              <a:t>95% </a:t>
            </a:r>
            <a:r>
              <a:rPr lang="en"/>
              <a:t>of observations will fall </a:t>
            </a:r>
            <a:r>
              <a:rPr lang="en"/>
              <a:t>+/- 2 standard deviations from the mean</a:t>
            </a:r>
            <a:endParaRPr/>
          </a:p>
          <a:p>
            <a:pPr indent="0" lvl="0" marL="0" rtl="0" algn="l">
              <a:spcBef>
                <a:spcPts val="1200"/>
              </a:spcBef>
              <a:spcAft>
                <a:spcPts val="1200"/>
              </a:spcAft>
              <a:buNone/>
            </a:pPr>
            <a:r>
              <a:rPr lang="en"/>
              <a:t>99.7% </a:t>
            </a:r>
            <a:r>
              <a:rPr lang="en"/>
              <a:t>of observations will fall</a:t>
            </a:r>
            <a:r>
              <a:rPr lang="en"/>
              <a:t> +/- 3 standard deviations from the mean</a:t>
            </a:r>
            <a:endParaRPr/>
          </a:p>
        </p:txBody>
      </p:sp>
      <p:pic>
        <p:nvPicPr>
          <p:cNvPr id="189" name="Google Shape;189;p33"/>
          <p:cNvPicPr preferRelativeResize="0"/>
          <p:nvPr/>
        </p:nvPicPr>
        <p:blipFill>
          <a:blip r:embed="rId3">
            <a:alphaModFix/>
          </a:blip>
          <a:stretch>
            <a:fillRect/>
          </a:stretch>
        </p:blipFill>
        <p:spPr>
          <a:xfrm>
            <a:off x="4817852" y="1513177"/>
            <a:ext cx="4014450" cy="2695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Chebyshev’s Theorem </a:t>
            </a:r>
            <a:endParaRPr/>
          </a:p>
          <a:p>
            <a:pPr indent="0" lvl="0" marL="0" rtl="0" algn="l">
              <a:spcBef>
                <a:spcPts val="0"/>
              </a:spcBef>
              <a:spcAft>
                <a:spcPts val="0"/>
              </a:spcAft>
              <a:buNone/>
            </a:pPr>
            <a:r>
              <a:t/>
            </a:r>
            <a:endParaRPr/>
          </a:p>
        </p:txBody>
      </p:sp>
      <p:sp>
        <p:nvSpPr>
          <p:cNvPr id="195" name="Google Shape;195;p34"/>
          <p:cNvSpPr txBox="1"/>
          <p:nvPr>
            <p:ph idx="1" type="body"/>
          </p:nvPr>
        </p:nvSpPr>
        <p:spPr>
          <a:xfrm>
            <a:off x="311700" y="11304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any dataset, regardless of distribution, at least (1 - 1 / K^2) of the data will lie within K standard deviations of the mean (for all K &gt; 1)</a:t>
            </a:r>
            <a:endParaRPr/>
          </a:p>
          <a:p>
            <a:pPr indent="0" lvl="0" marL="0" rtl="0" algn="l">
              <a:spcBef>
                <a:spcPts val="1200"/>
              </a:spcBef>
              <a:spcAft>
                <a:spcPts val="1200"/>
              </a:spcAft>
              <a:buNone/>
            </a:pPr>
            <a:r>
              <a:t/>
            </a:r>
            <a:endParaRPr/>
          </a:p>
        </p:txBody>
      </p:sp>
      <p:graphicFrame>
        <p:nvGraphicFramePr>
          <p:cNvPr id="196" name="Google Shape;196;p34"/>
          <p:cNvGraphicFramePr/>
          <p:nvPr/>
        </p:nvGraphicFramePr>
        <p:xfrm>
          <a:off x="893150" y="2571750"/>
          <a:ext cx="3000000" cy="3000000"/>
        </p:xfrm>
        <a:graphic>
          <a:graphicData uri="http://schemas.openxmlformats.org/drawingml/2006/table">
            <a:tbl>
              <a:tblPr>
                <a:noFill/>
                <a:tableStyleId>{A49DC9EB-9361-4B51-8153-D682CE428B52}</a:tableStyleId>
              </a:tblPr>
              <a:tblGrid>
                <a:gridCol w="3619500"/>
                <a:gridCol w="3619500"/>
              </a:tblGrid>
              <a:tr h="381000">
                <a:tc>
                  <a:txBody>
                    <a:bodyPr/>
                    <a:lstStyle/>
                    <a:p>
                      <a:pPr indent="0" lvl="0" marL="0" rtl="0" algn="l">
                        <a:spcBef>
                          <a:spcPts val="0"/>
                        </a:spcBef>
                        <a:spcAft>
                          <a:spcPts val="0"/>
                        </a:spcAft>
                        <a:buNone/>
                      </a:pPr>
                      <a:r>
                        <a:rPr lang="en"/>
                        <a:t>K standard </a:t>
                      </a:r>
                      <a:r>
                        <a:rPr lang="en"/>
                        <a:t>deviations</a:t>
                      </a:r>
                      <a:r>
                        <a:rPr lang="en"/>
                        <a:t> from the mean</a:t>
                      </a:r>
                      <a:endParaRPr/>
                    </a:p>
                  </a:txBody>
                  <a:tcPr marT="91425" marB="91425" marR="91425" marL="91425"/>
                </a:tc>
                <a:tc>
                  <a:txBody>
                    <a:bodyPr/>
                    <a:lstStyle/>
                    <a:p>
                      <a:pPr indent="0" lvl="0" marL="0" rtl="0" algn="l">
                        <a:spcBef>
                          <a:spcPts val="0"/>
                        </a:spcBef>
                        <a:spcAft>
                          <a:spcPts val="0"/>
                        </a:spcAft>
                        <a:buNone/>
                      </a:pPr>
                      <a:r>
                        <a:rPr lang="en"/>
                        <a:t>Minimum percent of values within K deviations +/- mean</a:t>
                      </a:r>
                      <a:endParaRPr/>
                    </a:p>
                  </a:txBody>
                  <a:tcPr marT="91425" marB="91425" marR="91425" marL="91425"/>
                </a:tc>
              </a:tr>
              <a:tr h="381000">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75%</a:t>
                      </a:r>
                      <a:endParaRPr/>
                    </a:p>
                  </a:txBody>
                  <a:tcPr marT="91425" marB="91425" marR="91425" marL="91425"/>
                </a:tc>
              </a:tr>
              <a:tr h="381000">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88.89%</a:t>
                      </a:r>
                      <a:endParaRPr/>
                    </a:p>
                  </a:txBody>
                  <a:tcPr marT="91425" marB="91425" marR="91425" marL="91425"/>
                </a:tc>
              </a:tr>
              <a:tr h="381000">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93.75%</a:t>
                      </a:r>
                      <a:endParaRPr/>
                    </a:p>
                  </a:txBody>
                  <a:tcPr marT="91425" marB="91425" marR="91425" marL="91425"/>
                </a:tc>
              </a:tr>
              <a:tr h="381000">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96%</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Median Absolute Deviation</a:t>
            </a:r>
            <a:endParaRPr/>
          </a:p>
        </p:txBody>
      </p:sp>
      <p:sp>
        <p:nvSpPr>
          <p:cNvPr id="202" name="Google Shape;202;p3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Measures variability in a way less sensitive to outliers, heavy-tails, and skewness.</a:t>
            </a:r>
            <a:endParaRPr/>
          </a:p>
          <a:p>
            <a:pPr indent="0" lvl="0" marL="0" rtl="0" algn="l">
              <a:spcBef>
                <a:spcPts val="1200"/>
              </a:spcBef>
              <a:spcAft>
                <a:spcPts val="0"/>
              </a:spcAft>
              <a:buNone/>
            </a:pPr>
            <a:r>
              <a:rPr lang="en"/>
              <a:t>Quantifies dispersion around the median, instead of the mean</a:t>
            </a:r>
            <a:endParaRPr/>
          </a:p>
          <a:p>
            <a:pPr indent="0" lvl="0" marL="0" rtl="0" algn="l">
              <a:spcBef>
                <a:spcPts val="1200"/>
              </a:spcBef>
              <a:spcAft>
                <a:spcPts val="1200"/>
              </a:spcAft>
              <a:buNone/>
            </a:pPr>
            <a:r>
              <a:rPr b="1" lang="en"/>
              <a:t>MAD = median(|Xi - median(X)|)</a:t>
            </a:r>
            <a:endParaRPr b="1"/>
          </a:p>
        </p:txBody>
      </p:sp>
      <p:sp>
        <p:nvSpPr>
          <p:cNvPr id="203" name="Google Shape;203;p3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x</a:t>
            </a:r>
            <a:r>
              <a:rPr lang="en"/>
              <a:t> = [3, 6, 8, 10, 15]</a:t>
            </a:r>
            <a:endParaRPr/>
          </a:p>
          <a:p>
            <a:pPr indent="0" lvl="0" marL="0" rtl="0" algn="l">
              <a:spcBef>
                <a:spcPts val="1200"/>
              </a:spcBef>
              <a:spcAft>
                <a:spcPts val="0"/>
              </a:spcAft>
              <a:buNone/>
            </a:pPr>
            <a:r>
              <a:rPr lang="en"/>
              <a:t>Median = 8</a:t>
            </a:r>
            <a:endParaRPr/>
          </a:p>
          <a:p>
            <a:pPr indent="0" lvl="0" marL="0" rtl="0" algn="l">
              <a:spcBef>
                <a:spcPts val="1200"/>
              </a:spcBef>
              <a:spcAft>
                <a:spcPts val="0"/>
              </a:spcAft>
              <a:buNone/>
            </a:pPr>
            <a:r>
              <a:rPr lang="en"/>
              <a:t>{|3 -8|, |6 - 8|, |8 -8|, |10 - 8|, |15 - 8|}</a:t>
            </a:r>
            <a:endParaRPr/>
          </a:p>
          <a:p>
            <a:pPr indent="0" lvl="0" marL="0" rtl="0" algn="l">
              <a:spcBef>
                <a:spcPts val="1200"/>
              </a:spcBef>
              <a:spcAft>
                <a:spcPts val="0"/>
              </a:spcAft>
              <a:buNone/>
            </a:pPr>
            <a:r>
              <a:rPr lang="en"/>
              <a:t>[5, 2, 0, 2, 7]</a:t>
            </a:r>
            <a:endParaRPr/>
          </a:p>
          <a:p>
            <a:pPr indent="0" lvl="0" marL="0" rtl="0" algn="l">
              <a:spcBef>
                <a:spcPts val="1200"/>
              </a:spcBef>
              <a:spcAft>
                <a:spcPts val="0"/>
              </a:spcAft>
              <a:buNone/>
            </a:pPr>
            <a:r>
              <a:rPr lang="en"/>
              <a:t>Order the series!</a:t>
            </a:r>
            <a:endParaRPr/>
          </a:p>
          <a:p>
            <a:pPr indent="0" lvl="0" marL="0" rtl="0" algn="l">
              <a:spcBef>
                <a:spcPts val="1200"/>
              </a:spcBef>
              <a:spcAft>
                <a:spcPts val="0"/>
              </a:spcAft>
              <a:buNone/>
            </a:pPr>
            <a:r>
              <a:rPr lang="en"/>
              <a:t>[0, 2, 2, 5, 7]</a:t>
            </a:r>
            <a:endParaRPr/>
          </a:p>
          <a:p>
            <a:pPr indent="0" lvl="0" marL="0" rtl="0" algn="l">
              <a:spcBef>
                <a:spcPts val="1200"/>
              </a:spcBef>
              <a:spcAft>
                <a:spcPts val="0"/>
              </a:spcAft>
              <a:buNone/>
            </a:pPr>
            <a:r>
              <a:rPr lang="en"/>
              <a:t>Take the median</a:t>
            </a:r>
            <a:endParaRPr/>
          </a:p>
          <a:p>
            <a:pPr indent="0" lvl="0" marL="0" rtl="0" algn="l">
              <a:spcBef>
                <a:spcPts val="1200"/>
              </a:spcBef>
              <a:spcAft>
                <a:spcPts val="0"/>
              </a:spcAft>
              <a:buNone/>
            </a:pPr>
            <a:r>
              <a:rPr lang="en"/>
              <a:t>MAD = 2</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Coefficient of Variation</a:t>
            </a:r>
            <a:endParaRPr/>
          </a:p>
        </p:txBody>
      </p:sp>
      <p:sp>
        <p:nvSpPr>
          <p:cNvPr id="209" name="Google Shape;20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Used </a:t>
            </a:r>
            <a:r>
              <a:rPr lang="en"/>
              <a:t>for comparing the relative variability / </a:t>
            </a:r>
            <a:r>
              <a:rPr lang="en"/>
              <a:t>volatility</a:t>
            </a:r>
            <a:r>
              <a:rPr lang="en"/>
              <a:t> of datasets with different units or scales.</a:t>
            </a:r>
            <a:endParaRPr/>
          </a:p>
          <a:p>
            <a:pPr indent="0" lvl="0" marL="0" rtl="0" algn="l">
              <a:spcBef>
                <a:spcPts val="1200"/>
              </a:spcBef>
              <a:spcAft>
                <a:spcPts val="0"/>
              </a:spcAft>
              <a:buNone/>
            </a:pPr>
            <a:r>
              <a:rPr b="1" lang="en"/>
              <a:t>CV = Standard Deviation / Mean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lang="en"/>
              <a:t>Stock A </a:t>
            </a:r>
            <a:r>
              <a:rPr lang="en"/>
              <a:t>ROI: Mean 12%, Standard Deviation 4%, CV = 4/12 = 33.3%</a:t>
            </a:r>
            <a:endParaRPr/>
          </a:p>
          <a:p>
            <a:pPr indent="0" lvl="0" marL="0" rtl="0" algn="l">
              <a:spcBef>
                <a:spcPts val="1200"/>
              </a:spcBef>
              <a:spcAft>
                <a:spcPts val="0"/>
              </a:spcAft>
              <a:buNone/>
            </a:pPr>
            <a:r>
              <a:rPr lang="en"/>
              <a:t>Stock B ROI: Mean 8%, Standard Deviation 3%, CV = 3/8 = 37.5%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Stock</a:t>
            </a:r>
            <a:r>
              <a:rPr lang="en"/>
              <a:t> B is more </a:t>
            </a:r>
            <a:r>
              <a:rPr lang="en"/>
              <a:t>volatile</a:t>
            </a:r>
            <a:r>
              <a:rPr lang="en"/>
              <a:t> than stock A</a:t>
            </a:r>
            <a:endParaRPr/>
          </a:p>
          <a:p>
            <a:pPr indent="0" lvl="0" marL="0" rtl="0" algn="l">
              <a:spcBef>
                <a:spcPts val="1200"/>
              </a:spcBef>
              <a:spcAft>
                <a:spcPts val="1200"/>
              </a:spcAft>
              <a:buNone/>
            </a:pPr>
            <a:r>
              <a:rPr lang="en"/>
              <a:t>(Not always appropriate when means can be zero or near zero)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 Excel</a:t>
            </a:r>
            <a:endParaRPr/>
          </a:p>
        </p:txBody>
      </p:sp>
      <p:graphicFrame>
        <p:nvGraphicFramePr>
          <p:cNvPr id="215" name="Google Shape;215;p37"/>
          <p:cNvGraphicFramePr/>
          <p:nvPr/>
        </p:nvGraphicFramePr>
        <p:xfrm>
          <a:off x="952500" y="1428750"/>
          <a:ext cx="3000000" cy="3000000"/>
        </p:xfrm>
        <a:graphic>
          <a:graphicData uri="http://schemas.openxmlformats.org/drawingml/2006/table">
            <a:tbl>
              <a:tblPr>
                <a:noFill/>
                <a:tableStyleId>{A49DC9EB-9361-4B51-8153-D682CE428B52}</a:tableStyleId>
              </a:tblPr>
              <a:tblGrid>
                <a:gridCol w="3619500"/>
                <a:gridCol w="3619500"/>
              </a:tblGrid>
              <a:tr h="381000">
                <a:tc>
                  <a:txBody>
                    <a:bodyPr/>
                    <a:lstStyle/>
                    <a:p>
                      <a:pPr indent="0" lvl="0" marL="0" rtl="0" algn="l">
                        <a:spcBef>
                          <a:spcPts val="0"/>
                        </a:spcBef>
                        <a:spcAft>
                          <a:spcPts val="0"/>
                        </a:spcAft>
                        <a:buNone/>
                      </a:pPr>
                      <a:r>
                        <a:rPr lang="en"/>
                        <a:t>Arithmetic Mean</a:t>
                      </a:r>
                      <a:endParaRPr/>
                    </a:p>
                  </a:txBody>
                  <a:tcPr marT="91425" marB="91425" marR="91425" marL="91425"/>
                </a:tc>
                <a:tc>
                  <a:txBody>
                    <a:bodyPr/>
                    <a:lstStyle/>
                    <a:p>
                      <a:pPr indent="0" lvl="0" marL="0" rtl="0" algn="l">
                        <a:spcBef>
                          <a:spcPts val="0"/>
                        </a:spcBef>
                        <a:spcAft>
                          <a:spcPts val="0"/>
                        </a:spcAft>
                        <a:buNone/>
                      </a:pPr>
                      <a:r>
                        <a:rPr lang="en"/>
                        <a:t>=average()</a:t>
                      </a:r>
                      <a:endParaRPr/>
                    </a:p>
                  </a:txBody>
                  <a:tcPr marT="91425" marB="91425" marR="91425" marL="91425"/>
                </a:tc>
              </a:tr>
              <a:tr h="381000">
                <a:tc>
                  <a:txBody>
                    <a:bodyPr/>
                    <a:lstStyle/>
                    <a:p>
                      <a:pPr indent="0" lvl="0" marL="0" rtl="0" algn="l">
                        <a:spcBef>
                          <a:spcPts val="0"/>
                        </a:spcBef>
                        <a:spcAft>
                          <a:spcPts val="0"/>
                        </a:spcAft>
                        <a:buNone/>
                      </a:pPr>
                      <a:r>
                        <a:rPr lang="en"/>
                        <a:t>Geometric Mean </a:t>
                      </a:r>
                      <a:endParaRPr/>
                    </a:p>
                  </a:txBody>
                  <a:tcPr marT="91425" marB="91425" marR="91425" marL="91425"/>
                </a:tc>
                <a:tc>
                  <a:txBody>
                    <a:bodyPr/>
                    <a:lstStyle/>
                    <a:p>
                      <a:pPr indent="0" lvl="0" marL="0" rtl="0" algn="l">
                        <a:spcBef>
                          <a:spcPts val="0"/>
                        </a:spcBef>
                        <a:spcAft>
                          <a:spcPts val="0"/>
                        </a:spcAft>
                        <a:buNone/>
                      </a:pPr>
                      <a:r>
                        <a:rPr lang="en"/>
                        <a:t>=geomean()</a:t>
                      </a:r>
                      <a:endParaRPr/>
                    </a:p>
                  </a:txBody>
                  <a:tcPr marT="91425" marB="91425" marR="91425" marL="91425"/>
                </a:tc>
              </a:tr>
              <a:tr h="381000">
                <a:tc>
                  <a:txBody>
                    <a:bodyPr/>
                    <a:lstStyle/>
                    <a:p>
                      <a:pPr indent="0" lvl="0" marL="0" rtl="0" algn="l">
                        <a:spcBef>
                          <a:spcPts val="0"/>
                        </a:spcBef>
                        <a:spcAft>
                          <a:spcPts val="0"/>
                        </a:spcAft>
                        <a:buNone/>
                      </a:pPr>
                      <a:r>
                        <a:rPr lang="en"/>
                        <a:t>Median</a:t>
                      </a:r>
                      <a:endParaRPr/>
                    </a:p>
                  </a:txBody>
                  <a:tcPr marT="91425" marB="91425" marR="91425" marL="91425"/>
                </a:tc>
                <a:tc>
                  <a:txBody>
                    <a:bodyPr/>
                    <a:lstStyle/>
                    <a:p>
                      <a:pPr indent="0" lvl="0" marL="0" rtl="0" algn="l">
                        <a:spcBef>
                          <a:spcPts val="0"/>
                        </a:spcBef>
                        <a:spcAft>
                          <a:spcPts val="0"/>
                        </a:spcAft>
                        <a:buNone/>
                      </a:pPr>
                      <a:r>
                        <a:rPr lang="en"/>
                        <a:t>=median()</a:t>
                      </a:r>
                      <a:endParaRPr/>
                    </a:p>
                  </a:txBody>
                  <a:tcPr marT="91425" marB="91425" marR="91425" marL="91425"/>
                </a:tc>
              </a:tr>
              <a:tr h="381000">
                <a:tc>
                  <a:txBody>
                    <a:bodyPr/>
                    <a:lstStyle/>
                    <a:p>
                      <a:pPr indent="0" lvl="0" marL="0" rtl="0" algn="l">
                        <a:spcBef>
                          <a:spcPts val="0"/>
                        </a:spcBef>
                        <a:spcAft>
                          <a:spcPts val="0"/>
                        </a:spcAft>
                        <a:buNone/>
                      </a:pPr>
                      <a:r>
                        <a:rPr lang="en"/>
                        <a:t>Mode</a:t>
                      </a:r>
                      <a:endParaRPr/>
                    </a:p>
                  </a:txBody>
                  <a:tcPr marT="91425" marB="91425" marR="91425" marL="91425"/>
                </a:tc>
                <a:tc>
                  <a:txBody>
                    <a:bodyPr/>
                    <a:lstStyle/>
                    <a:p>
                      <a:pPr indent="0" lvl="0" marL="0" rtl="0" algn="l">
                        <a:spcBef>
                          <a:spcPts val="0"/>
                        </a:spcBef>
                        <a:spcAft>
                          <a:spcPts val="0"/>
                        </a:spcAft>
                        <a:buNone/>
                      </a:pPr>
                      <a:r>
                        <a:rPr lang="en"/>
                        <a:t>=mode.sngl() for single, =mode.mult for multimodal</a:t>
                      </a:r>
                      <a:endParaRPr/>
                    </a:p>
                  </a:txBody>
                  <a:tcPr marT="91425" marB="91425" marR="91425" marL="91425"/>
                </a:tc>
              </a:tr>
              <a:tr h="381000">
                <a:tc>
                  <a:txBody>
                    <a:bodyPr/>
                    <a:lstStyle/>
                    <a:p>
                      <a:pPr indent="0" lvl="0" marL="0" rtl="0" algn="l">
                        <a:spcBef>
                          <a:spcPts val="0"/>
                        </a:spcBef>
                        <a:spcAft>
                          <a:spcPts val="0"/>
                        </a:spcAft>
                        <a:buNone/>
                      </a:pPr>
                      <a:r>
                        <a:rPr lang="en"/>
                        <a:t>Variance </a:t>
                      </a:r>
                      <a:endParaRPr/>
                    </a:p>
                  </a:txBody>
                  <a:tcPr marT="91425" marB="91425" marR="91425" marL="91425"/>
                </a:tc>
                <a:tc>
                  <a:txBody>
                    <a:bodyPr/>
                    <a:lstStyle/>
                    <a:p>
                      <a:pPr indent="0" lvl="0" marL="0" rtl="0" algn="l">
                        <a:spcBef>
                          <a:spcPts val="0"/>
                        </a:spcBef>
                        <a:spcAft>
                          <a:spcPts val="0"/>
                        </a:spcAft>
                        <a:buNone/>
                      </a:pPr>
                      <a:r>
                        <a:rPr lang="en"/>
                        <a:t>=var.p() for population and =var.s() for sample</a:t>
                      </a:r>
                      <a:endParaRPr/>
                    </a:p>
                  </a:txBody>
                  <a:tcPr marT="91425" marB="91425" marR="91425" marL="91425"/>
                </a:tc>
              </a:tr>
              <a:tr h="381000">
                <a:tc>
                  <a:txBody>
                    <a:bodyPr/>
                    <a:lstStyle/>
                    <a:p>
                      <a:pPr indent="0" lvl="0" marL="0" rtl="0" algn="l">
                        <a:spcBef>
                          <a:spcPts val="0"/>
                        </a:spcBef>
                        <a:spcAft>
                          <a:spcPts val="0"/>
                        </a:spcAft>
                        <a:buNone/>
                      </a:pPr>
                      <a:r>
                        <a:rPr lang="en"/>
                        <a:t>Standard Deviation</a:t>
                      </a:r>
                      <a:endParaRPr/>
                    </a:p>
                  </a:txBody>
                  <a:tcPr marT="91425" marB="91425" marR="91425" marL="91425"/>
                </a:tc>
                <a:tc>
                  <a:txBody>
                    <a:bodyPr/>
                    <a:lstStyle/>
                    <a:p>
                      <a:pPr indent="0" lvl="0" marL="0" rtl="0" algn="l">
                        <a:spcBef>
                          <a:spcPts val="0"/>
                        </a:spcBef>
                        <a:spcAft>
                          <a:spcPts val="0"/>
                        </a:spcAft>
                        <a:buNone/>
                      </a:pPr>
                      <a:r>
                        <a:rPr lang="en"/>
                        <a:t>=stdev.p() for population and stdev.s() for a sample</a:t>
                      </a:r>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Distribution / Shape</a:t>
            </a:r>
            <a:endParaRPr/>
          </a:p>
        </p:txBody>
      </p:sp>
      <p:pic>
        <p:nvPicPr>
          <p:cNvPr id="221" name="Google Shape;221;p38"/>
          <p:cNvPicPr preferRelativeResize="0"/>
          <p:nvPr/>
        </p:nvPicPr>
        <p:blipFill>
          <a:blip r:embed="rId3">
            <a:alphaModFix/>
          </a:blip>
          <a:stretch>
            <a:fillRect/>
          </a:stretch>
        </p:blipFill>
        <p:spPr>
          <a:xfrm>
            <a:off x="152400" y="1853875"/>
            <a:ext cx="8839201" cy="24291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Histograms</a:t>
            </a:r>
            <a:endParaRPr/>
          </a:p>
        </p:txBody>
      </p:sp>
      <p:sp>
        <p:nvSpPr>
          <p:cNvPr id="227" name="Google Shape;227;p39"/>
          <p:cNvSpPr txBox="1"/>
          <p:nvPr>
            <p:ph idx="1" type="body"/>
          </p:nvPr>
        </p:nvSpPr>
        <p:spPr>
          <a:xfrm>
            <a:off x="311700" y="1152475"/>
            <a:ext cx="43770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Data is broken into evenly sized ranges</a:t>
            </a:r>
            <a:endParaRPr/>
          </a:p>
          <a:p>
            <a:pPr indent="0" lvl="0" marL="0" rtl="0" algn="l">
              <a:spcBef>
                <a:spcPts val="1200"/>
              </a:spcBef>
              <a:spcAft>
                <a:spcPts val="0"/>
              </a:spcAft>
              <a:buNone/>
            </a:pPr>
            <a:r>
              <a:rPr lang="en"/>
              <a:t>Similar to bar chart, but </a:t>
            </a:r>
            <a:r>
              <a:rPr lang="en"/>
              <a:t>numerical</a:t>
            </a:r>
            <a:r>
              <a:rPr lang="en"/>
              <a:t> rather than categorical </a:t>
            </a:r>
            <a:endParaRPr/>
          </a:p>
          <a:p>
            <a:pPr indent="0" lvl="0" marL="0" rtl="0" algn="l">
              <a:spcBef>
                <a:spcPts val="1200"/>
              </a:spcBef>
              <a:spcAft>
                <a:spcPts val="0"/>
              </a:spcAft>
              <a:buNone/>
            </a:pPr>
            <a:r>
              <a:rPr lang="en"/>
              <a:t>The height of the bar at each range corresponds to the quantity of values in that bar’s corresponding range</a:t>
            </a:r>
            <a:endParaRPr/>
          </a:p>
          <a:p>
            <a:pPr indent="0" lvl="0" marL="0" rtl="0" algn="l">
              <a:spcBef>
                <a:spcPts val="1200"/>
              </a:spcBef>
              <a:spcAft>
                <a:spcPts val="1200"/>
              </a:spcAft>
              <a:buNone/>
            </a:pPr>
            <a:r>
              <a:rPr lang="en"/>
              <a:t>For example, in the </a:t>
            </a:r>
            <a:r>
              <a:rPr lang="en"/>
              <a:t>histogram</a:t>
            </a:r>
            <a:r>
              <a:rPr lang="en"/>
              <a:t> to the right, there are 6 instances where the value falls between 6 and 10 and where the value falls between 36 and 40</a:t>
            </a:r>
            <a:endParaRPr/>
          </a:p>
        </p:txBody>
      </p:sp>
      <p:pic>
        <p:nvPicPr>
          <p:cNvPr id="228" name="Google Shape;228;p39"/>
          <p:cNvPicPr preferRelativeResize="0"/>
          <p:nvPr/>
        </p:nvPicPr>
        <p:blipFill>
          <a:blip r:embed="rId3">
            <a:alphaModFix/>
          </a:blip>
          <a:stretch>
            <a:fillRect/>
          </a:stretch>
        </p:blipFill>
        <p:spPr>
          <a:xfrm>
            <a:off x="5002450" y="1345850"/>
            <a:ext cx="3829851" cy="2642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Density Histograms</a:t>
            </a:r>
            <a:endParaRPr/>
          </a:p>
        </p:txBody>
      </p:sp>
      <p:sp>
        <p:nvSpPr>
          <p:cNvPr id="234" name="Google Shape;23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Rescales </a:t>
            </a:r>
            <a:r>
              <a:rPr lang="en"/>
              <a:t>histograms</a:t>
            </a:r>
            <a:r>
              <a:rPr lang="en"/>
              <a:t> bars so that the total area under the histogram equals 1.  </a:t>
            </a:r>
            <a:endParaRPr/>
          </a:p>
          <a:p>
            <a:pPr indent="0" lvl="0" marL="0" rtl="0" algn="l">
              <a:spcBef>
                <a:spcPts val="1200"/>
              </a:spcBef>
              <a:spcAft>
                <a:spcPts val="0"/>
              </a:spcAft>
              <a:buNone/>
            </a:pPr>
            <a:r>
              <a:rPr lang="en"/>
              <a:t>Replaces counts with approximate probability density function</a:t>
            </a:r>
            <a:endParaRPr/>
          </a:p>
          <a:p>
            <a:pPr indent="0" lvl="0" marL="0" rtl="0" algn="l">
              <a:spcBef>
                <a:spcPts val="1200"/>
              </a:spcBef>
              <a:spcAft>
                <a:spcPts val="0"/>
              </a:spcAft>
              <a:buNone/>
            </a:pPr>
            <a:r>
              <a:rPr lang="en"/>
              <a:t>Density = Bin count / (Total observations * Bin width)</a:t>
            </a:r>
            <a:endParaRPr/>
          </a:p>
          <a:p>
            <a:pPr indent="0" lvl="0" marL="0" rtl="0" algn="l">
              <a:spcBef>
                <a:spcPts val="1200"/>
              </a:spcBef>
              <a:spcAft>
                <a:spcPts val="1200"/>
              </a:spcAft>
              <a:buNone/>
            </a:pPr>
            <a:r>
              <a:rPr lang="en"/>
              <a:t>Allows comparisons against theoretical </a:t>
            </a:r>
            <a:r>
              <a:rPr lang="en"/>
              <a:t>probability</a:t>
            </a:r>
            <a:r>
              <a:rPr lang="en"/>
              <a:t> distributions*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Percentiles</a:t>
            </a:r>
            <a:endParaRPr/>
          </a:p>
        </p:txBody>
      </p:sp>
      <p:sp>
        <p:nvSpPr>
          <p:cNvPr id="240" name="Google Shape;240;p41"/>
          <p:cNvSpPr txBox="1"/>
          <p:nvPr>
            <p:ph idx="1" type="body"/>
          </p:nvPr>
        </p:nvSpPr>
        <p:spPr>
          <a:xfrm>
            <a:off x="311700" y="1152475"/>
            <a:ext cx="4461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If a number is in the P’th percentile, it is at or above P% of the values</a:t>
            </a:r>
            <a:endParaRPr/>
          </a:p>
          <a:p>
            <a:pPr indent="0" lvl="0" marL="0" rtl="0" algn="l">
              <a:spcBef>
                <a:spcPts val="1200"/>
              </a:spcBef>
              <a:spcAft>
                <a:spcPts val="0"/>
              </a:spcAft>
              <a:buNone/>
            </a:pPr>
            <a:r>
              <a:rPr lang="en"/>
              <a:t>A number in the 90th percentile is larger than 90% of the other numbers in a series</a:t>
            </a:r>
            <a:endParaRPr/>
          </a:p>
          <a:p>
            <a:pPr indent="0" lvl="0" marL="0" rtl="0" algn="l">
              <a:spcBef>
                <a:spcPts val="1200"/>
              </a:spcBef>
              <a:spcAft>
                <a:spcPts val="0"/>
              </a:spcAft>
              <a:buNone/>
            </a:pPr>
            <a:r>
              <a:rPr lang="en"/>
              <a:t>To find what number is at the P’th percentile, use the formula:</a:t>
            </a:r>
            <a:endParaRPr/>
          </a:p>
          <a:p>
            <a:pPr indent="0" lvl="0" marL="0" rtl="0" algn="l">
              <a:spcBef>
                <a:spcPts val="1200"/>
              </a:spcBef>
              <a:spcAft>
                <a:spcPts val="0"/>
              </a:spcAft>
              <a:buNone/>
            </a:pPr>
            <a:r>
              <a:rPr lang="en"/>
              <a:t>Value at which P % of the data are below = </a:t>
            </a:r>
            <a:endParaRPr/>
          </a:p>
          <a:p>
            <a:pPr indent="0" lvl="0" marL="0" rtl="0" algn="l">
              <a:spcBef>
                <a:spcPts val="1200"/>
              </a:spcBef>
              <a:spcAft>
                <a:spcPts val="0"/>
              </a:spcAft>
              <a:buNone/>
            </a:pPr>
            <a:r>
              <a:rPr lang="en"/>
              <a:t>P(n + 1)/100</a:t>
            </a:r>
            <a:endParaRPr/>
          </a:p>
          <a:p>
            <a:pPr indent="0" lvl="0" marL="0" rtl="0" algn="l">
              <a:spcBef>
                <a:spcPts val="1200"/>
              </a:spcBef>
              <a:spcAft>
                <a:spcPts val="0"/>
              </a:spcAft>
              <a:buNone/>
            </a:pPr>
            <a:r>
              <a:rPr lang="en"/>
              <a:t>(Software may arrive at slightly different answers due to </a:t>
            </a:r>
            <a:r>
              <a:rPr lang="en"/>
              <a:t>interpolation</a:t>
            </a:r>
            <a:r>
              <a:rPr lang="en"/>
              <a:t>) </a:t>
            </a:r>
            <a:endParaRPr/>
          </a:p>
          <a:p>
            <a:pPr indent="0" lvl="0" marL="0" rtl="0" algn="l">
              <a:spcBef>
                <a:spcPts val="1200"/>
              </a:spcBef>
              <a:spcAft>
                <a:spcPts val="1200"/>
              </a:spcAft>
              <a:buNone/>
            </a:pPr>
            <a:r>
              <a:t/>
            </a:r>
            <a:endParaRPr/>
          </a:p>
        </p:txBody>
      </p:sp>
      <p:pic>
        <p:nvPicPr>
          <p:cNvPr id="241" name="Google Shape;241;p41"/>
          <p:cNvPicPr preferRelativeResize="0"/>
          <p:nvPr/>
        </p:nvPicPr>
        <p:blipFill>
          <a:blip r:embed="rId3">
            <a:alphaModFix/>
          </a:blip>
          <a:stretch>
            <a:fillRect/>
          </a:stretch>
        </p:blipFill>
        <p:spPr>
          <a:xfrm>
            <a:off x="4678576" y="394269"/>
            <a:ext cx="4182150" cy="41746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Percentiles</a:t>
            </a:r>
            <a:endParaRPr/>
          </a:p>
        </p:txBody>
      </p:sp>
      <p:sp>
        <p:nvSpPr>
          <p:cNvPr id="247" name="Google Shape;247;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Finding percentiles</a:t>
            </a:r>
            <a:endParaRPr/>
          </a:p>
          <a:p>
            <a:pPr indent="0" lvl="0" marL="0" rtl="0" algn="l">
              <a:spcBef>
                <a:spcPts val="1200"/>
              </a:spcBef>
              <a:spcAft>
                <a:spcPts val="0"/>
              </a:spcAft>
              <a:buNone/>
            </a:pPr>
            <a:r>
              <a:rPr lang="en"/>
              <a:t>Scores = {80,77,76,82,89,84,81,85,87,75,92,75,90,87,95,81,96,81,95,99,75}</a:t>
            </a:r>
            <a:endParaRPr/>
          </a:p>
          <a:p>
            <a:pPr indent="0" lvl="0" marL="0" rtl="0" algn="l">
              <a:spcBef>
                <a:spcPts val="1200"/>
              </a:spcBef>
              <a:spcAft>
                <a:spcPts val="0"/>
              </a:spcAft>
              <a:buNone/>
            </a:pPr>
            <a:r>
              <a:rPr lang="en"/>
              <a:t>Sort from lowest to highest</a:t>
            </a:r>
            <a:endParaRPr/>
          </a:p>
          <a:p>
            <a:pPr indent="0" lvl="0" marL="0" rtl="0" algn="l">
              <a:spcBef>
                <a:spcPts val="1200"/>
              </a:spcBef>
              <a:spcAft>
                <a:spcPts val="0"/>
              </a:spcAft>
              <a:buNone/>
            </a:pPr>
            <a:r>
              <a:rPr lang="en"/>
              <a:t>Scores = {75,75,75,76,77,80,81,81,81,82,84,85,87,87,89,90,92,95,95,96,99}</a:t>
            </a:r>
            <a:endParaRPr/>
          </a:p>
          <a:p>
            <a:pPr indent="0" lvl="0" marL="0" rtl="0" algn="l">
              <a:spcBef>
                <a:spcPts val="1200"/>
              </a:spcBef>
              <a:spcAft>
                <a:spcPts val="0"/>
              </a:spcAft>
              <a:buNone/>
            </a:pPr>
            <a:r>
              <a:rPr lang="en"/>
              <a:t>Find the 20th percentile (n = 21)</a:t>
            </a:r>
            <a:endParaRPr/>
          </a:p>
          <a:p>
            <a:pPr indent="0" lvl="0" marL="0" rtl="0" algn="l">
              <a:spcBef>
                <a:spcPts val="1200"/>
              </a:spcBef>
              <a:spcAft>
                <a:spcPts val="0"/>
              </a:spcAft>
              <a:buNone/>
            </a:pPr>
            <a:r>
              <a:rPr lang="en"/>
              <a:t>P(n + 1)/100</a:t>
            </a:r>
            <a:endParaRPr/>
          </a:p>
          <a:p>
            <a:pPr indent="0" lvl="0" marL="0" rtl="0" algn="l">
              <a:spcBef>
                <a:spcPts val="1200"/>
              </a:spcBef>
              <a:spcAft>
                <a:spcPts val="0"/>
              </a:spcAft>
              <a:buNone/>
            </a:pPr>
            <a:r>
              <a:rPr lang="en"/>
              <a:t>20 * (21 + 1) / 100 = 20 * 22 / 100 = 4.4</a:t>
            </a:r>
            <a:endParaRPr/>
          </a:p>
          <a:p>
            <a:pPr indent="0" lvl="0" marL="0" rtl="0" algn="l">
              <a:spcBef>
                <a:spcPts val="1200"/>
              </a:spcBef>
              <a:spcAft>
                <a:spcPts val="0"/>
              </a:spcAft>
              <a:buNone/>
            </a:pPr>
            <a:r>
              <a:rPr lang="en"/>
              <a:t>4.4th place…round </a:t>
            </a:r>
            <a:r>
              <a:rPr b="1" lang="en"/>
              <a:t>up</a:t>
            </a:r>
            <a:r>
              <a:rPr lang="en"/>
              <a:t> to 5th place so that value is the value just above P percent of the data</a:t>
            </a:r>
            <a:endParaRPr/>
          </a:p>
          <a:p>
            <a:pPr indent="0" lvl="0" marL="0" rtl="0" algn="l">
              <a:spcBef>
                <a:spcPts val="1200"/>
              </a:spcBef>
              <a:spcAft>
                <a:spcPts val="1200"/>
              </a:spcAft>
              <a:buClr>
                <a:schemeClr val="dk1"/>
              </a:buClr>
              <a:buSzPct val="61111"/>
              <a:buFont typeface="Arial"/>
              <a:buNone/>
            </a:pPr>
            <a:r>
              <a:rPr lang="en"/>
              <a:t>Scores = {75,75,75,76,</a:t>
            </a:r>
            <a:r>
              <a:rPr b="1" lang="en"/>
              <a:t>77</a:t>
            </a:r>
            <a:r>
              <a:rPr lang="en"/>
              <a:t>,80,81,81,81,82,84,85,87,87,89,90,92,95,95,96,99}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Quartiles, Deciles, &amp; Quantiles</a:t>
            </a:r>
            <a:endParaRPr/>
          </a:p>
        </p:txBody>
      </p:sp>
      <p:sp>
        <p:nvSpPr>
          <p:cNvPr id="253" name="Google Shape;253;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1190"/>
              <a:t>Quartiles are the 25th, 50th, and 75th percentiles of data and divide the data into 4 segments</a:t>
            </a:r>
            <a:endParaRPr sz="1190"/>
          </a:p>
          <a:p>
            <a:pPr indent="0" lvl="0" marL="0" rtl="0" algn="l">
              <a:lnSpc>
                <a:spcPct val="95000"/>
              </a:lnSpc>
              <a:spcBef>
                <a:spcPts val="1200"/>
              </a:spcBef>
              <a:spcAft>
                <a:spcPts val="0"/>
              </a:spcAft>
              <a:buSzPts val="605"/>
              <a:buNone/>
            </a:pPr>
            <a:r>
              <a:rPr lang="en" sz="1190"/>
              <a:t>Quartiles are found by ordering your data and using the formulas</a:t>
            </a:r>
            <a:endParaRPr sz="1190"/>
          </a:p>
          <a:p>
            <a:pPr indent="0" lvl="0" marL="0" rtl="0" algn="l">
              <a:lnSpc>
                <a:spcPct val="95000"/>
              </a:lnSpc>
              <a:spcBef>
                <a:spcPts val="1200"/>
              </a:spcBef>
              <a:spcAft>
                <a:spcPts val="0"/>
              </a:spcAft>
              <a:buSzPts val="605"/>
              <a:buNone/>
            </a:pPr>
            <a:r>
              <a:rPr lang="en" sz="1190"/>
              <a:t>1st quartile = ¼(n + 1)th term</a:t>
            </a:r>
            <a:endParaRPr sz="1190"/>
          </a:p>
          <a:p>
            <a:pPr indent="0" lvl="0" marL="0" rtl="0" algn="l">
              <a:lnSpc>
                <a:spcPct val="95000"/>
              </a:lnSpc>
              <a:spcBef>
                <a:spcPts val="1200"/>
              </a:spcBef>
              <a:spcAft>
                <a:spcPts val="0"/>
              </a:spcAft>
              <a:buSzPts val="605"/>
              <a:buNone/>
            </a:pPr>
            <a:r>
              <a:rPr lang="en" sz="1190"/>
              <a:t>2nd quartile = ½(n + 1)th term = Median</a:t>
            </a:r>
            <a:endParaRPr sz="1190"/>
          </a:p>
          <a:p>
            <a:pPr indent="0" lvl="0" marL="0" rtl="0" algn="l">
              <a:lnSpc>
                <a:spcPct val="95000"/>
              </a:lnSpc>
              <a:spcBef>
                <a:spcPts val="1200"/>
              </a:spcBef>
              <a:spcAft>
                <a:spcPts val="0"/>
              </a:spcAft>
              <a:buSzPts val="605"/>
              <a:buNone/>
            </a:pPr>
            <a:r>
              <a:rPr lang="en" sz="1190"/>
              <a:t>3rd quartile = ¾(n + 1)th term</a:t>
            </a:r>
            <a:endParaRPr sz="1190"/>
          </a:p>
          <a:p>
            <a:pPr indent="0" lvl="0" marL="0" rtl="0" algn="l">
              <a:lnSpc>
                <a:spcPct val="95000"/>
              </a:lnSpc>
              <a:spcBef>
                <a:spcPts val="1200"/>
              </a:spcBef>
              <a:spcAft>
                <a:spcPts val="0"/>
              </a:spcAft>
              <a:buSzPts val="605"/>
              <a:buNone/>
            </a:pPr>
            <a:r>
              <a:t/>
            </a:r>
            <a:endParaRPr sz="1190"/>
          </a:p>
          <a:p>
            <a:pPr indent="0" lvl="0" marL="0" rtl="0" algn="l">
              <a:lnSpc>
                <a:spcPct val="95000"/>
              </a:lnSpc>
              <a:spcBef>
                <a:spcPts val="1200"/>
              </a:spcBef>
              <a:spcAft>
                <a:spcPts val="0"/>
              </a:spcAft>
              <a:buSzPts val="605"/>
              <a:buNone/>
            </a:pPr>
            <a:r>
              <a:rPr lang="en" sz="1190"/>
              <a:t>Deciles divide the data into 10 segments (10th percentile, 30th percentile, etc.)</a:t>
            </a:r>
            <a:endParaRPr sz="1190"/>
          </a:p>
          <a:p>
            <a:pPr indent="0" lvl="0" marL="0" rtl="0" algn="l">
              <a:lnSpc>
                <a:spcPct val="95000"/>
              </a:lnSpc>
              <a:spcBef>
                <a:spcPts val="1200"/>
              </a:spcBef>
              <a:spcAft>
                <a:spcPts val="1200"/>
              </a:spcAft>
              <a:buSzPts val="605"/>
              <a:buNone/>
            </a:pPr>
            <a:r>
              <a:rPr lang="en" sz="1190"/>
              <a:t>Quantiles are*</a:t>
            </a:r>
            <a:endParaRPr sz="119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Interquartile Range</a:t>
            </a:r>
            <a:endParaRPr/>
          </a:p>
        </p:txBody>
      </p:sp>
      <p:sp>
        <p:nvSpPr>
          <p:cNvPr id="259" name="Google Shape;259;p44"/>
          <p:cNvSpPr txBox="1"/>
          <p:nvPr>
            <p:ph idx="1" type="body"/>
          </p:nvPr>
        </p:nvSpPr>
        <p:spPr>
          <a:xfrm>
            <a:off x="311700" y="1152475"/>
            <a:ext cx="5614200" cy="34164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n"/>
              <a:t>IQR measures the spread of the middle 50% of the data</a:t>
            </a:r>
            <a:endParaRPr/>
          </a:p>
          <a:p>
            <a:pPr indent="0" lvl="0" marL="0" rtl="0" algn="l">
              <a:spcBef>
                <a:spcPts val="1200"/>
              </a:spcBef>
              <a:spcAft>
                <a:spcPts val="0"/>
              </a:spcAft>
              <a:buNone/>
            </a:pPr>
            <a:r>
              <a:rPr b="1" lang="en"/>
              <a:t>IQR = Quartile 3 - Quartile 1 = 75th Percentile - 25th Percentile</a:t>
            </a:r>
            <a:endParaRPr b="1"/>
          </a:p>
          <a:p>
            <a:pPr indent="0" lvl="0" marL="0" rtl="0" algn="l">
              <a:spcBef>
                <a:spcPts val="1200"/>
              </a:spcBef>
              <a:spcAft>
                <a:spcPts val="0"/>
              </a:spcAft>
              <a:buNone/>
            </a:pPr>
            <a:r>
              <a:rPr lang="en"/>
              <a:t>Small IQR = Clustered together, Large IQR = Spread out</a:t>
            </a:r>
            <a:endParaRPr/>
          </a:p>
          <a:p>
            <a:pPr indent="0" lvl="0" marL="0" rtl="0" algn="l">
              <a:spcBef>
                <a:spcPts val="1200"/>
              </a:spcBef>
              <a:spcAft>
                <a:spcPts val="0"/>
              </a:spcAft>
              <a:buNone/>
            </a:pPr>
            <a:r>
              <a:rPr lang="en"/>
              <a:t>IQR is resistant to outliers and skew.</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Can be used to detect outliers as well.</a:t>
            </a:r>
            <a:endParaRPr/>
          </a:p>
          <a:p>
            <a:pPr indent="0" lvl="0" marL="0" rtl="0" algn="l">
              <a:spcBef>
                <a:spcPts val="1200"/>
              </a:spcBef>
              <a:spcAft>
                <a:spcPts val="0"/>
              </a:spcAft>
              <a:buNone/>
            </a:pPr>
            <a:r>
              <a:rPr lang="en"/>
              <a:t>IQR outlier formula: X is an outlier if </a:t>
            </a:r>
            <a:r>
              <a:rPr b="1" lang="en"/>
              <a:t>X &lt; Q1 - 1.5(IQR)</a:t>
            </a:r>
            <a:r>
              <a:rPr lang="en"/>
              <a:t> or </a:t>
            </a:r>
            <a:r>
              <a:rPr b="1" lang="en"/>
              <a:t>X &gt; Q3 + 1.5(IQR)</a:t>
            </a:r>
            <a:endParaRPr b="1"/>
          </a:p>
          <a:p>
            <a:pPr indent="0" lvl="0" marL="0" rtl="0" algn="l">
              <a:spcBef>
                <a:spcPts val="1200"/>
              </a:spcBef>
              <a:spcAft>
                <a:spcPts val="0"/>
              </a:spcAft>
              <a:buNone/>
            </a:pPr>
            <a:r>
              <a:t/>
            </a:r>
            <a:endParaRPr b="1"/>
          </a:p>
          <a:p>
            <a:pPr indent="0" lvl="0" marL="0" rtl="0" algn="l">
              <a:spcBef>
                <a:spcPts val="1200"/>
              </a:spcBef>
              <a:spcAft>
                <a:spcPts val="1200"/>
              </a:spcAft>
              <a:buNone/>
            </a:pPr>
            <a:r>
              <a:t/>
            </a:r>
            <a:endParaRPr b="1"/>
          </a:p>
        </p:txBody>
      </p:sp>
      <p:pic>
        <p:nvPicPr>
          <p:cNvPr id="260" name="Google Shape;260;p44"/>
          <p:cNvPicPr preferRelativeResize="0"/>
          <p:nvPr/>
        </p:nvPicPr>
        <p:blipFill>
          <a:blip r:embed="rId3">
            <a:alphaModFix/>
          </a:blip>
          <a:stretch>
            <a:fillRect/>
          </a:stretch>
        </p:blipFill>
        <p:spPr>
          <a:xfrm>
            <a:off x="5925900" y="1352275"/>
            <a:ext cx="2913300" cy="21677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Frequency Distributions</a:t>
            </a:r>
            <a:endParaRPr/>
          </a:p>
        </p:txBody>
      </p:sp>
      <p:sp>
        <p:nvSpPr>
          <p:cNvPr id="266" name="Google Shape;26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Frequency distributions are tables or graphs that show the number of observations within a given range / interval or category</a:t>
            </a:r>
            <a:endParaRPr/>
          </a:p>
        </p:txBody>
      </p:sp>
      <p:graphicFrame>
        <p:nvGraphicFramePr>
          <p:cNvPr id="267" name="Google Shape;267;p45"/>
          <p:cNvGraphicFramePr/>
          <p:nvPr/>
        </p:nvGraphicFramePr>
        <p:xfrm>
          <a:off x="878350" y="2046600"/>
          <a:ext cx="3000000" cy="3000000"/>
        </p:xfrm>
        <a:graphic>
          <a:graphicData uri="http://schemas.openxmlformats.org/drawingml/2006/table">
            <a:tbl>
              <a:tblPr>
                <a:noFill/>
                <a:tableStyleId>{A49DC9EB-9361-4B51-8153-D682CE428B52}</a:tableStyleId>
              </a:tblPr>
              <a:tblGrid>
                <a:gridCol w="1809750"/>
                <a:gridCol w="1809750"/>
                <a:gridCol w="1809750"/>
                <a:gridCol w="1809750"/>
              </a:tblGrid>
              <a:tr h="381000">
                <a:tc>
                  <a:txBody>
                    <a:bodyPr/>
                    <a:lstStyle/>
                    <a:p>
                      <a:pPr indent="0" lvl="0" marL="0" rtl="0" algn="l">
                        <a:spcBef>
                          <a:spcPts val="0"/>
                        </a:spcBef>
                        <a:spcAft>
                          <a:spcPts val="0"/>
                        </a:spcAft>
                        <a:buNone/>
                      </a:pPr>
                      <a:r>
                        <a:rPr lang="en"/>
                        <a:t>Grade</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Relative Frequency</a:t>
                      </a:r>
                      <a:endParaRPr/>
                    </a:p>
                  </a:txBody>
                  <a:tcPr marT="91425" marB="91425" marR="91425" marL="91425"/>
                </a:tc>
                <a:tc>
                  <a:txBody>
                    <a:bodyPr/>
                    <a:lstStyle/>
                    <a:p>
                      <a:pPr indent="0" lvl="0" marL="0" rtl="0" algn="l">
                        <a:spcBef>
                          <a:spcPts val="0"/>
                        </a:spcBef>
                        <a:spcAft>
                          <a:spcPts val="0"/>
                        </a:spcAft>
                        <a:buNone/>
                      </a:pPr>
                      <a:r>
                        <a:rPr lang="en"/>
                        <a:t>Cumulative</a:t>
                      </a:r>
                      <a:r>
                        <a:rPr lang="en"/>
                        <a:t> Frequency (Ascending)</a:t>
                      </a:r>
                      <a:endParaRPr/>
                    </a:p>
                  </a:txBody>
                  <a:tcPr marT="91425" marB="91425" marR="91425" marL="91425"/>
                </a:tc>
              </a:tr>
              <a:tr h="381000">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3 / 12 = .25</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81000">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5 / 12 = .42</a:t>
                      </a:r>
                      <a:endParaRPr/>
                    </a:p>
                  </a:txBody>
                  <a:tcPr marT="91425" marB="91425" marR="91425" marL="91425"/>
                </a:tc>
                <a:tc>
                  <a:txBody>
                    <a:bodyPr/>
                    <a:lstStyle/>
                    <a:p>
                      <a:pPr indent="0" lvl="0" marL="0" rtl="0" algn="l">
                        <a:spcBef>
                          <a:spcPts val="0"/>
                        </a:spcBef>
                        <a:spcAft>
                          <a:spcPts val="0"/>
                        </a:spcAft>
                        <a:buNone/>
                      </a:pPr>
                      <a:r>
                        <a:rPr lang="en"/>
                        <a:t>.75</a:t>
                      </a:r>
                      <a:endParaRPr/>
                    </a:p>
                  </a:txBody>
                  <a:tcPr marT="91425" marB="91425" marR="91425" marL="91425"/>
                </a:tc>
              </a:tr>
              <a:tr h="381000">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2 / 12 = .17</a:t>
                      </a:r>
                      <a:endParaRPr/>
                    </a:p>
                  </a:txBody>
                  <a:tcPr marT="91425" marB="91425" marR="91425" marL="91425"/>
                </a:tc>
                <a:tc>
                  <a:txBody>
                    <a:bodyPr/>
                    <a:lstStyle/>
                    <a:p>
                      <a:pPr indent="0" lvl="0" marL="0" rtl="0" algn="l">
                        <a:spcBef>
                          <a:spcPts val="0"/>
                        </a:spcBef>
                        <a:spcAft>
                          <a:spcPts val="0"/>
                        </a:spcAft>
                        <a:buNone/>
                      </a:pPr>
                      <a:r>
                        <a:rPr lang="en"/>
                        <a:t>.33</a:t>
                      </a:r>
                      <a:endParaRPr/>
                    </a:p>
                  </a:txBody>
                  <a:tcPr marT="91425" marB="91425" marR="91425" marL="91425"/>
                </a:tc>
              </a:tr>
              <a:tr h="381000">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 / 12 = .08</a:t>
                      </a:r>
                      <a:endParaRPr/>
                    </a:p>
                  </a:txBody>
                  <a:tcPr marT="91425" marB="91425" marR="91425" marL="91425"/>
                </a:tc>
                <a:tc>
                  <a:txBody>
                    <a:bodyPr/>
                    <a:lstStyle/>
                    <a:p>
                      <a:pPr indent="0" lvl="0" marL="0" rtl="0" algn="l">
                        <a:spcBef>
                          <a:spcPts val="0"/>
                        </a:spcBef>
                        <a:spcAft>
                          <a:spcPts val="0"/>
                        </a:spcAft>
                        <a:buNone/>
                      </a:pPr>
                      <a:r>
                        <a:rPr lang="en"/>
                        <a:t>.16</a:t>
                      </a:r>
                      <a:endParaRPr/>
                    </a:p>
                  </a:txBody>
                  <a:tcPr marT="91425" marB="91425" marR="91425" marL="91425"/>
                </a:tc>
              </a:tr>
              <a:tr h="381000">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 / 12 = .08</a:t>
                      </a:r>
                      <a:endParaRPr/>
                    </a:p>
                  </a:txBody>
                  <a:tcPr marT="91425" marB="91425" marR="91425" marL="91425"/>
                </a:tc>
                <a:tc>
                  <a:txBody>
                    <a:bodyPr/>
                    <a:lstStyle/>
                    <a:p>
                      <a:pPr indent="0" lvl="0" marL="0" rtl="0" algn="l">
                        <a:spcBef>
                          <a:spcPts val="0"/>
                        </a:spcBef>
                        <a:spcAft>
                          <a:spcPts val="0"/>
                        </a:spcAft>
                        <a:buNone/>
                      </a:pPr>
                      <a:r>
                        <a:rPr lang="en"/>
                        <a:t>.08</a:t>
                      </a:r>
                      <a:endParaRPr/>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Skewness</a:t>
            </a:r>
            <a:endParaRPr/>
          </a:p>
        </p:txBody>
      </p:sp>
      <p:pic>
        <p:nvPicPr>
          <p:cNvPr id="273" name="Google Shape;273;p46"/>
          <p:cNvPicPr preferRelativeResize="0"/>
          <p:nvPr/>
        </p:nvPicPr>
        <p:blipFill>
          <a:blip r:embed="rId3">
            <a:alphaModFix/>
          </a:blip>
          <a:stretch>
            <a:fillRect/>
          </a:stretch>
        </p:blipFill>
        <p:spPr>
          <a:xfrm>
            <a:off x="4208328" y="2298975"/>
            <a:ext cx="4357100" cy="1646475"/>
          </a:xfrm>
          <a:prstGeom prst="rect">
            <a:avLst/>
          </a:prstGeom>
          <a:noFill/>
          <a:ln>
            <a:noFill/>
          </a:ln>
        </p:spPr>
      </p:pic>
      <p:pic>
        <p:nvPicPr>
          <p:cNvPr id="274" name="Google Shape;274;p46"/>
          <p:cNvPicPr preferRelativeResize="0"/>
          <p:nvPr/>
        </p:nvPicPr>
        <p:blipFill>
          <a:blip r:embed="rId4">
            <a:alphaModFix/>
          </a:blip>
          <a:stretch>
            <a:fillRect/>
          </a:stretch>
        </p:blipFill>
        <p:spPr>
          <a:xfrm>
            <a:off x="4572000" y="498950"/>
            <a:ext cx="2933700" cy="1009650"/>
          </a:xfrm>
          <a:prstGeom prst="rect">
            <a:avLst/>
          </a:prstGeom>
          <a:noFill/>
          <a:ln>
            <a:noFill/>
          </a:ln>
        </p:spPr>
      </p:pic>
      <p:sp>
        <p:nvSpPr>
          <p:cNvPr id="275" name="Google Shape;275;p46"/>
          <p:cNvSpPr txBox="1"/>
          <p:nvPr/>
        </p:nvSpPr>
        <p:spPr>
          <a:xfrm>
            <a:off x="311700" y="1157275"/>
            <a:ext cx="3643200" cy="339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Skewness is a measure of asymmetry</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Central tendency is best described by the median, not the mean, when data are skewed.</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Skewness informs us about which statistical tests are appropriate and what types of transformations might be needed.</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It also informs us about potential for outliers</a:t>
            </a:r>
            <a:endParaRPr sz="1800">
              <a:solidFill>
                <a:schemeClr val="dk2"/>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1" name="Google Shape;28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2" name="Google Shape;282;p47"/>
          <p:cNvPicPr preferRelativeResize="0"/>
          <p:nvPr/>
        </p:nvPicPr>
        <p:blipFill>
          <a:blip r:embed="rId3">
            <a:alphaModFix/>
          </a:blip>
          <a:stretch>
            <a:fillRect/>
          </a:stretch>
        </p:blipFill>
        <p:spPr>
          <a:xfrm>
            <a:off x="0" y="335198"/>
            <a:ext cx="9143999" cy="447310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Skewness</a:t>
            </a:r>
            <a:endParaRPr/>
          </a:p>
        </p:txBody>
      </p:sp>
      <p:sp>
        <p:nvSpPr>
          <p:cNvPr id="288" name="Google Shape;28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Kurtosis</a:t>
            </a:r>
            <a:endParaRPr/>
          </a:p>
        </p:txBody>
      </p:sp>
      <p:pic>
        <p:nvPicPr>
          <p:cNvPr id="294" name="Google Shape;294;p49"/>
          <p:cNvPicPr preferRelativeResize="0"/>
          <p:nvPr/>
        </p:nvPicPr>
        <p:blipFill>
          <a:blip r:embed="rId3">
            <a:alphaModFix/>
          </a:blip>
          <a:stretch>
            <a:fillRect/>
          </a:stretch>
        </p:blipFill>
        <p:spPr>
          <a:xfrm>
            <a:off x="5166275" y="445025"/>
            <a:ext cx="2768659" cy="952850"/>
          </a:xfrm>
          <a:prstGeom prst="rect">
            <a:avLst/>
          </a:prstGeom>
          <a:noFill/>
          <a:ln>
            <a:noFill/>
          </a:ln>
        </p:spPr>
      </p:pic>
      <p:pic>
        <p:nvPicPr>
          <p:cNvPr id="295" name="Google Shape;295;p49"/>
          <p:cNvPicPr preferRelativeResize="0"/>
          <p:nvPr/>
        </p:nvPicPr>
        <p:blipFill>
          <a:blip r:embed="rId4">
            <a:alphaModFix/>
          </a:blip>
          <a:stretch>
            <a:fillRect/>
          </a:stretch>
        </p:blipFill>
        <p:spPr>
          <a:xfrm>
            <a:off x="311699" y="2814325"/>
            <a:ext cx="2948002" cy="2257650"/>
          </a:xfrm>
          <a:prstGeom prst="rect">
            <a:avLst/>
          </a:prstGeom>
          <a:noFill/>
          <a:ln>
            <a:noFill/>
          </a:ln>
        </p:spPr>
      </p:pic>
      <p:sp>
        <p:nvSpPr>
          <p:cNvPr id="296" name="Google Shape;296;p49"/>
          <p:cNvSpPr txBox="1"/>
          <p:nvPr/>
        </p:nvSpPr>
        <p:spPr>
          <a:xfrm>
            <a:off x="244700" y="1017725"/>
            <a:ext cx="3712500" cy="9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Kurtosis measures how heavy the tails of a distribution are, relative to the normal distribution.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This tells something about how prone the data is to extreme values.</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p:txBody>
      </p:sp>
      <p:graphicFrame>
        <p:nvGraphicFramePr>
          <p:cNvPr id="297" name="Google Shape;297;p49"/>
          <p:cNvGraphicFramePr/>
          <p:nvPr/>
        </p:nvGraphicFramePr>
        <p:xfrm>
          <a:off x="3645500" y="1829300"/>
          <a:ext cx="3000000" cy="3000000"/>
        </p:xfrm>
        <a:graphic>
          <a:graphicData uri="http://schemas.openxmlformats.org/drawingml/2006/table">
            <a:tbl>
              <a:tblPr>
                <a:noFill/>
                <a:tableStyleId>{A49DC9EB-9361-4B51-8153-D682CE428B52}</a:tableStyleId>
              </a:tblPr>
              <a:tblGrid>
                <a:gridCol w="1296700"/>
                <a:gridCol w="1296700"/>
                <a:gridCol w="1296700"/>
                <a:gridCol w="1296700"/>
              </a:tblGrid>
              <a:tr h="381000">
                <a:tc>
                  <a:txBody>
                    <a:bodyPr/>
                    <a:lstStyle/>
                    <a:p>
                      <a:pPr indent="0" lvl="0" marL="0" rtl="0" algn="l">
                        <a:spcBef>
                          <a:spcPts val="0"/>
                        </a:spcBef>
                        <a:spcAft>
                          <a:spcPts val="0"/>
                        </a:spcAft>
                        <a:buNone/>
                      </a:pPr>
                      <a:r>
                        <a:rPr b="1" lang="en"/>
                        <a:t>Type</a:t>
                      </a:r>
                      <a:endParaRPr b="1"/>
                    </a:p>
                  </a:txBody>
                  <a:tcPr marT="91425" marB="91425" marR="91425" marL="91425"/>
                </a:tc>
                <a:tc>
                  <a:txBody>
                    <a:bodyPr/>
                    <a:lstStyle/>
                    <a:p>
                      <a:pPr indent="0" lvl="0" marL="0" rtl="0" algn="l">
                        <a:spcBef>
                          <a:spcPts val="0"/>
                        </a:spcBef>
                        <a:spcAft>
                          <a:spcPts val="0"/>
                        </a:spcAft>
                        <a:buNone/>
                      </a:pPr>
                      <a:r>
                        <a:rPr b="1" lang="en"/>
                        <a:t>Tails</a:t>
                      </a:r>
                      <a:endParaRPr b="1"/>
                    </a:p>
                  </a:txBody>
                  <a:tcPr marT="91425" marB="91425" marR="91425" marL="91425"/>
                </a:tc>
                <a:tc>
                  <a:txBody>
                    <a:bodyPr/>
                    <a:lstStyle/>
                    <a:p>
                      <a:pPr indent="0" lvl="0" marL="0" rtl="0" algn="l">
                        <a:spcBef>
                          <a:spcPts val="0"/>
                        </a:spcBef>
                        <a:spcAft>
                          <a:spcPts val="0"/>
                        </a:spcAft>
                        <a:buNone/>
                      </a:pPr>
                      <a:r>
                        <a:rPr b="1" lang="en"/>
                        <a:t>Implication</a:t>
                      </a:r>
                      <a:endParaRPr b="1"/>
                    </a:p>
                  </a:txBody>
                  <a:tcPr marT="91425" marB="91425" marR="91425" marL="91425"/>
                </a:tc>
                <a:tc>
                  <a:txBody>
                    <a:bodyPr/>
                    <a:lstStyle/>
                    <a:p>
                      <a:pPr indent="0" lvl="0" marL="0" rtl="0" algn="l">
                        <a:spcBef>
                          <a:spcPts val="0"/>
                        </a:spcBef>
                        <a:spcAft>
                          <a:spcPts val="0"/>
                        </a:spcAft>
                        <a:buNone/>
                      </a:pPr>
                      <a:r>
                        <a:rPr b="1" lang="en"/>
                        <a:t>Coefficient</a:t>
                      </a:r>
                      <a:endParaRPr b="1"/>
                    </a:p>
                  </a:txBody>
                  <a:tcPr marT="91425" marB="91425" marR="91425" marL="91425"/>
                </a:tc>
              </a:tr>
              <a:tr h="381000">
                <a:tc>
                  <a:txBody>
                    <a:bodyPr/>
                    <a:lstStyle/>
                    <a:p>
                      <a:pPr indent="0" lvl="0" marL="0" rtl="0" algn="l">
                        <a:spcBef>
                          <a:spcPts val="0"/>
                        </a:spcBef>
                        <a:spcAft>
                          <a:spcPts val="0"/>
                        </a:spcAft>
                        <a:buNone/>
                      </a:pPr>
                      <a:r>
                        <a:rPr lang="en"/>
                        <a:t>Platykurtic</a:t>
                      </a:r>
                      <a:endParaRPr/>
                    </a:p>
                  </a:txBody>
                  <a:tcPr marT="91425" marB="91425" marR="91425" marL="91425"/>
                </a:tc>
                <a:tc>
                  <a:txBody>
                    <a:bodyPr/>
                    <a:lstStyle/>
                    <a:p>
                      <a:pPr indent="0" lvl="0" marL="0" rtl="0" algn="l">
                        <a:spcBef>
                          <a:spcPts val="0"/>
                        </a:spcBef>
                        <a:spcAft>
                          <a:spcPts val="0"/>
                        </a:spcAft>
                        <a:buNone/>
                      </a:pPr>
                      <a:r>
                        <a:rPr lang="en"/>
                        <a:t>Light</a:t>
                      </a:r>
                      <a:endParaRPr/>
                    </a:p>
                  </a:txBody>
                  <a:tcPr marT="91425" marB="91425" marR="91425" marL="91425"/>
                </a:tc>
                <a:tc>
                  <a:txBody>
                    <a:bodyPr/>
                    <a:lstStyle/>
                    <a:p>
                      <a:pPr indent="0" lvl="0" marL="0" rtl="0" algn="l">
                        <a:spcBef>
                          <a:spcPts val="0"/>
                        </a:spcBef>
                        <a:spcAft>
                          <a:spcPts val="0"/>
                        </a:spcAft>
                        <a:buNone/>
                      </a:pPr>
                      <a:r>
                        <a:rPr lang="en"/>
                        <a:t>Fewer extreme values than normal dist</a:t>
                      </a:r>
                      <a:endParaRPr/>
                    </a:p>
                  </a:txBody>
                  <a:tcPr marT="91425" marB="91425" marR="91425" marL="91425"/>
                </a:tc>
                <a:tc>
                  <a:txBody>
                    <a:bodyPr/>
                    <a:lstStyle/>
                    <a:p>
                      <a:pPr indent="0" lvl="0" marL="0" rtl="0" algn="l">
                        <a:spcBef>
                          <a:spcPts val="0"/>
                        </a:spcBef>
                        <a:spcAft>
                          <a:spcPts val="0"/>
                        </a:spcAft>
                        <a:buNone/>
                      </a:pPr>
                      <a:r>
                        <a:rPr lang="en"/>
                        <a:t>&lt;3</a:t>
                      </a:r>
                      <a:endParaRPr/>
                    </a:p>
                  </a:txBody>
                  <a:tcPr marT="91425" marB="91425" marR="91425" marL="91425"/>
                </a:tc>
              </a:tr>
              <a:tr h="381000">
                <a:tc>
                  <a:txBody>
                    <a:bodyPr/>
                    <a:lstStyle/>
                    <a:p>
                      <a:pPr indent="0" lvl="0" marL="0" rtl="0" algn="l">
                        <a:spcBef>
                          <a:spcPts val="0"/>
                        </a:spcBef>
                        <a:spcAft>
                          <a:spcPts val="0"/>
                        </a:spcAft>
                        <a:buNone/>
                      </a:pPr>
                      <a:r>
                        <a:rPr lang="en"/>
                        <a:t>Mesokurtic</a:t>
                      </a:r>
                      <a:endParaRPr/>
                    </a:p>
                  </a:txBody>
                  <a:tcPr marT="91425" marB="91425" marR="91425" marL="91425"/>
                </a:tc>
                <a:tc>
                  <a:txBody>
                    <a:bodyPr/>
                    <a:lstStyle/>
                    <a:p>
                      <a:pPr indent="0" lvl="0" marL="0" rtl="0" algn="l">
                        <a:spcBef>
                          <a:spcPts val="0"/>
                        </a:spcBef>
                        <a:spcAft>
                          <a:spcPts val="0"/>
                        </a:spcAft>
                        <a:buNone/>
                      </a:pPr>
                      <a:r>
                        <a:rPr lang="en"/>
                        <a:t>Normal-like</a:t>
                      </a:r>
                      <a:endParaRPr/>
                    </a:p>
                  </a:txBody>
                  <a:tcPr marT="91425" marB="91425" marR="91425" marL="91425"/>
                </a:tc>
                <a:tc>
                  <a:txBody>
                    <a:bodyPr/>
                    <a:lstStyle/>
                    <a:p>
                      <a:pPr indent="0" lvl="0" marL="0" rtl="0" algn="l">
                        <a:spcBef>
                          <a:spcPts val="0"/>
                        </a:spcBef>
                        <a:spcAft>
                          <a:spcPts val="0"/>
                        </a:spcAft>
                        <a:buNone/>
                      </a:pPr>
                      <a:r>
                        <a:rPr lang="en"/>
                        <a:t>Similar to normal dist</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r>
              <a:tr h="381000">
                <a:tc>
                  <a:txBody>
                    <a:bodyPr/>
                    <a:lstStyle/>
                    <a:p>
                      <a:pPr indent="0" lvl="0" marL="0" rtl="0" algn="l">
                        <a:spcBef>
                          <a:spcPts val="0"/>
                        </a:spcBef>
                        <a:spcAft>
                          <a:spcPts val="0"/>
                        </a:spcAft>
                        <a:buNone/>
                      </a:pPr>
                      <a:r>
                        <a:rPr lang="en"/>
                        <a:t>Leptokurtic</a:t>
                      </a:r>
                      <a:endParaRPr/>
                    </a:p>
                  </a:txBody>
                  <a:tcPr marT="91425" marB="91425" marR="91425" marL="91425"/>
                </a:tc>
                <a:tc>
                  <a:txBody>
                    <a:bodyPr/>
                    <a:lstStyle/>
                    <a:p>
                      <a:pPr indent="0" lvl="0" marL="0" rtl="0" algn="l">
                        <a:spcBef>
                          <a:spcPts val="0"/>
                        </a:spcBef>
                        <a:spcAft>
                          <a:spcPts val="0"/>
                        </a:spcAft>
                        <a:buNone/>
                      </a:pPr>
                      <a:r>
                        <a:rPr lang="en"/>
                        <a:t>Heavy </a:t>
                      </a:r>
                      <a:endParaRPr/>
                    </a:p>
                  </a:txBody>
                  <a:tcPr marT="91425" marB="91425" marR="91425" marL="91425"/>
                </a:tc>
                <a:tc>
                  <a:txBody>
                    <a:bodyPr/>
                    <a:lstStyle/>
                    <a:p>
                      <a:pPr indent="0" lvl="0" marL="0" rtl="0" algn="l">
                        <a:spcBef>
                          <a:spcPts val="0"/>
                        </a:spcBef>
                        <a:spcAft>
                          <a:spcPts val="0"/>
                        </a:spcAft>
                        <a:buNone/>
                      </a:pPr>
                      <a:r>
                        <a:rPr lang="en"/>
                        <a:t>More extreme values than normal dist</a:t>
                      </a:r>
                      <a:endParaRPr/>
                    </a:p>
                  </a:txBody>
                  <a:tcPr marT="91425" marB="91425" marR="91425" marL="91425"/>
                </a:tc>
                <a:tc>
                  <a:txBody>
                    <a:bodyPr/>
                    <a:lstStyle/>
                    <a:p>
                      <a:pPr indent="0" lvl="0" marL="0" rtl="0" algn="l">
                        <a:spcBef>
                          <a:spcPts val="0"/>
                        </a:spcBef>
                        <a:spcAft>
                          <a:spcPts val="0"/>
                        </a:spcAft>
                        <a:buNone/>
                      </a:pPr>
                      <a:r>
                        <a:rPr lang="en"/>
                        <a:t>&gt;3</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50"/>
          <p:cNvPicPr preferRelativeResize="0"/>
          <p:nvPr/>
        </p:nvPicPr>
        <p:blipFill>
          <a:blip r:embed="rId3">
            <a:alphaModFix/>
          </a:blip>
          <a:stretch>
            <a:fillRect/>
          </a:stretch>
        </p:blipFill>
        <p:spPr>
          <a:xfrm>
            <a:off x="1256561" y="0"/>
            <a:ext cx="6630877" cy="5143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Uses of Kurtosis</a:t>
            </a:r>
            <a:endParaRPr/>
          </a:p>
        </p:txBody>
      </p:sp>
      <p:sp>
        <p:nvSpPr>
          <p:cNvPr id="308" name="Google Shape;308;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lang="en"/>
              <a:t>Detecting outliers: High kurtosis suggests extreme outliers are more likely (fatter tails)</a:t>
            </a:r>
            <a:endParaRPr/>
          </a:p>
          <a:p>
            <a:pPr indent="-342900" lvl="0" marL="457200" rtl="0" algn="l">
              <a:spcBef>
                <a:spcPts val="0"/>
              </a:spcBef>
              <a:spcAft>
                <a:spcPts val="0"/>
              </a:spcAft>
              <a:buSzPts val="1800"/>
              <a:buAutoNum type="arabicParenR"/>
            </a:pPr>
            <a:r>
              <a:rPr lang="en"/>
              <a:t>Risk: High kurtosis suggests extreme events are more likely</a:t>
            </a:r>
            <a:endParaRPr/>
          </a:p>
          <a:p>
            <a:pPr indent="-342900" lvl="0" marL="457200" rtl="0" algn="l">
              <a:spcBef>
                <a:spcPts val="0"/>
              </a:spcBef>
              <a:spcAft>
                <a:spcPts val="0"/>
              </a:spcAft>
              <a:buSzPts val="1800"/>
              <a:buAutoNum type="arabicParenR"/>
            </a:pPr>
            <a:r>
              <a:rPr lang="en"/>
              <a:t>Comparing distributions - relative to normal distribution</a:t>
            </a:r>
            <a:endParaRPr/>
          </a:p>
          <a:p>
            <a:pPr indent="-342900" lvl="0" marL="457200" rtl="0" algn="l">
              <a:spcBef>
                <a:spcPts val="0"/>
              </a:spcBef>
              <a:spcAft>
                <a:spcPts val="0"/>
              </a:spcAft>
              <a:buSzPts val="1800"/>
              <a:buAutoNum type="arabicParenR"/>
            </a:pPr>
            <a:r>
              <a:rPr lang="en"/>
              <a:t>Checking certain statistical / distributional assumptions*</a:t>
            </a:r>
            <a:endParaRPr/>
          </a:p>
          <a:p>
            <a:pPr indent="0" lvl="0" marL="0" rtl="0" algn="l">
              <a:spcBef>
                <a:spcPts val="1200"/>
              </a:spcBef>
              <a:spcAft>
                <a:spcPts val="0"/>
              </a:spcAft>
              <a:buNone/>
            </a:pPr>
            <a:r>
              <a:rPr lang="en"/>
              <a:t>Kurtosis &gt; 3 suggests </a:t>
            </a:r>
            <a:r>
              <a:rPr lang="en"/>
              <a:t>heavier tails, a sharper peak, and potential for outliers</a:t>
            </a:r>
            <a:endParaRPr/>
          </a:p>
          <a:p>
            <a:pPr indent="0" lvl="0" marL="0" rtl="0" algn="l">
              <a:spcBef>
                <a:spcPts val="1200"/>
              </a:spcBef>
              <a:spcAft>
                <a:spcPts val="0"/>
              </a:spcAft>
              <a:buNone/>
            </a:pPr>
            <a:r>
              <a:rPr lang="en"/>
              <a:t>Kurtosis &lt; 3 suggest lighter tails, a flatter peak, and less potential for outliers</a:t>
            </a:r>
            <a:endParaRPr/>
          </a:p>
          <a:p>
            <a:pPr indent="0" lvl="0" marL="0" rtl="0" algn="l">
              <a:spcBef>
                <a:spcPts val="1200"/>
              </a:spcBef>
              <a:spcAft>
                <a:spcPts val="1200"/>
              </a:spcAft>
              <a:buNone/>
            </a:pPr>
            <a:r>
              <a:rPr lang="en"/>
              <a:t>Kurtosis = 3 suggests distribution similar to normal distribution</a:t>
            </a:r>
            <a:endParaRPr/>
          </a:p>
        </p:txBody>
      </p:sp>
      <p:pic>
        <p:nvPicPr>
          <p:cNvPr id="309" name="Google Shape;309;p51"/>
          <p:cNvPicPr preferRelativeResize="0"/>
          <p:nvPr/>
        </p:nvPicPr>
        <p:blipFill>
          <a:blip r:embed="rId3">
            <a:alphaModFix/>
          </a:blip>
          <a:stretch>
            <a:fillRect/>
          </a:stretch>
        </p:blipFill>
        <p:spPr>
          <a:xfrm>
            <a:off x="6281376" y="265925"/>
            <a:ext cx="2389850" cy="8224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Association</a:t>
            </a:r>
            <a:endParaRPr/>
          </a:p>
        </p:txBody>
      </p:sp>
      <p:sp>
        <p:nvSpPr>
          <p:cNvPr id="315" name="Google Shape;315;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Measures of Association tell us how two (or more) variables relate to one another.  We’ll cover:</a:t>
            </a:r>
            <a:endParaRPr/>
          </a:p>
          <a:p>
            <a:pPr indent="-342900" lvl="0" marL="457200" rtl="0" algn="l">
              <a:spcBef>
                <a:spcPts val="1200"/>
              </a:spcBef>
              <a:spcAft>
                <a:spcPts val="0"/>
              </a:spcAft>
              <a:buSzPts val="1800"/>
              <a:buAutoNum type="arabicParenR"/>
            </a:pPr>
            <a:r>
              <a:rPr lang="en"/>
              <a:t>Covariance</a:t>
            </a:r>
            <a:endParaRPr/>
          </a:p>
          <a:p>
            <a:pPr indent="-342900" lvl="0" marL="457200" rtl="0" algn="l">
              <a:spcBef>
                <a:spcPts val="0"/>
              </a:spcBef>
              <a:spcAft>
                <a:spcPts val="0"/>
              </a:spcAft>
              <a:buSzPts val="1800"/>
              <a:buAutoNum type="arabicParenR"/>
            </a:pPr>
            <a:r>
              <a:rPr lang="en"/>
              <a:t>Correlation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3"/>
          <p:cNvSpPr txBox="1"/>
          <p:nvPr>
            <p:ph type="title"/>
          </p:nvPr>
        </p:nvSpPr>
        <p:spPr>
          <a:xfrm>
            <a:off x="311700" y="22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Association: </a:t>
            </a:r>
            <a:r>
              <a:rPr lang="en"/>
              <a:t>Covariance</a:t>
            </a:r>
            <a:endParaRPr/>
          </a:p>
        </p:txBody>
      </p:sp>
      <p:sp>
        <p:nvSpPr>
          <p:cNvPr id="321" name="Google Shape;321;p53"/>
          <p:cNvSpPr txBox="1"/>
          <p:nvPr>
            <p:ph idx="1" type="body"/>
          </p:nvPr>
        </p:nvSpPr>
        <p:spPr>
          <a:xfrm>
            <a:off x="311700" y="863550"/>
            <a:ext cx="33975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Steps:</a:t>
            </a:r>
            <a:endParaRPr/>
          </a:p>
          <a:p>
            <a:pPr indent="-342900" lvl="0" marL="457200" rtl="0" algn="l">
              <a:spcBef>
                <a:spcPts val="1200"/>
              </a:spcBef>
              <a:spcAft>
                <a:spcPts val="0"/>
              </a:spcAft>
              <a:buSzPts val="1800"/>
              <a:buAutoNum type="arabicParenR"/>
            </a:pPr>
            <a:r>
              <a:rPr lang="en"/>
              <a:t>Calculate means of x and y</a:t>
            </a:r>
            <a:endParaRPr/>
          </a:p>
          <a:p>
            <a:pPr indent="-342900" lvl="0" marL="457200" rtl="0" algn="l">
              <a:spcBef>
                <a:spcPts val="0"/>
              </a:spcBef>
              <a:spcAft>
                <a:spcPts val="0"/>
              </a:spcAft>
              <a:buSzPts val="1800"/>
              <a:buAutoNum type="arabicParenR"/>
            </a:pPr>
            <a:r>
              <a:rPr lang="en"/>
              <a:t>Subtract the mean of each variable from each observation</a:t>
            </a:r>
            <a:endParaRPr/>
          </a:p>
          <a:p>
            <a:pPr indent="-342900" lvl="0" marL="457200" rtl="0" algn="l">
              <a:spcBef>
                <a:spcPts val="0"/>
              </a:spcBef>
              <a:spcAft>
                <a:spcPts val="0"/>
              </a:spcAft>
              <a:buSzPts val="1800"/>
              <a:buAutoNum type="arabicParenR"/>
            </a:pPr>
            <a:r>
              <a:rPr lang="en"/>
              <a:t>Multiply each x-xbar by each y-ybar</a:t>
            </a:r>
            <a:endParaRPr/>
          </a:p>
          <a:p>
            <a:pPr indent="-342900" lvl="0" marL="457200" rtl="0" algn="l">
              <a:spcBef>
                <a:spcPts val="0"/>
              </a:spcBef>
              <a:spcAft>
                <a:spcPts val="0"/>
              </a:spcAft>
              <a:buSzPts val="1800"/>
              <a:buAutoNum type="arabicParenR"/>
            </a:pPr>
            <a:r>
              <a:rPr lang="en"/>
              <a:t>Sum the products </a:t>
            </a:r>
            <a:endParaRPr/>
          </a:p>
          <a:p>
            <a:pPr indent="-342900" lvl="0" marL="457200" rtl="0" algn="l">
              <a:spcBef>
                <a:spcPts val="0"/>
              </a:spcBef>
              <a:spcAft>
                <a:spcPts val="0"/>
              </a:spcAft>
              <a:buSzPts val="1800"/>
              <a:buAutoNum type="arabicParenR"/>
            </a:pPr>
            <a:r>
              <a:rPr lang="en"/>
              <a:t>Divide by the </a:t>
            </a:r>
            <a:r>
              <a:rPr b="1" lang="en"/>
              <a:t>number of observations</a:t>
            </a:r>
            <a:r>
              <a:rPr lang="en"/>
              <a:t> </a:t>
            </a:r>
            <a:r>
              <a:rPr b="1" lang="en"/>
              <a:t>if population</a:t>
            </a:r>
            <a:r>
              <a:rPr lang="en"/>
              <a:t>, or </a:t>
            </a:r>
            <a:r>
              <a:rPr b="1" lang="en"/>
              <a:t>n-1 if a sample</a:t>
            </a:r>
            <a:endParaRPr b="1"/>
          </a:p>
        </p:txBody>
      </p:sp>
      <p:pic>
        <p:nvPicPr>
          <p:cNvPr id="322" name="Google Shape;322;p53"/>
          <p:cNvPicPr preferRelativeResize="0"/>
          <p:nvPr/>
        </p:nvPicPr>
        <p:blipFill>
          <a:blip r:embed="rId3">
            <a:alphaModFix/>
          </a:blip>
          <a:stretch>
            <a:fillRect/>
          </a:stretch>
        </p:blipFill>
        <p:spPr>
          <a:xfrm>
            <a:off x="4739757" y="1926575"/>
            <a:ext cx="4041743" cy="1442100"/>
          </a:xfrm>
          <a:prstGeom prst="rect">
            <a:avLst/>
          </a:prstGeom>
          <a:noFill/>
          <a:ln>
            <a:noFill/>
          </a:ln>
        </p:spPr>
      </p:pic>
      <p:pic>
        <p:nvPicPr>
          <p:cNvPr id="323" name="Google Shape;323;p53"/>
          <p:cNvPicPr preferRelativeResize="0"/>
          <p:nvPr/>
        </p:nvPicPr>
        <p:blipFill>
          <a:blip r:embed="rId4">
            <a:alphaModFix/>
          </a:blip>
          <a:stretch>
            <a:fillRect/>
          </a:stretch>
        </p:blipFill>
        <p:spPr>
          <a:xfrm>
            <a:off x="4758925" y="649904"/>
            <a:ext cx="3578100" cy="1276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4"/>
          <p:cNvSpPr txBox="1"/>
          <p:nvPr>
            <p:ph type="title"/>
          </p:nvPr>
        </p:nvSpPr>
        <p:spPr>
          <a:xfrm>
            <a:off x="311700" y="272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Covariance </a:t>
            </a:r>
            <a:endParaRPr/>
          </a:p>
        </p:txBody>
      </p:sp>
      <p:sp>
        <p:nvSpPr>
          <p:cNvPr id="329" name="Google Shape;329;p54"/>
          <p:cNvSpPr txBox="1"/>
          <p:nvPr>
            <p:ph idx="1" type="body"/>
          </p:nvPr>
        </p:nvSpPr>
        <p:spPr>
          <a:xfrm>
            <a:off x="311700" y="1152475"/>
            <a:ext cx="35127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Units don’t make sense intuitively</a:t>
            </a:r>
            <a:endParaRPr/>
          </a:p>
          <a:p>
            <a:pPr indent="0" lvl="0" marL="0" rtl="0" algn="l">
              <a:spcBef>
                <a:spcPts val="1200"/>
              </a:spcBef>
              <a:spcAft>
                <a:spcPts val="0"/>
              </a:spcAft>
              <a:buNone/>
            </a:pPr>
            <a:r>
              <a:rPr lang="en"/>
              <a:t>Both income and education information combined into a single variable?</a:t>
            </a:r>
            <a:endParaRPr/>
          </a:p>
          <a:p>
            <a:pPr indent="0" lvl="0" marL="0" rtl="0" algn="l">
              <a:spcBef>
                <a:spcPts val="1200"/>
              </a:spcBef>
              <a:spcAft>
                <a:spcPts val="0"/>
              </a:spcAft>
              <a:buNone/>
            </a:pPr>
            <a:r>
              <a:rPr lang="en"/>
              <a:t>Is a covariance of -4,676 a lot?  Who knows?!</a:t>
            </a:r>
            <a:endParaRPr/>
          </a:p>
          <a:p>
            <a:pPr indent="0" lvl="0" marL="0" rtl="0" algn="l">
              <a:spcBef>
                <a:spcPts val="1200"/>
              </a:spcBef>
              <a:spcAft>
                <a:spcPts val="0"/>
              </a:spcAft>
              <a:buNone/>
            </a:pPr>
            <a:r>
              <a:rPr lang="en"/>
              <a:t>Positive means as one variable increases, the other usually does too</a:t>
            </a:r>
            <a:endParaRPr/>
          </a:p>
          <a:p>
            <a:pPr indent="0" lvl="0" marL="0" rtl="0" algn="l">
              <a:spcBef>
                <a:spcPts val="1200"/>
              </a:spcBef>
              <a:spcAft>
                <a:spcPts val="0"/>
              </a:spcAft>
              <a:buNone/>
            </a:pPr>
            <a:r>
              <a:rPr lang="en"/>
              <a:t>Negative means as one variable increases, the other usually falls</a:t>
            </a:r>
            <a:endParaRPr/>
          </a:p>
          <a:p>
            <a:pPr indent="0" lvl="0" marL="0" rtl="0" algn="l">
              <a:spcBef>
                <a:spcPts val="1200"/>
              </a:spcBef>
              <a:spcAft>
                <a:spcPts val="0"/>
              </a:spcAft>
              <a:buNone/>
            </a:pPr>
            <a:r>
              <a:rPr lang="en"/>
              <a:t>Zero means there is no </a:t>
            </a:r>
            <a:r>
              <a:rPr i="1" lang="en"/>
              <a:t>linear</a:t>
            </a:r>
            <a:r>
              <a:rPr lang="en"/>
              <a:t> relationship between the variables</a:t>
            </a:r>
            <a:endParaRPr/>
          </a:p>
          <a:p>
            <a:pPr indent="0" lvl="0" marL="0" rtl="0" algn="l">
              <a:spcBef>
                <a:spcPts val="1200"/>
              </a:spcBef>
              <a:spcAft>
                <a:spcPts val="1200"/>
              </a:spcAft>
              <a:buNone/>
            </a:pPr>
            <a:r>
              <a:rPr lang="en"/>
              <a:t>Correlation is more useful</a:t>
            </a:r>
            <a:endParaRPr/>
          </a:p>
        </p:txBody>
      </p:sp>
      <p:pic>
        <p:nvPicPr>
          <p:cNvPr id="330" name="Google Shape;330;p54"/>
          <p:cNvPicPr preferRelativeResize="0"/>
          <p:nvPr/>
        </p:nvPicPr>
        <p:blipFill>
          <a:blip r:embed="rId3">
            <a:alphaModFix/>
          </a:blip>
          <a:stretch>
            <a:fillRect/>
          </a:stretch>
        </p:blipFill>
        <p:spPr>
          <a:xfrm>
            <a:off x="5407525" y="86275"/>
            <a:ext cx="3512701" cy="2893505"/>
          </a:xfrm>
          <a:prstGeom prst="rect">
            <a:avLst/>
          </a:prstGeom>
          <a:noFill/>
          <a:ln>
            <a:noFill/>
          </a:ln>
        </p:spPr>
      </p:pic>
      <p:pic>
        <p:nvPicPr>
          <p:cNvPr id="331" name="Google Shape;331;p54"/>
          <p:cNvPicPr preferRelativeResize="0"/>
          <p:nvPr/>
        </p:nvPicPr>
        <p:blipFill>
          <a:blip r:embed="rId4">
            <a:alphaModFix/>
          </a:blip>
          <a:stretch>
            <a:fillRect/>
          </a:stretch>
        </p:blipFill>
        <p:spPr>
          <a:xfrm>
            <a:off x="5620413" y="3080400"/>
            <a:ext cx="3211875" cy="192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Measures of Association: </a:t>
            </a:r>
            <a:r>
              <a:rPr lang="en"/>
              <a:t>Correlation</a:t>
            </a:r>
            <a:endParaRPr/>
          </a:p>
        </p:txBody>
      </p:sp>
      <p:sp>
        <p:nvSpPr>
          <p:cNvPr id="337" name="Google Shape;337;p55"/>
          <p:cNvSpPr txBox="1"/>
          <p:nvPr>
            <p:ph idx="1" type="body"/>
          </p:nvPr>
        </p:nvSpPr>
        <p:spPr>
          <a:xfrm>
            <a:off x="311700" y="1152475"/>
            <a:ext cx="507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Unit free means it is not measured in terms of something else</a:t>
            </a:r>
            <a:endParaRPr/>
          </a:p>
          <a:p>
            <a:pPr indent="0" lvl="0" marL="0" rtl="0" algn="l">
              <a:spcBef>
                <a:spcPts val="1200"/>
              </a:spcBef>
              <a:spcAft>
                <a:spcPts val="0"/>
              </a:spcAft>
              <a:buClr>
                <a:schemeClr val="dk1"/>
              </a:buClr>
              <a:buSzPts val="1100"/>
              <a:buFont typeface="Arial"/>
              <a:buNone/>
            </a:pPr>
            <a:r>
              <a:rPr lang="en"/>
              <a:t>Can be compared between samples and variables</a:t>
            </a:r>
            <a:endParaRPr/>
          </a:p>
          <a:p>
            <a:pPr indent="0" lvl="0" marL="0" rtl="0" algn="l">
              <a:spcBef>
                <a:spcPts val="1200"/>
              </a:spcBef>
              <a:spcAft>
                <a:spcPts val="0"/>
              </a:spcAft>
              <a:buClr>
                <a:schemeClr val="dk1"/>
              </a:buClr>
              <a:buSzPts val="1100"/>
              <a:buFont typeface="Arial"/>
              <a:buNone/>
            </a:pPr>
            <a:r>
              <a:rPr lang="en"/>
              <a:t>Ranges between -1 to 1</a:t>
            </a:r>
            <a:endParaRPr/>
          </a:p>
          <a:p>
            <a:pPr indent="0" lvl="0" marL="0" rtl="0" algn="l">
              <a:spcBef>
                <a:spcPts val="1200"/>
              </a:spcBef>
              <a:spcAft>
                <a:spcPts val="1200"/>
              </a:spcAft>
              <a:buClr>
                <a:schemeClr val="dk1"/>
              </a:buClr>
              <a:buSzPts val="1100"/>
              <a:buFont typeface="Arial"/>
              <a:buNone/>
            </a:pPr>
            <a:r>
              <a:rPr lang="en"/>
              <a:t>0 means no linear correlation, 1 means perfect positive linear correlation, -1 means perfect negative linear correlation</a:t>
            </a:r>
            <a:endParaRPr/>
          </a:p>
        </p:txBody>
      </p:sp>
      <p:pic>
        <p:nvPicPr>
          <p:cNvPr id="338" name="Google Shape;338;p55"/>
          <p:cNvPicPr preferRelativeResize="0"/>
          <p:nvPr/>
        </p:nvPicPr>
        <p:blipFill>
          <a:blip r:embed="rId3">
            <a:alphaModFix/>
          </a:blip>
          <a:stretch>
            <a:fillRect/>
          </a:stretch>
        </p:blipFill>
        <p:spPr>
          <a:xfrm>
            <a:off x="6174575" y="2252650"/>
            <a:ext cx="2401412" cy="881846"/>
          </a:xfrm>
          <a:prstGeom prst="rect">
            <a:avLst/>
          </a:prstGeom>
          <a:noFill/>
          <a:ln>
            <a:noFill/>
          </a:ln>
        </p:spPr>
      </p:pic>
      <p:pic>
        <p:nvPicPr>
          <p:cNvPr id="339" name="Google Shape;339;p55"/>
          <p:cNvPicPr preferRelativeResize="0"/>
          <p:nvPr/>
        </p:nvPicPr>
        <p:blipFill>
          <a:blip r:embed="rId4">
            <a:alphaModFix/>
          </a:blip>
          <a:stretch>
            <a:fillRect/>
          </a:stretch>
        </p:blipFill>
        <p:spPr>
          <a:xfrm>
            <a:off x="5875263" y="1152466"/>
            <a:ext cx="2401412" cy="881846"/>
          </a:xfrm>
          <a:prstGeom prst="rect">
            <a:avLst/>
          </a:prstGeom>
          <a:noFill/>
          <a:ln>
            <a:noFill/>
          </a:ln>
        </p:spPr>
      </p:pic>
      <p:sp>
        <p:nvSpPr>
          <p:cNvPr id="340" name="Google Shape;340;p55"/>
          <p:cNvSpPr txBox="1"/>
          <p:nvPr/>
        </p:nvSpPr>
        <p:spPr>
          <a:xfrm>
            <a:off x="5875275" y="3722350"/>
            <a:ext cx="30000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2"/>
                </a:solidFill>
                <a:latin typeface="Proxima Nova"/>
                <a:ea typeface="Proxima Nova"/>
                <a:cs typeface="Proxima Nova"/>
                <a:sym typeface="Proxima Nova"/>
              </a:rPr>
              <a:t>S</a:t>
            </a:r>
            <a:r>
              <a:rPr baseline="-25000" lang="en">
                <a:solidFill>
                  <a:schemeClr val="dk2"/>
                </a:solidFill>
                <a:latin typeface="Proxima Nova"/>
                <a:ea typeface="Proxima Nova"/>
                <a:cs typeface="Proxima Nova"/>
                <a:sym typeface="Proxima Nova"/>
              </a:rPr>
              <a:t>x</a:t>
            </a:r>
            <a:r>
              <a:rPr lang="en">
                <a:solidFill>
                  <a:schemeClr val="dk2"/>
                </a:solidFill>
                <a:latin typeface="Proxima Nova"/>
                <a:ea typeface="Proxima Nova"/>
                <a:cs typeface="Proxima Nova"/>
                <a:sym typeface="Proxima Nova"/>
              </a:rPr>
              <a:t> is standard deviation of x, </a:t>
            </a:r>
            <a:endParaRPr>
              <a:solidFill>
                <a:schemeClr val="dk2"/>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
                <a:solidFill>
                  <a:schemeClr val="dk2"/>
                </a:solidFill>
                <a:latin typeface="Proxima Nova"/>
                <a:ea typeface="Proxima Nova"/>
                <a:cs typeface="Proxima Nova"/>
                <a:sym typeface="Proxima Nova"/>
              </a:rPr>
              <a:t>S</a:t>
            </a:r>
            <a:r>
              <a:rPr baseline="-25000" lang="en">
                <a:solidFill>
                  <a:schemeClr val="dk2"/>
                </a:solidFill>
                <a:latin typeface="Proxima Nova"/>
                <a:ea typeface="Proxima Nova"/>
                <a:cs typeface="Proxima Nova"/>
                <a:sym typeface="Proxima Nova"/>
              </a:rPr>
              <a:t>y </a:t>
            </a:r>
            <a:r>
              <a:rPr lang="en">
                <a:solidFill>
                  <a:schemeClr val="dk2"/>
                </a:solidFill>
                <a:latin typeface="Proxima Nova"/>
                <a:ea typeface="Proxima Nova"/>
                <a:cs typeface="Proxima Nova"/>
                <a:sym typeface="Proxima Nova"/>
              </a:rPr>
              <a:t>is the standard deviation of y </a:t>
            </a:r>
            <a:endParaRPr>
              <a:solidFill>
                <a:schemeClr val="dk2"/>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
                <a:solidFill>
                  <a:schemeClr val="dk2"/>
                </a:solidFill>
                <a:latin typeface="Proxima Nova"/>
                <a:ea typeface="Proxima Nova"/>
                <a:cs typeface="Proxima Nova"/>
                <a:sym typeface="Proxima Nova"/>
              </a:rPr>
              <a:t>s</a:t>
            </a:r>
            <a:r>
              <a:rPr baseline="-25000" lang="en">
                <a:solidFill>
                  <a:schemeClr val="dk2"/>
                </a:solidFill>
                <a:latin typeface="Proxima Nova"/>
                <a:ea typeface="Proxima Nova"/>
                <a:cs typeface="Proxima Nova"/>
                <a:sym typeface="Proxima Nova"/>
              </a:rPr>
              <a:t>xy</a:t>
            </a:r>
            <a:r>
              <a:rPr lang="en">
                <a:solidFill>
                  <a:schemeClr val="dk2"/>
                </a:solidFill>
                <a:latin typeface="Proxima Nova"/>
                <a:ea typeface="Proxima Nova"/>
                <a:cs typeface="Proxima Nova"/>
                <a:sym typeface="Proxima Nova"/>
              </a:rPr>
              <a:t> is the sample covariance</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6"/>
          <p:cNvSpPr txBox="1"/>
          <p:nvPr>
            <p:ph type="title"/>
          </p:nvPr>
        </p:nvSpPr>
        <p:spPr>
          <a:xfrm>
            <a:off x="311688" y="243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Coefficient</a:t>
            </a:r>
            <a:endParaRPr/>
          </a:p>
        </p:txBody>
      </p:sp>
      <p:sp>
        <p:nvSpPr>
          <p:cNvPr id="346" name="Google Shape;346;p56"/>
          <p:cNvSpPr txBox="1"/>
          <p:nvPr>
            <p:ph idx="1" type="body"/>
          </p:nvPr>
        </p:nvSpPr>
        <p:spPr>
          <a:xfrm>
            <a:off x="311700" y="951200"/>
            <a:ext cx="689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t>Covariance(x,y) / [Stdev(x) * Stdev(y)]</a:t>
            </a:r>
            <a:endParaRPr sz="1500"/>
          </a:p>
          <a:p>
            <a:pPr indent="0" lvl="0" marL="0" rtl="0" algn="l">
              <a:spcBef>
                <a:spcPts val="1200"/>
              </a:spcBef>
              <a:spcAft>
                <a:spcPts val="0"/>
              </a:spcAft>
              <a:buClr>
                <a:schemeClr val="dk1"/>
              </a:buClr>
              <a:buSzPts val="1100"/>
              <a:buFont typeface="Arial"/>
              <a:buNone/>
            </a:pPr>
            <a:r>
              <a:rPr lang="en" sz="1500"/>
              <a:t>Ranges between -1 to 1</a:t>
            </a:r>
            <a:endParaRPr sz="1500"/>
          </a:p>
          <a:p>
            <a:pPr indent="0" lvl="0" marL="0" rtl="0" algn="l">
              <a:spcBef>
                <a:spcPts val="1200"/>
              </a:spcBef>
              <a:spcAft>
                <a:spcPts val="0"/>
              </a:spcAft>
              <a:buNone/>
            </a:pPr>
            <a:r>
              <a:rPr lang="en" sz="1500"/>
              <a:t>0 = No linear correlation</a:t>
            </a:r>
            <a:endParaRPr sz="1500"/>
          </a:p>
          <a:p>
            <a:pPr indent="0" lvl="0" marL="0" rtl="0" algn="l">
              <a:spcBef>
                <a:spcPts val="1200"/>
              </a:spcBef>
              <a:spcAft>
                <a:spcPts val="0"/>
              </a:spcAft>
              <a:buNone/>
            </a:pPr>
            <a:r>
              <a:rPr lang="en" sz="1500"/>
              <a:t>-1 = Perfect negative linear correlation</a:t>
            </a:r>
            <a:endParaRPr sz="1500"/>
          </a:p>
          <a:p>
            <a:pPr indent="0" lvl="0" marL="0" rtl="0" algn="l">
              <a:spcBef>
                <a:spcPts val="1200"/>
              </a:spcBef>
              <a:spcAft>
                <a:spcPts val="0"/>
              </a:spcAft>
              <a:buNone/>
            </a:pPr>
            <a:r>
              <a:rPr lang="en" sz="1500"/>
              <a:t>+1 = Perfect positive linear correlation</a:t>
            </a:r>
            <a:endParaRPr sz="1500"/>
          </a:p>
          <a:p>
            <a:pPr indent="0" lvl="0" marL="0" rtl="0" algn="l">
              <a:spcBef>
                <a:spcPts val="1200"/>
              </a:spcBef>
              <a:spcAft>
                <a:spcPts val="0"/>
              </a:spcAft>
              <a:buNone/>
            </a:pPr>
            <a:r>
              <a:rPr lang="en" sz="1500"/>
              <a:t>Can be compared between samples and variables</a:t>
            </a:r>
            <a:endParaRPr sz="1500"/>
          </a:p>
          <a:p>
            <a:pPr indent="0" lvl="0" marL="0" rtl="0" algn="l">
              <a:spcBef>
                <a:spcPts val="1200"/>
              </a:spcBef>
              <a:spcAft>
                <a:spcPts val="1200"/>
              </a:spcAft>
              <a:buNone/>
            </a:pPr>
            <a:r>
              <a:t/>
            </a:r>
            <a:endParaRPr/>
          </a:p>
        </p:txBody>
      </p:sp>
      <p:pic>
        <p:nvPicPr>
          <p:cNvPr id="347" name="Google Shape;347;p56"/>
          <p:cNvPicPr preferRelativeResize="0"/>
          <p:nvPr/>
        </p:nvPicPr>
        <p:blipFill rotWithShape="1">
          <a:blip r:embed="rId3">
            <a:alphaModFix/>
          </a:blip>
          <a:srcRect b="-13228" l="-947" r="-876" t="-30554"/>
          <a:stretch/>
        </p:blipFill>
        <p:spPr>
          <a:xfrm>
            <a:off x="671463" y="2940225"/>
            <a:ext cx="7801075" cy="2203275"/>
          </a:xfrm>
          <a:prstGeom prst="rect">
            <a:avLst/>
          </a:prstGeom>
          <a:noFill/>
          <a:ln>
            <a:noFill/>
          </a:ln>
        </p:spPr>
      </p:pic>
      <p:pic>
        <p:nvPicPr>
          <p:cNvPr id="348" name="Google Shape;348;p56"/>
          <p:cNvPicPr preferRelativeResize="0"/>
          <p:nvPr/>
        </p:nvPicPr>
        <p:blipFill>
          <a:blip r:embed="rId4">
            <a:alphaModFix/>
          </a:blip>
          <a:stretch>
            <a:fillRect/>
          </a:stretch>
        </p:blipFill>
        <p:spPr>
          <a:xfrm>
            <a:off x="5832555" y="951195"/>
            <a:ext cx="2525370" cy="882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1000"/>
                                        <p:tgtEl>
                                          <p:spTgt spid="3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animEffect filter="fade" transition="in">
                                      <p:cBhvr>
                                        <p:cTn dur="1000"/>
                                        <p:tgtEl>
                                          <p:spTgt spid="3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animEffect filter="fade" transition="in">
                                      <p:cBhvr>
                                        <p:cTn dur="1000"/>
                                        <p:tgtEl>
                                          <p:spTgt spid="3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animEffect filter="fade" transition="in">
                                      <p:cBhvr>
                                        <p:cTn dur="1000"/>
                                        <p:tgtEl>
                                          <p:spTgt spid="3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animEffect filter="fade" transition="in">
                                      <p:cBhvr>
                                        <p:cTn dur="1000"/>
                                        <p:tgtEl>
                                          <p:spTgt spid="3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animEffect filter="fade" transition="in">
                                      <p:cBhvr>
                                        <p:cTn dur="1000"/>
                                        <p:tgtEl>
                                          <p:spTgt spid="3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6" st="6"/>
                                            </p:txEl>
                                          </p:spTgt>
                                        </p:tgtEl>
                                        <p:attrNameLst>
                                          <p:attrName>style.visibility</p:attrName>
                                        </p:attrNameLst>
                                      </p:cBhvr>
                                      <p:to>
                                        <p:strVal val="visible"/>
                                      </p:to>
                                    </p:set>
                                    <p:animEffect filter="fade" transition="in">
                                      <p:cBhvr>
                                        <p:cTn dur="1000"/>
                                        <p:tgtEl>
                                          <p:spTgt spid="34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a:t>
            </a:r>
            <a:r>
              <a:rPr lang="en"/>
              <a:t>Coefficient)</a:t>
            </a:r>
            <a:r>
              <a:rPr lang="en"/>
              <a:t>^2 = </a:t>
            </a:r>
            <a:r>
              <a:rPr lang="en"/>
              <a:t>Coefficient</a:t>
            </a:r>
            <a:r>
              <a:rPr lang="en"/>
              <a:t> of Determination</a:t>
            </a:r>
            <a:endParaRPr/>
          </a:p>
        </p:txBody>
      </p:sp>
      <p:sp>
        <p:nvSpPr>
          <p:cNvPr id="354" name="Google Shape;354;p57"/>
          <p:cNvSpPr txBox="1"/>
          <p:nvPr>
            <p:ph idx="1" type="body"/>
          </p:nvPr>
        </p:nvSpPr>
        <p:spPr>
          <a:xfrm>
            <a:off x="311700" y="1469575"/>
            <a:ext cx="8520600" cy="30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Coefficient</a:t>
            </a:r>
            <a:r>
              <a:rPr lang="en"/>
              <a:t> of determination: The percentage of the variance in one variable that is attributable / explainable in terms of the variable’s linear relationship with the other variable</a:t>
            </a:r>
            <a:endParaRPr/>
          </a:p>
          <a:p>
            <a:pPr indent="0" lvl="0" marL="0" rtl="0" algn="l">
              <a:spcBef>
                <a:spcPts val="1200"/>
              </a:spcBef>
              <a:spcAft>
                <a:spcPts val="0"/>
              </a:spcAft>
              <a:buNone/>
            </a:pPr>
            <a:r>
              <a:rPr lang="en"/>
              <a:t>If r = 0.5, r^2 = 0.25, meaning that 25% of the variance in Y can be explained by the variance in X</a:t>
            </a:r>
            <a:endParaRPr/>
          </a:p>
          <a:p>
            <a:pPr indent="0" lvl="0" marL="0" rtl="0" algn="l">
              <a:spcBef>
                <a:spcPts val="1200"/>
              </a:spcBef>
              <a:spcAft>
                <a:spcPts val="1200"/>
              </a:spcAft>
              <a:buNone/>
            </a:pPr>
            <a:r>
              <a:rPr lang="en"/>
              <a:t>Much more on R^2 later!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Scatter Plots</a:t>
            </a:r>
            <a:endParaRPr/>
          </a:p>
        </p:txBody>
      </p:sp>
      <p:pic>
        <p:nvPicPr>
          <p:cNvPr id="360" name="Google Shape;360;p58"/>
          <p:cNvPicPr preferRelativeResize="0"/>
          <p:nvPr/>
        </p:nvPicPr>
        <p:blipFill>
          <a:blip r:embed="rId3">
            <a:alphaModFix/>
          </a:blip>
          <a:stretch>
            <a:fillRect/>
          </a:stretch>
        </p:blipFill>
        <p:spPr>
          <a:xfrm>
            <a:off x="417488" y="1799457"/>
            <a:ext cx="8309024" cy="1981825"/>
          </a:xfrm>
          <a:prstGeom prst="rect">
            <a:avLst/>
          </a:prstGeom>
          <a:noFill/>
          <a:ln>
            <a:noFill/>
          </a:ln>
        </p:spPr>
      </p:pic>
      <p:sp>
        <p:nvSpPr>
          <p:cNvPr id="361" name="Google Shape;361;p58"/>
          <p:cNvSpPr txBox="1"/>
          <p:nvPr/>
        </p:nvSpPr>
        <p:spPr>
          <a:xfrm>
            <a:off x="1996250" y="4720875"/>
            <a:ext cx="606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Correlation coefficient cannot account for non-linear relationships</a:t>
            </a:r>
            <a:endParaRPr/>
          </a:p>
        </p:txBody>
      </p:sp>
      <p:cxnSp>
        <p:nvCxnSpPr>
          <p:cNvPr id="362" name="Google Shape;362;p58"/>
          <p:cNvCxnSpPr/>
          <p:nvPr/>
        </p:nvCxnSpPr>
        <p:spPr>
          <a:xfrm flipH="1" rot="10800000">
            <a:off x="6420375" y="3587775"/>
            <a:ext cx="575700" cy="113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68" name="Google Shape;36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9" name="Google Shape;369;p59"/>
          <p:cNvPicPr preferRelativeResize="0"/>
          <p:nvPr/>
        </p:nvPicPr>
        <p:blipFill>
          <a:blip r:embed="rId3">
            <a:alphaModFix/>
          </a:blip>
          <a:stretch>
            <a:fillRect/>
          </a:stretch>
        </p:blipFill>
        <p:spPr>
          <a:xfrm>
            <a:off x="0" y="530028"/>
            <a:ext cx="9143999" cy="408344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Covariance and Correlation in Excel</a:t>
            </a:r>
            <a:endParaRPr/>
          </a:p>
        </p:txBody>
      </p:sp>
      <p:sp>
        <p:nvSpPr>
          <p:cNvPr id="375" name="Google Shape;37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=covariance.s(x values, y values) for sample</a:t>
            </a:r>
            <a:endParaRPr/>
          </a:p>
          <a:p>
            <a:pPr indent="0" lvl="0" marL="0" rtl="0" algn="l">
              <a:spcBef>
                <a:spcPts val="1200"/>
              </a:spcBef>
              <a:spcAft>
                <a:spcPts val="0"/>
              </a:spcAft>
              <a:buNone/>
            </a:pPr>
            <a:r>
              <a:rPr lang="en"/>
              <a:t>=covariance.p(x values, y values) for population</a:t>
            </a:r>
            <a:endParaRPr/>
          </a:p>
          <a:p>
            <a:pPr indent="0" lvl="0" marL="0" rtl="0" algn="l">
              <a:spcBef>
                <a:spcPts val="1200"/>
              </a:spcBef>
              <a:spcAft>
                <a:spcPts val="0"/>
              </a:spcAft>
              <a:buNone/>
            </a:pPr>
            <a:r>
              <a:rPr lang="en"/>
              <a:t>= correl(x values, y values)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0" st="0"/>
                                            </p:txEl>
                                          </p:spTgt>
                                        </p:tgtEl>
                                        <p:attrNameLst>
                                          <p:attrName>style.visibility</p:attrName>
                                        </p:attrNameLst>
                                      </p:cBhvr>
                                      <p:to>
                                        <p:strVal val="visible"/>
                                      </p:to>
                                    </p:set>
                                    <p:animEffect filter="fade" transition="in">
                                      <p:cBhvr>
                                        <p:cTn dur="1000"/>
                                        <p:tgtEl>
                                          <p:spTgt spid="3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1" st="1"/>
                                            </p:txEl>
                                          </p:spTgt>
                                        </p:tgtEl>
                                        <p:attrNameLst>
                                          <p:attrName>style.visibility</p:attrName>
                                        </p:attrNameLst>
                                      </p:cBhvr>
                                      <p:to>
                                        <p:strVal val="visible"/>
                                      </p:to>
                                    </p:set>
                                    <p:animEffect filter="fade" transition="in">
                                      <p:cBhvr>
                                        <p:cTn dur="1000"/>
                                        <p:tgtEl>
                                          <p:spTgt spid="3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2" st="2"/>
                                            </p:txEl>
                                          </p:spTgt>
                                        </p:tgtEl>
                                        <p:attrNameLst>
                                          <p:attrName>style.visibility</p:attrName>
                                        </p:attrNameLst>
                                      </p:cBhvr>
                                      <p:to>
                                        <p:strVal val="visible"/>
                                      </p:to>
                                    </p:set>
                                    <p:animEffect filter="fade" transition="in">
                                      <p:cBhvr>
                                        <p:cTn dur="1000"/>
                                        <p:tgtEl>
                                          <p:spTgt spid="3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3" st="3"/>
                                            </p:txEl>
                                          </p:spTgt>
                                        </p:tgtEl>
                                        <p:attrNameLst>
                                          <p:attrName>style.visibility</p:attrName>
                                        </p:attrNameLst>
                                      </p:cBhvr>
                                      <p:to>
                                        <p:strVal val="visible"/>
                                      </p:to>
                                    </p:set>
                                    <p:animEffect filter="fade" transition="in">
                                      <p:cBhvr>
                                        <p:cTn dur="1000"/>
                                        <p:tgtEl>
                                          <p:spTgt spid="3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4" st="4"/>
                                            </p:txEl>
                                          </p:spTgt>
                                        </p:tgtEl>
                                        <p:attrNameLst>
                                          <p:attrName>style.visibility</p:attrName>
                                        </p:attrNameLst>
                                      </p:cBhvr>
                                      <p:to>
                                        <p:strVal val="visible"/>
                                      </p:to>
                                    </p:set>
                                    <p:animEffect filter="fade" transition="in">
                                      <p:cBhvr>
                                        <p:cTn dur="1000"/>
                                        <p:tgtEl>
                                          <p:spTgt spid="37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Graphing Two Variables At Once</a:t>
            </a:r>
            <a:endParaRPr/>
          </a:p>
        </p:txBody>
      </p:sp>
      <p:sp>
        <p:nvSpPr>
          <p:cNvPr id="381" name="Google Shape;381;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Scatter plot: Graph plotting each observation on 2D “Cartesian Plane” </a:t>
            </a:r>
            <a:endParaRPr/>
          </a:p>
        </p:txBody>
      </p:sp>
      <p:pic>
        <p:nvPicPr>
          <p:cNvPr id="382" name="Google Shape;382;p61"/>
          <p:cNvPicPr preferRelativeResize="0"/>
          <p:nvPr/>
        </p:nvPicPr>
        <p:blipFill>
          <a:blip r:embed="rId3">
            <a:alphaModFix/>
          </a:blip>
          <a:stretch>
            <a:fillRect/>
          </a:stretch>
        </p:blipFill>
        <p:spPr>
          <a:xfrm>
            <a:off x="1987700" y="1953697"/>
            <a:ext cx="4229375" cy="26151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Correlation =/= Causation</a:t>
            </a:r>
            <a:endParaRPr/>
          </a:p>
        </p:txBody>
      </p:sp>
      <p:sp>
        <p:nvSpPr>
          <p:cNvPr id="388" name="Google Shape;388;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Correlation does not equal causation</a:t>
            </a:r>
            <a:endParaRPr b="1"/>
          </a:p>
          <a:p>
            <a:pPr indent="0" lvl="0" marL="0" rtl="0" algn="l">
              <a:spcBef>
                <a:spcPts val="1200"/>
              </a:spcBef>
              <a:spcAft>
                <a:spcPts val="0"/>
              </a:spcAft>
              <a:buNone/>
            </a:pPr>
            <a:r>
              <a:rPr b="1" lang="en"/>
              <a:t>X could cause Y…Y could cause X…Z could cause X and Y…</a:t>
            </a:r>
            <a:endParaRPr b="1"/>
          </a:p>
          <a:p>
            <a:pPr indent="0" lvl="0" marL="0" rtl="0" algn="l">
              <a:spcBef>
                <a:spcPts val="1200"/>
              </a:spcBef>
              <a:spcAft>
                <a:spcPts val="0"/>
              </a:spcAft>
              <a:buNone/>
            </a:pPr>
            <a:r>
              <a:rPr b="1" lang="en"/>
              <a:t>Or it </a:t>
            </a:r>
            <a:r>
              <a:rPr b="1" lang="en"/>
              <a:t>could</a:t>
            </a:r>
            <a:r>
              <a:rPr b="1" lang="en"/>
              <a:t> just be a fluke.</a:t>
            </a:r>
            <a:endParaRPr b="1"/>
          </a:p>
          <a:p>
            <a:pPr indent="0" lvl="0" marL="0" rtl="0" algn="l">
              <a:spcBef>
                <a:spcPts val="1200"/>
              </a:spcBef>
              <a:spcAft>
                <a:spcPts val="0"/>
              </a:spcAft>
              <a:buNone/>
            </a:pPr>
            <a:r>
              <a:rPr lang="en"/>
              <a:t>People attribute causality to concurrent phenomena</a:t>
            </a:r>
            <a:endParaRPr/>
          </a:p>
          <a:p>
            <a:pPr indent="0" lvl="0" marL="0" rtl="0" algn="l">
              <a:spcBef>
                <a:spcPts val="1200"/>
              </a:spcBef>
              <a:spcAft>
                <a:spcPts val="0"/>
              </a:spcAft>
              <a:buNone/>
            </a:pPr>
            <a:r>
              <a:rPr lang="en"/>
              <a:t>Resist the urge </a:t>
            </a:r>
            <a:endParaRPr/>
          </a:p>
          <a:p>
            <a:pPr indent="0" lvl="0" marL="0" rtl="0" algn="l">
              <a:spcBef>
                <a:spcPts val="1200"/>
              </a:spcBef>
              <a:spcAft>
                <a:spcPts val="1200"/>
              </a:spcAft>
              <a:buNone/>
            </a:pPr>
            <a:r>
              <a:rPr lang="en"/>
              <a:t>Without theory / subject matter specifics / advanced methodology, causality cannot be inferred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Causality and Spurious Correlation </a:t>
            </a:r>
            <a:endParaRPr/>
          </a:p>
        </p:txBody>
      </p:sp>
      <p:sp>
        <p:nvSpPr>
          <p:cNvPr id="394" name="Google Shape;394;p63"/>
          <p:cNvSpPr txBox="1"/>
          <p:nvPr>
            <p:ph idx="1" type="body"/>
          </p:nvPr>
        </p:nvSpPr>
        <p:spPr>
          <a:xfrm>
            <a:off x="311700" y="1152475"/>
            <a:ext cx="35127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Importing lemons from Mexico saves American lives on the highway!</a:t>
            </a:r>
            <a:endParaRPr/>
          </a:p>
          <a:p>
            <a:pPr indent="0" lvl="0" marL="0" rtl="0" algn="l">
              <a:spcBef>
                <a:spcPts val="1200"/>
              </a:spcBef>
              <a:spcAft>
                <a:spcPts val="0"/>
              </a:spcAft>
              <a:buNone/>
            </a:pPr>
            <a:r>
              <a:rPr lang="en"/>
              <a:t>Two sets of data may resemble one another for lots of reasons</a:t>
            </a:r>
            <a:endParaRPr/>
          </a:p>
          <a:p>
            <a:pPr indent="0" lvl="0" marL="0" rtl="0" algn="l">
              <a:spcBef>
                <a:spcPts val="1200"/>
              </a:spcBef>
              <a:spcAft>
                <a:spcPts val="0"/>
              </a:spcAft>
              <a:buNone/>
            </a:pPr>
            <a:r>
              <a:rPr lang="en"/>
              <a:t>Often hard to resist attributing causality </a:t>
            </a:r>
            <a:endParaRPr/>
          </a:p>
          <a:p>
            <a:pPr indent="0" lvl="0" marL="0" rtl="0" algn="l">
              <a:spcBef>
                <a:spcPts val="1200"/>
              </a:spcBef>
              <a:spcAft>
                <a:spcPts val="1200"/>
              </a:spcAft>
              <a:buNone/>
            </a:pPr>
            <a:r>
              <a:rPr lang="en"/>
              <a:t>People will find patterns even if they aren't there!</a:t>
            </a:r>
            <a:endParaRPr/>
          </a:p>
        </p:txBody>
      </p:sp>
      <p:pic>
        <p:nvPicPr>
          <p:cNvPr id="395" name="Google Shape;395;p63"/>
          <p:cNvPicPr preferRelativeResize="0"/>
          <p:nvPr/>
        </p:nvPicPr>
        <p:blipFill>
          <a:blip r:embed="rId3">
            <a:alphaModFix/>
          </a:blip>
          <a:stretch>
            <a:fillRect/>
          </a:stretch>
        </p:blipFill>
        <p:spPr>
          <a:xfrm>
            <a:off x="4174825" y="1312850"/>
            <a:ext cx="4762500" cy="3095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Effect filter="fade" transition="in">
                                      <p:cBhvr>
                                        <p:cTn dur="1000"/>
                                        <p:tgtEl>
                                          <p:spTgt spid="3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1" st="1"/>
                                            </p:txEl>
                                          </p:spTgt>
                                        </p:tgtEl>
                                        <p:attrNameLst>
                                          <p:attrName>style.visibility</p:attrName>
                                        </p:attrNameLst>
                                      </p:cBhvr>
                                      <p:to>
                                        <p:strVal val="visible"/>
                                      </p:to>
                                    </p:set>
                                    <p:animEffect filter="fade" transition="in">
                                      <p:cBhvr>
                                        <p:cTn dur="1000"/>
                                        <p:tgtEl>
                                          <p:spTgt spid="3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2" st="2"/>
                                            </p:txEl>
                                          </p:spTgt>
                                        </p:tgtEl>
                                        <p:attrNameLst>
                                          <p:attrName>style.visibility</p:attrName>
                                        </p:attrNameLst>
                                      </p:cBhvr>
                                      <p:to>
                                        <p:strVal val="visible"/>
                                      </p:to>
                                    </p:set>
                                    <p:animEffect filter="fade" transition="in">
                                      <p:cBhvr>
                                        <p:cTn dur="1000"/>
                                        <p:tgtEl>
                                          <p:spTgt spid="3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3" st="3"/>
                                            </p:txEl>
                                          </p:spTgt>
                                        </p:tgtEl>
                                        <p:attrNameLst>
                                          <p:attrName>style.visibility</p:attrName>
                                        </p:attrNameLst>
                                      </p:cBhvr>
                                      <p:to>
                                        <p:strVal val="visible"/>
                                      </p:to>
                                    </p:set>
                                    <p:animEffect filter="fade" transition="in">
                                      <p:cBhvr>
                                        <p:cTn dur="1000"/>
                                        <p:tgtEl>
                                          <p:spTgt spid="39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64"/>
          <p:cNvPicPr preferRelativeResize="0"/>
          <p:nvPr/>
        </p:nvPicPr>
        <p:blipFill>
          <a:blip r:embed="rId3">
            <a:alphaModFix/>
          </a:blip>
          <a:stretch>
            <a:fillRect/>
          </a:stretch>
        </p:blipFill>
        <p:spPr>
          <a:xfrm>
            <a:off x="681038" y="514350"/>
            <a:ext cx="8086725" cy="4419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65"/>
          <p:cNvPicPr preferRelativeResize="0"/>
          <p:nvPr/>
        </p:nvPicPr>
        <p:blipFill>
          <a:blip r:embed="rId3">
            <a:alphaModFix/>
          </a:blip>
          <a:stretch>
            <a:fillRect/>
          </a:stretch>
        </p:blipFill>
        <p:spPr>
          <a:xfrm>
            <a:off x="528638" y="361950"/>
            <a:ext cx="8086725" cy="4419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66"/>
          <p:cNvPicPr preferRelativeResize="0"/>
          <p:nvPr/>
        </p:nvPicPr>
        <p:blipFill>
          <a:blip r:embed="rId3">
            <a:alphaModFix/>
          </a:blip>
          <a:stretch>
            <a:fillRect/>
          </a:stretch>
        </p:blipFill>
        <p:spPr>
          <a:xfrm>
            <a:off x="1528763" y="252413"/>
            <a:ext cx="6086475" cy="46386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descr="Today we’re going to talk about measures of central tendency - those are the numbers that tend to hang out in the middle of our data: the mean, the median, and mode. All of these numbers can be called “averages” and they’re the numbers we tend to see most often - whether it’s in politics when talking about polling or income equality to batting averages in baseball (and cricket) and Amazon reviews. Averages are everywhere so today we’re going to discuss how these measures differ, how their relationship with one another can tell us a lot about the underlying data, and how they are sometimes used to mislead. &#10;&#10;&#10;Crash Course is on Patreon! You can support us directly by signing up at http://www.patreon.com/crashcourse&#10;&#10;Thanks to the following Patrons for their generous monthly contributions that help keep Crash Course free for everyone forever:&#10;&#10;Mark Brouwer, Nickie Miskell Jr., Jessica Wode, Eric Prestemon, Kathrin Benoit, Tom Trval, Jason Saslow, Nathan Taylor, Divonne Holmes à Court, Brian Thomas Gossett, Khaled El Shalakany, Indika Siriwardena, Robert Kunz, SR Foxley, Sam Ferguson, Yasenia Cruz, Daniel Baulig, Eric Koslow, Caleb Weeks, Tim Curwick, Evren Türkmenoğlu, Alexander Tamas, Justin Zingsheim, D.A. Noe, Shawn Arnold, mark austin, Ruth Perez, Malcolm Callis, Ken Penttinen, Advait Shinde, Cody Carpenter, Annamaria Herrera, William McGraw, Bader AlGhamdi, Vaso, Melissa Briski, Joey Quek, Andrei Krishkevich, Rachel Bright, Alex S, Mayumi Maeda, Kathy &amp; Tim Philip, Montather, Jirat, Eric Kitchen, Moritz Schmidt, Ian Dundore, Chris Peters, Sandra Aft, Steve Marshall&#10;&#10;Want to find Crash Course elsewhere on the internet?&#10;Facebook - http://www.facebook.com/YouTubeCrashC...&#10;Twitter - http://www.twitter.com/TheCrashCourse&#10;Tumblr - http://thecrashcourse.tumblr.com &#10;Support Crash Course on Patreon: http://patreon.com/crashcourse&#10;CC Kids: http://www.youtube.com/crashcoursekids" id="415" name="Google Shape;415;p67" title="Mean, Median, and Mode: Measures of Central Tendency: Crash Course Statistics #3">
            <a:hlinkClick r:id="rId3"/>
          </p:cNvPr>
          <p:cNvPicPr preferRelativeResize="0"/>
          <p:nvPr/>
        </p:nvPicPr>
        <p:blipFill>
          <a:blip r:embed="rId4">
            <a:alphaModFix/>
          </a:blip>
          <a:stretch>
            <a:fillRect/>
          </a:stretch>
        </p:blipFill>
        <p:spPr>
          <a:xfrm>
            <a:off x="546550" y="354275"/>
            <a:ext cx="7945800" cy="4469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pic>
        <p:nvPicPr>
          <p:cNvPr descr="Today, we're looking at measures of spread, or dispersion, which we use to understand how well medians and means represent the data, and how reliable our conclusions are. They can help understand test scores, income inequality, spot stock bubbles, and plan gambling junkets. They're pretty useful, and now you're going to know how to calculate them!&#10;&#10;Crash Course is on Patreon! You can support us directly by signing up at http://www.patreon.com/crashcourse&#10;&#10;Thanks to the following Patrons for their generous monthly contributions that help keep Crash Course free for everyone forever:&#10;&#10;Mark Brouwer, Nickie Miskell Jr., Jessica Wode, Eric Prestemon, Kathrin Benoit, Tom Trval, Jason Saslow, Nathan Taylor, Divonne Holmes à Court, Brian Thomas Gossett, Khaled El Shalakany, Indika Siriwardena, Robert Kunz, SR Foxley, Sam Ferguson, Yasenia Cruz, Daniel Baulig, Eric Koslow, Caleb Weeks, Tim Curwick, Evren Türkmenoğlu, Alexander Tamas, Justin Zingsheim, D.A. Noe, Shawn Arnold, mark austin, Ruth Perez, Malcolm Callis, Ken Penttinen, Advait Shinde, Cody Carpenter, Annamaria Herrera, William McGraw, Bader AlGhamdi, Vaso, Melissa Briski, Joey Quek, Andrei Krishkevich, Rachel Bright, Alex S, Mayumi Maeda, Kathy &amp; Tim Philip, Montather, Jirat, Eric Kitchen, Moritz Schmidt, Ian Dundore, Chris Peters, Sandra Aft, Steve Marshall&#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420" name="Google Shape;420;p68" title="Measures of Spread: Crash Course Statistics #4">
            <a:hlinkClick r:id="rId3"/>
          </p:cNvPr>
          <p:cNvPicPr preferRelativeResize="0"/>
          <p:nvPr/>
        </p:nvPicPr>
        <p:blipFill>
          <a:blip r:embed="rId4">
            <a:alphaModFix/>
          </a:blip>
          <a:stretch>
            <a:fillRect/>
          </a:stretch>
        </p:blipFill>
        <p:spPr>
          <a:xfrm>
            <a:off x="698925" y="456538"/>
            <a:ext cx="7520750" cy="4230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