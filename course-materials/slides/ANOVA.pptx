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Nunito"/>
      <p:regular r:id="rId36"/>
      <p:bold r:id="rId37"/>
      <p:italic r:id="rId38"/>
      <p:boldItalic r:id="rId39"/>
    </p:embeddedFont>
    <p:embeddedFont>
      <p:font typeface="Maven Pro"/>
      <p:regular r:id="rId40"/>
      <p:bold r:id="rId41"/>
    </p:embeddedFont>
    <p:embeddedFont>
      <p:font typeface="Oswal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venPro-regular.fntdata"/><Relationship Id="rId20" Type="http://schemas.openxmlformats.org/officeDocument/2006/relationships/slide" Target="slides/slide15.xml"/><Relationship Id="rId42" Type="http://schemas.openxmlformats.org/officeDocument/2006/relationships/font" Target="fonts/Oswald-regular.fntdata"/><Relationship Id="rId41" Type="http://schemas.openxmlformats.org/officeDocument/2006/relationships/font" Target="fonts/MavenPr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Oswald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Nunito-bold.fntdata"/><Relationship Id="rId14" Type="http://schemas.openxmlformats.org/officeDocument/2006/relationships/slide" Target="slides/slide9.xml"/><Relationship Id="rId36" Type="http://schemas.openxmlformats.org/officeDocument/2006/relationships/font" Target="fonts/Nunito-regular.fntdata"/><Relationship Id="rId17" Type="http://schemas.openxmlformats.org/officeDocument/2006/relationships/slide" Target="slides/slide12.xml"/><Relationship Id="rId39" Type="http://schemas.openxmlformats.org/officeDocument/2006/relationships/font" Target="fonts/Nunito-boldItalic.fntdata"/><Relationship Id="rId16" Type="http://schemas.openxmlformats.org/officeDocument/2006/relationships/slide" Target="slides/slide11.xml"/><Relationship Id="rId38" Type="http://schemas.openxmlformats.org/officeDocument/2006/relationships/font" Target="fonts/Nuni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b8707c75e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b8707c75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032354bd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3032354bd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f0d0d6d5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f0d0d6d5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f0d0d6d5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cf0d0d6d5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b8707c75e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b8707c75e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fdde5d87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fdde5d87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b8707c75e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b8707c75e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b8707c75e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b8707c75e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f84c6ea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f84c6ea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bf84c6ea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bf84c6ea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b8707c75e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b8707c75e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b8707c75e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b8707c75e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bf84c6ea0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bf84c6ea0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dc4af30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fdc4af30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3032354b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3032354b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3032354bd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3032354bd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f0d0d6d5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cf0d0d6d5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fdc4af30c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fdc4af30c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f0d0d6d5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f0d0d6d5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f0d0d6d5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cf0d0d6d5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f0d0d6d5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cf0d0d6d5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fdc4af30c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fdc4af30c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fdc4af30c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fdc4af30c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f0d0d6d5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cf0d0d6d5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f0d0d6d5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cf0d0d6d5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fdde5d87d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fdde5d87d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f0d0d6d5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cf0d0d6d5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f0d0d6d5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cf0d0d6d5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01a68038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d01a68038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Variance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Differences  invThree or More Population Means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 Basics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311700" y="1362725"/>
            <a:ext cx="45531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Extension</a:t>
            </a:r>
            <a:r>
              <a:rPr lang="en" sz="1800"/>
              <a:t> of two-sample hypothesis testing to three or more groups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Used when response variable is continuous and predictor variable is categorical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Factor: Categorical explanatory variable (Major)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Level: Categories within the factor (Economics, Marketing…)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One or more “factors” / categorical variables (school type, major)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Each factor contains two or more levels (public/private, engineering/biology/economics…)</a:t>
            </a:r>
            <a:endParaRPr sz="1800"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800" y="1605351"/>
            <a:ext cx="4060449" cy="20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lots of T tests?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311700" y="1362725"/>
            <a:ext cx="41685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Each t-test at alpha = 5% has a 5% type 1 error rate.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Running many pairwise t-tests increases the chance of getting at least one false positive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ANOVA tests the overall null hypothesis that all group means are equal while controlling the type 1 error rate (for that omnibus test)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ANOVA compares between-group variation to within-group variation</a:t>
            </a:r>
            <a:endParaRPr sz="1800"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634" y="0"/>
            <a:ext cx="185413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97876"/>
            <a:ext cx="2242126" cy="203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 Workflow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899575" y="1597875"/>
            <a:ext cx="74346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EDA: Summary statistics and graphics (</a:t>
            </a:r>
            <a:r>
              <a:rPr lang="en" sz="1700"/>
              <a:t>box plots</a:t>
            </a:r>
            <a:r>
              <a:rPr lang="en" sz="1700"/>
              <a:t>, histograms)</a:t>
            </a:r>
            <a:endParaRPr sz="17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Fit the model</a:t>
            </a:r>
            <a:endParaRPr sz="17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Check assumptions </a:t>
            </a:r>
            <a:endParaRPr sz="17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Interpret F and p</a:t>
            </a:r>
            <a:endParaRPr sz="17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Post hoc tests if needed</a:t>
            </a:r>
            <a:endParaRPr sz="17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Effect sizes</a:t>
            </a:r>
            <a:endParaRPr sz="17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Report results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Transform or different test if assumptions aren’t met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 Assumptions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568850" y="1362600"/>
            <a:ext cx="7765500" cy="31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Assumptions: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 sz="1800"/>
              <a:t>Observations are independent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1800"/>
              <a:t>Residuals are approximately normally distributed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1800"/>
              <a:t>Population variances are approximately equal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1800"/>
              <a:t>No extreme outliers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*If these assumptions are not met, ANOVA is probably still fine if n &gt;30, but unequal variances and severe non-normality can still matter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 One- vs Two-Way 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877050" y="1597875"/>
            <a:ext cx="7389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One-Way ANOVA: One categorical predictor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Example: Does income vary by major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Two-Way ANOVA:  Two categorical predictors, plus possible interaction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Example: Does income vary by major, school type, and does the effect of major vary by school type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Levene’s Test For Equal Variances </a:t>
            </a:r>
            <a:endParaRPr/>
          </a:p>
        </p:txBody>
      </p:sp>
      <p:pic>
        <p:nvPicPr>
          <p:cNvPr id="317" name="Google Shape;3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726" y="1066200"/>
            <a:ext cx="7796549" cy="36645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19"/>
          <p:cNvCxnSpPr/>
          <p:nvPr/>
        </p:nvCxnSpPr>
        <p:spPr>
          <a:xfrm rot="10800000">
            <a:off x="3579675" y="4583025"/>
            <a:ext cx="1957200" cy="1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19"/>
          <p:cNvSpPr txBox="1"/>
          <p:nvPr/>
        </p:nvSpPr>
        <p:spPr>
          <a:xfrm>
            <a:off x="5625400" y="4622275"/>
            <a:ext cx="20751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 value &lt; alpha = reject null of equal variance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5908775" y="40066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 variances differ substantially, use Welch’s ANOVA</a:t>
            </a:r>
            <a:endParaRPr b="1"/>
          </a:p>
        </p:txBody>
      </p:sp>
      <p:sp>
        <p:nvSpPr>
          <p:cNvPr id="321" name="Google Shape;321;p19"/>
          <p:cNvSpPr txBox="1"/>
          <p:nvPr/>
        </p:nvSpPr>
        <p:spPr>
          <a:xfrm>
            <a:off x="1063750" y="4622275"/>
            <a:ext cx="4076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H0: Group variances 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are equal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HA: At least one group variance differs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Way ANOVA	</a:t>
            </a:r>
            <a:endParaRPr/>
          </a:p>
        </p:txBody>
      </p:sp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311700" y="1179900"/>
            <a:ext cx="428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H0: Group 1 Mean = Group 2 Mean = Group 3 Mean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20"/>
          <p:cNvGrpSpPr/>
          <p:nvPr/>
        </p:nvGrpSpPr>
        <p:grpSpPr>
          <a:xfrm>
            <a:off x="392400" y="2797750"/>
            <a:ext cx="4286250" cy="1385887"/>
            <a:chOff x="1517" y="2487"/>
            <a:chExt cx="2700" cy="1056"/>
          </a:xfrm>
        </p:grpSpPr>
        <p:sp>
          <p:nvSpPr>
            <p:cNvPr id="329" name="Google Shape;329;p20"/>
            <p:cNvSpPr/>
            <p:nvPr/>
          </p:nvSpPr>
          <p:spPr>
            <a:xfrm>
              <a:off x="2813" y="2583"/>
              <a:ext cx="1151" cy="911"/>
            </a:xfrm>
            <a:custGeom>
              <a:rect b="b" l="l" r="r" t="t"/>
              <a:pathLst>
                <a:path extrusionOk="0" h="911" w="1151">
                  <a:moveTo>
                    <a:pt x="1150" y="910"/>
                  </a:moveTo>
                  <a:lnTo>
                    <a:pt x="1029" y="899"/>
                  </a:lnTo>
                  <a:lnTo>
                    <a:pt x="969" y="889"/>
                  </a:lnTo>
                  <a:lnTo>
                    <a:pt x="906" y="872"/>
                  </a:lnTo>
                  <a:lnTo>
                    <a:pt x="848" y="852"/>
                  </a:lnTo>
                  <a:lnTo>
                    <a:pt x="786" y="825"/>
                  </a:lnTo>
                  <a:lnTo>
                    <a:pt x="727" y="787"/>
                  </a:lnTo>
                  <a:lnTo>
                    <a:pt x="604" y="683"/>
                  </a:lnTo>
                  <a:lnTo>
                    <a:pt x="483" y="533"/>
                  </a:lnTo>
                  <a:lnTo>
                    <a:pt x="363" y="356"/>
                  </a:lnTo>
                  <a:lnTo>
                    <a:pt x="302" y="265"/>
                  </a:lnTo>
                  <a:lnTo>
                    <a:pt x="240" y="181"/>
                  </a:lnTo>
                  <a:lnTo>
                    <a:pt x="181" y="107"/>
                  </a:lnTo>
                  <a:lnTo>
                    <a:pt x="119" y="49"/>
                  </a:lnTo>
                  <a:lnTo>
                    <a:pt x="60" y="14"/>
                  </a:lnTo>
                  <a:lnTo>
                    <a:pt x="0" y="0"/>
                  </a:lnTo>
                </a:path>
              </a:pathLst>
            </a:custGeom>
            <a:noFill/>
            <a:ln cap="rnd" cmpd="sng" w="25400">
              <a:solidFill>
                <a:srgbClr val="00E4A8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1709" y="2583"/>
              <a:ext cx="1103" cy="911"/>
            </a:xfrm>
            <a:custGeom>
              <a:rect b="b" l="l" r="r" t="t"/>
              <a:pathLst>
                <a:path extrusionOk="0" h="911" w="1103">
                  <a:moveTo>
                    <a:pt x="0" y="910"/>
                  </a:moveTo>
                  <a:lnTo>
                    <a:pt x="116" y="899"/>
                  </a:lnTo>
                  <a:lnTo>
                    <a:pt x="174" y="889"/>
                  </a:lnTo>
                  <a:lnTo>
                    <a:pt x="234" y="872"/>
                  </a:lnTo>
                  <a:lnTo>
                    <a:pt x="290" y="852"/>
                  </a:lnTo>
                  <a:lnTo>
                    <a:pt x="349" y="825"/>
                  </a:lnTo>
                  <a:lnTo>
                    <a:pt x="405" y="787"/>
                  </a:lnTo>
                  <a:lnTo>
                    <a:pt x="521" y="683"/>
                  </a:lnTo>
                  <a:lnTo>
                    <a:pt x="637" y="533"/>
                  </a:lnTo>
                  <a:lnTo>
                    <a:pt x="755" y="356"/>
                  </a:lnTo>
                  <a:lnTo>
                    <a:pt x="811" y="265"/>
                  </a:lnTo>
                  <a:lnTo>
                    <a:pt x="870" y="181"/>
                  </a:lnTo>
                  <a:lnTo>
                    <a:pt x="927" y="107"/>
                  </a:lnTo>
                  <a:lnTo>
                    <a:pt x="986" y="49"/>
                  </a:lnTo>
                  <a:lnTo>
                    <a:pt x="1042" y="14"/>
                  </a:lnTo>
                  <a:lnTo>
                    <a:pt x="1102" y="0"/>
                  </a:lnTo>
                </a:path>
              </a:pathLst>
            </a:custGeom>
            <a:noFill/>
            <a:ln cap="rnd" cmpd="sng" w="25400">
              <a:solidFill>
                <a:srgbClr val="00E4A8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2813" y="2535"/>
              <a:ext cx="1151" cy="911"/>
            </a:xfrm>
            <a:custGeom>
              <a:rect b="b" l="l" r="r" t="t"/>
              <a:pathLst>
                <a:path extrusionOk="0" h="911" w="1151">
                  <a:moveTo>
                    <a:pt x="1150" y="910"/>
                  </a:moveTo>
                  <a:lnTo>
                    <a:pt x="1029" y="899"/>
                  </a:lnTo>
                  <a:lnTo>
                    <a:pt x="969" y="889"/>
                  </a:lnTo>
                  <a:lnTo>
                    <a:pt x="906" y="872"/>
                  </a:lnTo>
                  <a:lnTo>
                    <a:pt x="848" y="852"/>
                  </a:lnTo>
                  <a:lnTo>
                    <a:pt x="786" y="825"/>
                  </a:lnTo>
                  <a:lnTo>
                    <a:pt x="727" y="787"/>
                  </a:lnTo>
                  <a:lnTo>
                    <a:pt x="604" y="683"/>
                  </a:lnTo>
                  <a:lnTo>
                    <a:pt x="483" y="533"/>
                  </a:lnTo>
                  <a:lnTo>
                    <a:pt x="363" y="356"/>
                  </a:lnTo>
                  <a:lnTo>
                    <a:pt x="302" y="265"/>
                  </a:lnTo>
                  <a:lnTo>
                    <a:pt x="240" y="181"/>
                  </a:lnTo>
                  <a:lnTo>
                    <a:pt x="181" y="107"/>
                  </a:lnTo>
                  <a:lnTo>
                    <a:pt x="119" y="49"/>
                  </a:lnTo>
                  <a:lnTo>
                    <a:pt x="60" y="14"/>
                  </a:lnTo>
                  <a:lnTo>
                    <a:pt x="0" y="0"/>
                  </a:lnTo>
                </a:path>
              </a:pathLst>
            </a:custGeom>
            <a:noFill/>
            <a:ln cap="rnd" cmpd="sng" w="254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1661" y="2535"/>
              <a:ext cx="1151" cy="911"/>
            </a:xfrm>
            <a:custGeom>
              <a:rect b="b" l="l" r="r" t="t"/>
              <a:pathLst>
                <a:path extrusionOk="0" h="911" w="1151">
                  <a:moveTo>
                    <a:pt x="0" y="910"/>
                  </a:moveTo>
                  <a:lnTo>
                    <a:pt x="121" y="899"/>
                  </a:lnTo>
                  <a:lnTo>
                    <a:pt x="181" y="889"/>
                  </a:lnTo>
                  <a:lnTo>
                    <a:pt x="244" y="872"/>
                  </a:lnTo>
                  <a:lnTo>
                    <a:pt x="302" y="852"/>
                  </a:lnTo>
                  <a:lnTo>
                    <a:pt x="365" y="825"/>
                  </a:lnTo>
                  <a:lnTo>
                    <a:pt x="423" y="787"/>
                  </a:lnTo>
                  <a:lnTo>
                    <a:pt x="544" y="683"/>
                  </a:lnTo>
                  <a:lnTo>
                    <a:pt x="665" y="533"/>
                  </a:lnTo>
                  <a:lnTo>
                    <a:pt x="787" y="356"/>
                  </a:lnTo>
                  <a:lnTo>
                    <a:pt x="846" y="265"/>
                  </a:lnTo>
                  <a:lnTo>
                    <a:pt x="908" y="181"/>
                  </a:lnTo>
                  <a:lnTo>
                    <a:pt x="967" y="107"/>
                  </a:lnTo>
                  <a:lnTo>
                    <a:pt x="1029" y="49"/>
                  </a:lnTo>
                  <a:lnTo>
                    <a:pt x="1088" y="14"/>
                  </a:lnTo>
                  <a:lnTo>
                    <a:pt x="1150" y="0"/>
                  </a:lnTo>
                </a:path>
              </a:pathLst>
            </a:custGeom>
            <a:noFill/>
            <a:ln cap="rnd" cmpd="sng" w="254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2813" y="2487"/>
              <a:ext cx="1247" cy="911"/>
            </a:xfrm>
            <a:custGeom>
              <a:rect b="b" l="l" r="r" t="t"/>
              <a:pathLst>
                <a:path extrusionOk="0" h="911" w="1247">
                  <a:moveTo>
                    <a:pt x="1246" y="910"/>
                  </a:moveTo>
                  <a:lnTo>
                    <a:pt x="1115" y="899"/>
                  </a:lnTo>
                  <a:lnTo>
                    <a:pt x="1050" y="889"/>
                  </a:lnTo>
                  <a:lnTo>
                    <a:pt x="982" y="872"/>
                  </a:lnTo>
                  <a:lnTo>
                    <a:pt x="919" y="852"/>
                  </a:lnTo>
                  <a:lnTo>
                    <a:pt x="851" y="825"/>
                  </a:lnTo>
                  <a:lnTo>
                    <a:pt x="788" y="787"/>
                  </a:lnTo>
                  <a:lnTo>
                    <a:pt x="655" y="683"/>
                  </a:lnTo>
                  <a:lnTo>
                    <a:pt x="524" y="533"/>
                  </a:lnTo>
                  <a:lnTo>
                    <a:pt x="393" y="356"/>
                  </a:lnTo>
                  <a:lnTo>
                    <a:pt x="327" y="265"/>
                  </a:lnTo>
                  <a:lnTo>
                    <a:pt x="260" y="181"/>
                  </a:lnTo>
                  <a:lnTo>
                    <a:pt x="196" y="107"/>
                  </a:lnTo>
                  <a:lnTo>
                    <a:pt x="129" y="49"/>
                  </a:lnTo>
                  <a:lnTo>
                    <a:pt x="65" y="14"/>
                  </a:lnTo>
                  <a:lnTo>
                    <a:pt x="0" y="0"/>
                  </a:lnTo>
                </a:path>
              </a:pathLst>
            </a:custGeom>
            <a:noFill/>
            <a:ln cap="rnd" cmpd="sng" w="25400">
              <a:solidFill>
                <a:srgbClr val="3333CC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1613" y="2487"/>
              <a:ext cx="1199" cy="911"/>
            </a:xfrm>
            <a:custGeom>
              <a:rect b="b" l="l" r="r" t="t"/>
              <a:pathLst>
                <a:path extrusionOk="0" h="911" w="1199">
                  <a:moveTo>
                    <a:pt x="0" y="910"/>
                  </a:moveTo>
                  <a:lnTo>
                    <a:pt x="126" y="899"/>
                  </a:lnTo>
                  <a:lnTo>
                    <a:pt x="189" y="889"/>
                  </a:lnTo>
                  <a:lnTo>
                    <a:pt x="254" y="872"/>
                  </a:lnTo>
                  <a:lnTo>
                    <a:pt x="315" y="852"/>
                  </a:lnTo>
                  <a:lnTo>
                    <a:pt x="380" y="825"/>
                  </a:lnTo>
                  <a:lnTo>
                    <a:pt x="441" y="787"/>
                  </a:lnTo>
                  <a:lnTo>
                    <a:pt x="566" y="683"/>
                  </a:lnTo>
                  <a:lnTo>
                    <a:pt x="692" y="533"/>
                  </a:lnTo>
                  <a:lnTo>
                    <a:pt x="820" y="356"/>
                  </a:lnTo>
                  <a:lnTo>
                    <a:pt x="881" y="265"/>
                  </a:lnTo>
                  <a:lnTo>
                    <a:pt x="946" y="181"/>
                  </a:lnTo>
                  <a:lnTo>
                    <a:pt x="1007" y="107"/>
                  </a:lnTo>
                  <a:lnTo>
                    <a:pt x="1072" y="49"/>
                  </a:lnTo>
                  <a:lnTo>
                    <a:pt x="1133" y="14"/>
                  </a:lnTo>
                  <a:lnTo>
                    <a:pt x="1198" y="0"/>
                  </a:lnTo>
                </a:path>
              </a:pathLst>
            </a:custGeom>
            <a:noFill/>
            <a:ln cap="rnd" cmpd="sng" w="25400">
              <a:solidFill>
                <a:srgbClr val="3333CC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5" name="Google Shape;335;p20"/>
            <p:cNvCxnSpPr/>
            <p:nvPr/>
          </p:nvCxnSpPr>
          <p:spPr>
            <a:xfrm>
              <a:off x="2813" y="2583"/>
              <a:ext cx="0" cy="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6" name="Google Shape;336;p20"/>
            <p:cNvCxnSpPr/>
            <p:nvPr/>
          </p:nvCxnSpPr>
          <p:spPr>
            <a:xfrm>
              <a:off x="1517" y="3543"/>
              <a:ext cx="2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337" name="Google Shape;337;p20"/>
          <p:cNvSpPr/>
          <p:nvPr/>
        </p:nvSpPr>
        <p:spPr>
          <a:xfrm>
            <a:off x="6550518" y="1916235"/>
            <a:ext cx="845763" cy="982839"/>
          </a:xfrm>
          <a:custGeom>
            <a:rect b="b" l="l" r="r" t="t"/>
            <a:pathLst>
              <a:path extrusionOk="0" h="911" w="1151">
                <a:moveTo>
                  <a:pt x="1150" y="910"/>
                </a:moveTo>
                <a:lnTo>
                  <a:pt x="1029" y="899"/>
                </a:lnTo>
                <a:lnTo>
                  <a:pt x="969" y="889"/>
                </a:lnTo>
                <a:lnTo>
                  <a:pt x="906" y="872"/>
                </a:lnTo>
                <a:lnTo>
                  <a:pt x="848" y="852"/>
                </a:lnTo>
                <a:lnTo>
                  <a:pt x="786" y="825"/>
                </a:lnTo>
                <a:lnTo>
                  <a:pt x="727" y="787"/>
                </a:lnTo>
                <a:lnTo>
                  <a:pt x="604" y="683"/>
                </a:lnTo>
                <a:lnTo>
                  <a:pt x="483" y="533"/>
                </a:lnTo>
                <a:lnTo>
                  <a:pt x="363" y="356"/>
                </a:lnTo>
                <a:lnTo>
                  <a:pt x="302" y="265"/>
                </a:lnTo>
                <a:lnTo>
                  <a:pt x="240" y="181"/>
                </a:lnTo>
                <a:lnTo>
                  <a:pt x="181" y="107"/>
                </a:lnTo>
                <a:lnTo>
                  <a:pt x="119" y="49"/>
                </a:lnTo>
                <a:lnTo>
                  <a:pt x="60" y="14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00E4A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5756898" y="1916235"/>
            <a:ext cx="810154" cy="982839"/>
          </a:xfrm>
          <a:custGeom>
            <a:rect b="b" l="l" r="r" t="t"/>
            <a:pathLst>
              <a:path extrusionOk="0" h="911" w="1103">
                <a:moveTo>
                  <a:pt x="0" y="910"/>
                </a:moveTo>
                <a:lnTo>
                  <a:pt x="116" y="899"/>
                </a:lnTo>
                <a:lnTo>
                  <a:pt x="174" y="889"/>
                </a:lnTo>
                <a:lnTo>
                  <a:pt x="234" y="872"/>
                </a:lnTo>
                <a:lnTo>
                  <a:pt x="290" y="852"/>
                </a:lnTo>
                <a:lnTo>
                  <a:pt x="349" y="825"/>
                </a:lnTo>
                <a:lnTo>
                  <a:pt x="405" y="787"/>
                </a:lnTo>
                <a:lnTo>
                  <a:pt x="521" y="683"/>
                </a:lnTo>
                <a:lnTo>
                  <a:pt x="637" y="533"/>
                </a:lnTo>
                <a:lnTo>
                  <a:pt x="755" y="356"/>
                </a:lnTo>
                <a:lnTo>
                  <a:pt x="811" y="265"/>
                </a:lnTo>
                <a:lnTo>
                  <a:pt x="870" y="181"/>
                </a:lnTo>
                <a:lnTo>
                  <a:pt x="927" y="107"/>
                </a:lnTo>
                <a:lnTo>
                  <a:pt x="986" y="49"/>
                </a:lnTo>
                <a:lnTo>
                  <a:pt x="1042" y="14"/>
                </a:lnTo>
                <a:lnTo>
                  <a:pt x="1102" y="0"/>
                </a:lnTo>
              </a:path>
            </a:pathLst>
          </a:custGeom>
          <a:noFill/>
          <a:ln cap="rnd" cmpd="sng" w="25400">
            <a:solidFill>
              <a:srgbClr val="00E4A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6550518" y="1864450"/>
            <a:ext cx="845763" cy="982839"/>
          </a:xfrm>
          <a:custGeom>
            <a:rect b="b" l="l" r="r" t="t"/>
            <a:pathLst>
              <a:path extrusionOk="0" h="911" w="1151">
                <a:moveTo>
                  <a:pt x="1150" y="910"/>
                </a:moveTo>
                <a:lnTo>
                  <a:pt x="1029" y="899"/>
                </a:lnTo>
                <a:lnTo>
                  <a:pt x="969" y="889"/>
                </a:lnTo>
                <a:lnTo>
                  <a:pt x="906" y="872"/>
                </a:lnTo>
                <a:lnTo>
                  <a:pt x="848" y="852"/>
                </a:lnTo>
                <a:lnTo>
                  <a:pt x="786" y="825"/>
                </a:lnTo>
                <a:lnTo>
                  <a:pt x="727" y="787"/>
                </a:lnTo>
                <a:lnTo>
                  <a:pt x="604" y="683"/>
                </a:lnTo>
                <a:lnTo>
                  <a:pt x="483" y="533"/>
                </a:lnTo>
                <a:lnTo>
                  <a:pt x="363" y="356"/>
                </a:lnTo>
                <a:lnTo>
                  <a:pt x="302" y="265"/>
                </a:lnTo>
                <a:lnTo>
                  <a:pt x="240" y="181"/>
                </a:lnTo>
                <a:lnTo>
                  <a:pt x="181" y="107"/>
                </a:lnTo>
                <a:lnTo>
                  <a:pt x="119" y="49"/>
                </a:lnTo>
                <a:lnTo>
                  <a:pt x="60" y="14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5695850" y="1864450"/>
            <a:ext cx="845763" cy="982839"/>
          </a:xfrm>
          <a:custGeom>
            <a:rect b="b" l="l" r="r" t="t"/>
            <a:pathLst>
              <a:path extrusionOk="0" h="911" w="1151">
                <a:moveTo>
                  <a:pt x="0" y="910"/>
                </a:moveTo>
                <a:lnTo>
                  <a:pt x="121" y="899"/>
                </a:lnTo>
                <a:lnTo>
                  <a:pt x="181" y="889"/>
                </a:lnTo>
                <a:lnTo>
                  <a:pt x="244" y="872"/>
                </a:lnTo>
                <a:lnTo>
                  <a:pt x="302" y="852"/>
                </a:lnTo>
                <a:lnTo>
                  <a:pt x="365" y="825"/>
                </a:lnTo>
                <a:lnTo>
                  <a:pt x="423" y="787"/>
                </a:lnTo>
                <a:lnTo>
                  <a:pt x="544" y="683"/>
                </a:lnTo>
                <a:lnTo>
                  <a:pt x="665" y="533"/>
                </a:lnTo>
                <a:lnTo>
                  <a:pt x="787" y="356"/>
                </a:lnTo>
                <a:lnTo>
                  <a:pt x="846" y="265"/>
                </a:lnTo>
                <a:lnTo>
                  <a:pt x="908" y="181"/>
                </a:lnTo>
                <a:lnTo>
                  <a:pt x="967" y="107"/>
                </a:lnTo>
                <a:lnTo>
                  <a:pt x="1029" y="49"/>
                </a:lnTo>
                <a:lnTo>
                  <a:pt x="1088" y="14"/>
                </a:lnTo>
                <a:lnTo>
                  <a:pt x="1150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7466234" y="1916235"/>
            <a:ext cx="915716" cy="982839"/>
          </a:xfrm>
          <a:custGeom>
            <a:rect b="b" l="l" r="r" t="t"/>
            <a:pathLst>
              <a:path extrusionOk="0" h="911" w="1247">
                <a:moveTo>
                  <a:pt x="1246" y="910"/>
                </a:moveTo>
                <a:lnTo>
                  <a:pt x="1115" y="899"/>
                </a:lnTo>
                <a:lnTo>
                  <a:pt x="1050" y="889"/>
                </a:lnTo>
                <a:lnTo>
                  <a:pt x="982" y="872"/>
                </a:lnTo>
                <a:lnTo>
                  <a:pt x="919" y="852"/>
                </a:lnTo>
                <a:lnTo>
                  <a:pt x="851" y="825"/>
                </a:lnTo>
                <a:lnTo>
                  <a:pt x="788" y="787"/>
                </a:lnTo>
                <a:lnTo>
                  <a:pt x="655" y="683"/>
                </a:lnTo>
                <a:lnTo>
                  <a:pt x="524" y="533"/>
                </a:lnTo>
                <a:lnTo>
                  <a:pt x="393" y="356"/>
                </a:lnTo>
                <a:lnTo>
                  <a:pt x="327" y="265"/>
                </a:lnTo>
                <a:lnTo>
                  <a:pt x="260" y="181"/>
                </a:lnTo>
                <a:lnTo>
                  <a:pt x="196" y="107"/>
                </a:lnTo>
                <a:lnTo>
                  <a:pt x="129" y="49"/>
                </a:lnTo>
                <a:lnTo>
                  <a:pt x="65" y="14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6550518" y="1916235"/>
            <a:ext cx="902998" cy="981760"/>
          </a:xfrm>
          <a:custGeom>
            <a:rect b="b" l="l" r="r" t="t"/>
            <a:pathLst>
              <a:path extrusionOk="0" h="910" w="710">
                <a:moveTo>
                  <a:pt x="0" y="910"/>
                </a:moveTo>
                <a:lnTo>
                  <a:pt x="73" y="899"/>
                </a:lnTo>
                <a:lnTo>
                  <a:pt x="109" y="889"/>
                </a:lnTo>
                <a:lnTo>
                  <a:pt x="147" y="872"/>
                </a:lnTo>
                <a:lnTo>
                  <a:pt x="182" y="852"/>
                </a:lnTo>
                <a:lnTo>
                  <a:pt x="219" y="825"/>
                </a:lnTo>
                <a:lnTo>
                  <a:pt x="255" y="787"/>
                </a:lnTo>
                <a:lnTo>
                  <a:pt x="327" y="683"/>
                </a:lnTo>
                <a:lnTo>
                  <a:pt x="399" y="533"/>
                </a:lnTo>
                <a:lnTo>
                  <a:pt x="473" y="356"/>
                </a:lnTo>
                <a:lnTo>
                  <a:pt x="508" y="265"/>
                </a:lnTo>
                <a:lnTo>
                  <a:pt x="546" y="181"/>
                </a:lnTo>
                <a:lnTo>
                  <a:pt x="581" y="107"/>
                </a:lnTo>
                <a:lnTo>
                  <a:pt x="619" y="49"/>
                </a:lnTo>
                <a:lnTo>
                  <a:pt x="654" y="14"/>
                </a:lnTo>
                <a:lnTo>
                  <a:pt x="710" y="0"/>
                </a:lnTo>
              </a:path>
            </a:pathLst>
          </a:custGeom>
          <a:noFill/>
          <a:ln cap="rnd" cmpd="sng" w="25400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6895989" y="3058075"/>
            <a:ext cx="963896" cy="1315138"/>
          </a:xfrm>
          <a:custGeom>
            <a:rect b="b" l="l" r="r" t="t"/>
            <a:pathLst>
              <a:path extrusionOk="0" h="911" w="1151">
                <a:moveTo>
                  <a:pt x="1150" y="910"/>
                </a:moveTo>
                <a:lnTo>
                  <a:pt x="1029" y="899"/>
                </a:lnTo>
                <a:lnTo>
                  <a:pt x="969" y="889"/>
                </a:lnTo>
                <a:lnTo>
                  <a:pt x="906" y="872"/>
                </a:lnTo>
                <a:lnTo>
                  <a:pt x="848" y="852"/>
                </a:lnTo>
                <a:lnTo>
                  <a:pt x="786" y="825"/>
                </a:lnTo>
                <a:lnTo>
                  <a:pt x="727" y="787"/>
                </a:lnTo>
                <a:lnTo>
                  <a:pt x="604" y="683"/>
                </a:lnTo>
                <a:lnTo>
                  <a:pt x="483" y="533"/>
                </a:lnTo>
                <a:lnTo>
                  <a:pt x="363" y="356"/>
                </a:lnTo>
                <a:lnTo>
                  <a:pt x="302" y="265"/>
                </a:lnTo>
                <a:lnTo>
                  <a:pt x="240" y="181"/>
                </a:lnTo>
                <a:lnTo>
                  <a:pt x="181" y="107"/>
                </a:lnTo>
                <a:lnTo>
                  <a:pt x="119" y="49"/>
                </a:lnTo>
                <a:lnTo>
                  <a:pt x="60" y="14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00E4A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5991521" y="3058075"/>
            <a:ext cx="923310" cy="1315138"/>
          </a:xfrm>
          <a:custGeom>
            <a:rect b="b" l="l" r="r" t="t"/>
            <a:pathLst>
              <a:path extrusionOk="0" h="911" w="1103">
                <a:moveTo>
                  <a:pt x="0" y="910"/>
                </a:moveTo>
                <a:lnTo>
                  <a:pt x="116" y="899"/>
                </a:lnTo>
                <a:lnTo>
                  <a:pt x="174" y="889"/>
                </a:lnTo>
                <a:lnTo>
                  <a:pt x="234" y="872"/>
                </a:lnTo>
                <a:lnTo>
                  <a:pt x="290" y="852"/>
                </a:lnTo>
                <a:lnTo>
                  <a:pt x="349" y="825"/>
                </a:lnTo>
                <a:lnTo>
                  <a:pt x="405" y="787"/>
                </a:lnTo>
                <a:lnTo>
                  <a:pt x="521" y="683"/>
                </a:lnTo>
                <a:lnTo>
                  <a:pt x="637" y="533"/>
                </a:lnTo>
                <a:lnTo>
                  <a:pt x="755" y="356"/>
                </a:lnTo>
                <a:lnTo>
                  <a:pt x="811" y="265"/>
                </a:lnTo>
                <a:lnTo>
                  <a:pt x="870" y="181"/>
                </a:lnTo>
                <a:lnTo>
                  <a:pt x="927" y="107"/>
                </a:lnTo>
                <a:lnTo>
                  <a:pt x="986" y="49"/>
                </a:lnTo>
                <a:lnTo>
                  <a:pt x="1042" y="14"/>
                </a:lnTo>
                <a:lnTo>
                  <a:pt x="1102" y="0"/>
                </a:lnTo>
              </a:path>
            </a:pathLst>
          </a:custGeom>
          <a:noFill/>
          <a:ln cap="rnd" cmpd="sng" w="25400">
            <a:solidFill>
              <a:srgbClr val="00E4A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6339393" y="3058075"/>
            <a:ext cx="963896" cy="1315138"/>
          </a:xfrm>
          <a:custGeom>
            <a:rect b="b" l="l" r="r" t="t"/>
            <a:pathLst>
              <a:path extrusionOk="0" h="911" w="1151">
                <a:moveTo>
                  <a:pt x="1150" y="910"/>
                </a:moveTo>
                <a:lnTo>
                  <a:pt x="1029" y="899"/>
                </a:lnTo>
                <a:lnTo>
                  <a:pt x="969" y="889"/>
                </a:lnTo>
                <a:lnTo>
                  <a:pt x="906" y="872"/>
                </a:lnTo>
                <a:lnTo>
                  <a:pt x="848" y="852"/>
                </a:lnTo>
                <a:lnTo>
                  <a:pt x="786" y="825"/>
                </a:lnTo>
                <a:lnTo>
                  <a:pt x="727" y="787"/>
                </a:lnTo>
                <a:lnTo>
                  <a:pt x="604" y="683"/>
                </a:lnTo>
                <a:lnTo>
                  <a:pt x="483" y="533"/>
                </a:lnTo>
                <a:lnTo>
                  <a:pt x="363" y="356"/>
                </a:lnTo>
                <a:lnTo>
                  <a:pt x="302" y="265"/>
                </a:lnTo>
                <a:lnTo>
                  <a:pt x="240" y="181"/>
                </a:lnTo>
                <a:lnTo>
                  <a:pt x="181" y="107"/>
                </a:lnTo>
                <a:lnTo>
                  <a:pt x="119" y="49"/>
                </a:lnTo>
                <a:lnTo>
                  <a:pt x="60" y="14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5365350" y="3058075"/>
            <a:ext cx="963896" cy="1315138"/>
          </a:xfrm>
          <a:custGeom>
            <a:rect b="b" l="l" r="r" t="t"/>
            <a:pathLst>
              <a:path extrusionOk="0" h="911" w="1151">
                <a:moveTo>
                  <a:pt x="0" y="910"/>
                </a:moveTo>
                <a:lnTo>
                  <a:pt x="121" y="899"/>
                </a:lnTo>
                <a:lnTo>
                  <a:pt x="181" y="889"/>
                </a:lnTo>
                <a:lnTo>
                  <a:pt x="244" y="872"/>
                </a:lnTo>
                <a:lnTo>
                  <a:pt x="302" y="852"/>
                </a:lnTo>
                <a:lnTo>
                  <a:pt x="365" y="825"/>
                </a:lnTo>
                <a:lnTo>
                  <a:pt x="423" y="787"/>
                </a:lnTo>
                <a:lnTo>
                  <a:pt x="544" y="683"/>
                </a:lnTo>
                <a:lnTo>
                  <a:pt x="665" y="533"/>
                </a:lnTo>
                <a:lnTo>
                  <a:pt x="787" y="356"/>
                </a:lnTo>
                <a:lnTo>
                  <a:pt x="846" y="265"/>
                </a:lnTo>
                <a:lnTo>
                  <a:pt x="908" y="181"/>
                </a:lnTo>
                <a:lnTo>
                  <a:pt x="967" y="107"/>
                </a:lnTo>
                <a:lnTo>
                  <a:pt x="1029" y="49"/>
                </a:lnTo>
                <a:lnTo>
                  <a:pt x="1088" y="14"/>
                </a:lnTo>
                <a:lnTo>
                  <a:pt x="1150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7939607" y="3058075"/>
            <a:ext cx="1043617" cy="1315138"/>
          </a:xfrm>
          <a:custGeom>
            <a:rect b="b" l="l" r="r" t="t"/>
            <a:pathLst>
              <a:path extrusionOk="0" h="911" w="1247">
                <a:moveTo>
                  <a:pt x="1246" y="910"/>
                </a:moveTo>
                <a:lnTo>
                  <a:pt x="1115" y="899"/>
                </a:lnTo>
                <a:lnTo>
                  <a:pt x="1050" y="889"/>
                </a:lnTo>
                <a:lnTo>
                  <a:pt x="982" y="872"/>
                </a:lnTo>
                <a:lnTo>
                  <a:pt x="919" y="852"/>
                </a:lnTo>
                <a:lnTo>
                  <a:pt x="851" y="825"/>
                </a:lnTo>
                <a:lnTo>
                  <a:pt x="788" y="787"/>
                </a:lnTo>
                <a:lnTo>
                  <a:pt x="655" y="683"/>
                </a:lnTo>
                <a:lnTo>
                  <a:pt x="524" y="533"/>
                </a:lnTo>
                <a:lnTo>
                  <a:pt x="393" y="356"/>
                </a:lnTo>
                <a:lnTo>
                  <a:pt x="327" y="265"/>
                </a:lnTo>
                <a:lnTo>
                  <a:pt x="260" y="181"/>
                </a:lnTo>
                <a:lnTo>
                  <a:pt x="196" y="107"/>
                </a:lnTo>
                <a:lnTo>
                  <a:pt x="129" y="49"/>
                </a:lnTo>
                <a:lnTo>
                  <a:pt x="65" y="14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6895989" y="3058075"/>
            <a:ext cx="1029124" cy="1313694"/>
          </a:xfrm>
          <a:custGeom>
            <a:rect b="b" l="l" r="r" t="t"/>
            <a:pathLst>
              <a:path extrusionOk="0" h="910" w="710">
                <a:moveTo>
                  <a:pt x="0" y="910"/>
                </a:moveTo>
                <a:lnTo>
                  <a:pt x="73" y="899"/>
                </a:lnTo>
                <a:lnTo>
                  <a:pt x="109" y="889"/>
                </a:lnTo>
                <a:lnTo>
                  <a:pt x="147" y="872"/>
                </a:lnTo>
                <a:lnTo>
                  <a:pt x="182" y="852"/>
                </a:lnTo>
                <a:lnTo>
                  <a:pt x="219" y="825"/>
                </a:lnTo>
                <a:lnTo>
                  <a:pt x="255" y="787"/>
                </a:lnTo>
                <a:lnTo>
                  <a:pt x="327" y="683"/>
                </a:lnTo>
                <a:lnTo>
                  <a:pt x="399" y="533"/>
                </a:lnTo>
                <a:lnTo>
                  <a:pt x="473" y="356"/>
                </a:lnTo>
                <a:lnTo>
                  <a:pt x="508" y="265"/>
                </a:lnTo>
                <a:lnTo>
                  <a:pt x="546" y="181"/>
                </a:lnTo>
                <a:lnTo>
                  <a:pt x="581" y="107"/>
                </a:lnTo>
                <a:lnTo>
                  <a:pt x="619" y="49"/>
                </a:lnTo>
                <a:lnTo>
                  <a:pt x="654" y="14"/>
                </a:lnTo>
                <a:lnTo>
                  <a:pt x="710" y="0"/>
                </a:lnTo>
              </a:path>
            </a:pathLst>
          </a:custGeom>
          <a:noFill/>
          <a:ln cap="rnd" cmpd="sng" w="25400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0"/>
          <p:cNvSpPr txBox="1"/>
          <p:nvPr>
            <p:ph idx="1" type="body"/>
          </p:nvPr>
        </p:nvSpPr>
        <p:spPr>
          <a:xfrm>
            <a:off x="4696825" y="1101200"/>
            <a:ext cx="4286400" cy="11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HA: At least one population mean differs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2389950" y="4532225"/>
            <a:ext cx="4858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ANOVA tells us a difference exists, but not which groups differ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Decomposition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356" name="Google Shape;356;p21"/>
          <p:cNvSpPr txBox="1"/>
          <p:nvPr>
            <p:ph idx="1" type="body"/>
          </p:nvPr>
        </p:nvSpPr>
        <p:spPr>
          <a:xfrm>
            <a:off x="311700" y="1152475"/>
            <a:ext cx="412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Sum Of Squared Variation Within Groups (SSW)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arenR"/>
            </a:pPr>
            <a:r>
              <a:rPr lang="en" sz="1100"/>
              <a:t>Calculate the mean of each group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 sz="1100"/>
              <a:t>Calculate differences between each observation and its group’s mean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 sz="1100"/>
              <a:t>Square the differences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 sz="1100"/>
              <a:t>Add up all the squared differences = SSW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is within-group variation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SSW = Unexplained / residual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"/>
          <p:cNvSpPr txBox="1"/>
          <p:nvPr>
            <p:ph idx="1" type="body"/>
          </p:nvPr>
        </p:nvSpPr>
        <p:spPr>
          <a:xfrm>
            <a:off x="4708800" y="1152475"/>
            <a:ext cx="412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Sum Of Squared Variation Among Groups (SSA)</a:t>
            </a:r>
            <a:endParaRPr sz="3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Calculate the mean for all observations (grand mean)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Calculate</a:t>
            </a:r>
            <a:r>
              <a:rPr lang="en"/>
              <a:t> the mean for each group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Calculate the differences between each group’s mean and the grand mean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Square the differences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Multiply each group’s squared difference by the number of observations in each group to weight the values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Add up all the multiplied squared differences = SSA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between group variation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SSA = Explained by group membership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"/>
          <p:cNvSpPr txBox="1"/>
          <p:nvPr>
            <p:ph type="title"/>
          </p:nvPr>
        </p:nvSpPr>
        <p:spPr>
          <a:xfrm>
            <a:off x="408450" y="420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00"/>
              <a:t>Total Variation (SST) = Within Group Variation (SSW) + Among Group Variation (SSA)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00"/>
              <a:t>	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SSW (Within-Group Variation)</a:t>
            </a:r>
            <a:endParaRPr/>
          </a:p>
        </p:txBody>
      </p:sp>
      <p:sp>
        <p:nvSpPr>
          <p:cNvPr id="364" name="Google Shape;364;p22"/>
          <p:cNvSpPr txBox="1"/>
          <p:nvPr>
            <p:ph idx="1" type="body"/>
          </p:nvPr>
        </p:nvSpPr>
        <p:spPr>
          <a:xfrm>
            <a:off x="311700" y="1388500"/>
            <a:ext cx="329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Variation inside each group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Measures natural variability in the data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Measures noise within groups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Steps:</a:t>
            </a:r>
            <a:endParaRPr sz="1700"/>
          </a:p>
          <a:p>
            <a:pPr indent="-32035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Calculate</a:t>
            </a:r>
            <a:r>
              <a:rPr lang="en" sz="1700"/>
              <a:t> mean of each group</a:t>
            </a:r>
            <a:endParaRPr sz="1700"/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Calculate each observation’s difference from its group mean</a:t>
            </a:r>
            <a:endParaRPr sz="1700"/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Square the differences</a:t>
            </a:r>
            <a:endParaRPr sz="1700"/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700"/>
              <a:t>Sum them up!</a:t>
            </a:r>
            <a:endParaRPr sz="1700"/>
          </a:p>
        </p:txBody>
      </p:sp>
      <p:pic>
        <p:nvPicPr>
          <p:cNvPr id="365" name="Google Shape;3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725" y="1152475"/>
            <a:ext cx="4534575" cy="351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SSA (Between-Group Variation)</a:t>
            </a:r>
            <a:endParaRPr/>
          </a:p>
        </p:txBody>
      </p:sp>
      <p:sp>
        <p:nvSpPr>
          <p:cNvPr id="371" name="Google Shape;371;p23"/>
          <p:cNvSpPr txBox="1"/>
          <p:nvPr>
            <p:ph idx="1" type="body"/>
          </p:nvPr>
        </p:nvSpPr>
        <p:spPr>
          <a:xfrm>
            <a:off x="1303800" y="11701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Variation between group means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Measures how far group means are from the grand mean</a:t>
            </a:r>
            <a:endParaRPr sz="1500"/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500"/>
              <a:t>Compute the grand mean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500"/>
              <a:t>Compute each group mean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500"/>
              <a:t>Subtract the grand mean from each group mean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500"/>
              <a:t>Square the differences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500"/>
              <a:t>Multiply by the group sample size 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 sz="1500"/>
              <a:t>Sum results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Large SSA means group means are far from the grand mean</a:t>
            </a:r>
            <a:endParaRPr sz="1500"/>
          </a:p>
        </p:txBody>
      </p:sp>
      <p:pic>
        <p:nvPicPr>
          <p:cNvPr id="372" name="Google Shape;3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711700"/>
            <a:ext cx="8520599" cy="1431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Squares and the F Statistic </a:t>
            </a:r>
            <a:endParaRPr/>
          </a:p>
        </p:txBody>
      </p:sp>
      <p:sp>
        <p:nvSpPr>
          <p:cNvPr id="378" name="Google Shape;378;p24"/>
          <p:cNvSpPr txBox="1"/>
          <p:nvPr>
            <p:ph idx="1" type="body"/>
          </p:nvPr>
        </p:nvSpPr>
        <p:spPr>
          <a:xfrm>
            <a:off x="1303800" y="17204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Mean Square Among (MSA)</a:t>
            </a:r>
            <a:r>
              <a:rPr lang="en" sz="1600"/>
              <a:t> = SSA / (c - 1), where c is the number of categories.  (In our example, c =3)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Mean Square Within (MSW) </a:t>
            </a:r>
            <a:r>
              <a:rPr lang="en" sz="1600"/>
              <a:t>= SSW / (n - c), where n is the total sample size from all groups and c is the number of categories.  (In our example, n=15)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F Statistic = MSA / MSW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Interpretation: Large F = Between-group variation is large relative to within group variation = Evidence that group </a:t>
            </a:r>
            <a:r>
              <a:rPr b="1" lang="en" sz="1600"/>
              <a:t>means</a:t>
            </a:r>
            <a:r>
              <a:rPr b="1" lang="en" sz="1600"/>
              <a:t> differ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If group means are similar, MSA and MSW should be similar so F = 1</a:t>
            </a:r>
            <a:endParaRPr b="1"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 Test</a:t>
            </a:r>
            <a:endParaRPr/>
          </a:p>
        </p:txBody>
      </p:sp>
      <p:sp>
        <p:nvSpPr>
          <p:cNvPr id="384" name="Google Shape;384;p25"/>
          <p:cNvSpPr txBox="1"/>
          <p:nvPr>
            <p:ph idx="1" type="body"/>
          </p:nvPr>
        </p:nvSpPr>
        <p:spPr>
          <a:xfrm>
            <a:off x="311700" y="1467175"/>
            <a:ext cx="4343100" cy="21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 distribution is right-skewed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Large F values indicate evidence against the null hypothesis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Df1 = c - 1 and df2 = n - c (where c = number of categories)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Given alpha, df1, and df2, find F critical value from the F dist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Reject H0 when F &gt; CV or p &lt; alpha</a:t>
            </a:r>
            <a:endParaRPr sz="1700"/>
          </a:p>
        </p:txBody>
      </p:sp>
      <p:sp>
        <p:nvSpPr>
          <p:cNvPr id="385" name="Google Shape;385;p25"/>
          <p:cNvSpPr/>
          <p:nvPr/>
        </p:nvSpPr>
        <p:spPr>
          <a:xfrm>
            <a:off x="3071510" y="4060132"/>
            <a:ext cx="1150956" cy="150313"/>
          </a:xfrm>
          <a:custGeom>
            <a:rect b="b" l="l" r="r" t="t"/>
            <a:pathLst>
              <a:path extrusionOk="0" h="154" w="980">
                <a:moveTo>
                  <a:pt x="4" y="154"/>
                </a:moveTo>
                <a:lnTo>
                  <a:pt x="0" y="0"/>
                </a:lnTo>
                <a:lnTo>
                  <a:pt x="83" y="39"/>
                </a:lnTo>
                <a:lnTo>
                  <a:pt x="154" y="61"/>
                </a:lnTo>
                <a:lnTo>
                  <a:pt x="209" y="76"/>
                </a:lnTo>
                <a:lnTo>
                  <a:pt x="283" y="91"/>
                </a:lnTo>
                <a:lnTo>
                  <a:pt x="428" y="111"/>
                </a:lnTo>
                <a:lnTo>
                  <a:pt x="592" y="126"/>
                </a:lnTo>
                <a:lnTo>
                  <a:pt x="979" y="141"/>
                </a:lnTo>
                <a:lnTo>
                  <a:pt x="980" y="154"/>
                </a:lnTo>
              </a:path>
            </a:pathLst>
          </a:custGeom>
          <a:solidFill>
            <a:srgbClr val="FFCF01"/>
          </a:solidFill>
          <a:ln>
            <a:noFill/>
          </a:ln>
        </p:spPr>
        <p:txBody>
          <a:bodyPr anchorCtr="0" anchor="t" bIns="42800" lIns="85675" spcFirstLastPara="1" rIns="85675" wrap="square" tIns="42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9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1830121" y="3282979"/>
            <a:ext cx="2599053" cy="930664"/>
          </a:xfrm>
          <a:custGeom>
            <a:rect b="b" l="l" r="r" t="t"/>
            <a:pathLst>
              <a:path extrusionOk="0" h="1023" w="3388">
                <a:moveTo>
                  <a:pt x="0" y="0"/>
                </a:moveTo>
                <a:lnTo>
                  <a:pt x="0" y="1022"/>
                </a:lnTo>
                <a:lnTo>
                  <a:pt x="3387" y="1022"/>
                </a:lnTo>
              </a:path>
            </a:pathLst>
          </a:custGeom>
          <a:noFill/>
          <a:ln cap="rnd" cmpd="sng" w="23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00" lIns="85675" spcFirstLastPara="1" rIns="85675" wrap="square" tIns="42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9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1666874" y="4060132"/>
            <a:ext cx="338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50" lIns="84825" spcFirstLastPara="1" rIns="84825" wrap="square" tIns="41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249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" sz="3374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12"/>
          </a:p>
        </p:txBody>
      </p:sp>
      <p:sp>
        <p:nvSpPr>
          <p:cNvPr id="388" name="Google Shape;388;p25"/>
          <p:cNvSpPr/>
          <p:nvPr/>
        </p:nvSpPr>
        <p:spPr>
          <a:xfrm>
            <a:off x="1835994" y="3292574"/>
            <a:ext cx="2536807" cy="934927"/>
          </a:xfrm>
          <a:custGeom>
            <a:rect b="b" l="l" r="r" t="t"/>
            <a:pathLst>
              <a:path extrusionOk="0" h="1021" w="3492">
                <a:moveTo>
                  <a:pt x="0" y="1011"/>
                </a:moveTo>
                <a:cubicBezTo>
                  <a:pt x="27" y="982"/>
                  <a:pt x="43" y="1005"/>
                  <a:pt x="162" y="837"/>
                </a:cubicBezTo>
                <a:cubicBezTo>
                  <a:pt x="281" y="669"/>
                  <a:pt x="453" y="0"/>
                  <a:pt x="714" y="3"/>
                </a:cubicBezTo>
                <a:cubicBezTo>
                  <a:pt x="975" y="6"/>
                  <a:pt x="1265" y="689"/>
                  <a:pt x="1728" y="855"/>
                </a:cubicBezTo>
                <a:cubicBezTo>
                  <a:pt x="2191" y="1021"/>
                  <a:pt x="3125" y="969"/>
                  <a:pt x="3492" y="999"/>
                </a:cubicBezTo>
              </a:path>
            </a:pathLst>
          </a:custGeom>
          <a:noFill/>
          <a:ln cap="flat" cmpd="sng" w="35675">
            <a:solidFill>
              <a:srgbClr val="3333CC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2800" lIns="85675" spcFirstLastPara="1" rIns="85675" wrap="square" tIns="42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9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25"/>
          <p:cNvCxnSpPr/>
          <p:nvPr/>
        </p:nvCxnSpPr>
        <p:spPr>
          <a:xfrm>
            <a:off x="3076207" y="4060132"/>
            <a:ext cx="900" cy="153300"/>
          </a:xfrm>
          <a:prstGeom prst="straightConnector1">
            <a:avLst/>
          </a:prstGeom>
          <a:noFill/>
          <a:ln cap="flat" cmpd="sng" w="178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0" name="Google Shape;390;p25"/>
          <p:cNvCxnSpPr/>
          <p:nvPr/>
        </p:nvCxnSpPr>
        <p:spPr>
          <a:xfrm flipH="1">
            <a:off x="3301621" y="3906620"/>
            <a:ext cx="169200" cy="204600"/>
          </a:xfrm>
          <a:prstGeom prst="straightConnector1">
            <a:avLst/>
          </a:prstGeom>
          <a:noFill/>
          <a:ln cap="flat" cmpd="sng" w="89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91" name="Google Shape;391;p25"/>
          <p:cNvSpPr txBox="1"/>
          <p:nvPr/>
        </p:nvSpPr>
        <p:spPr>
          <a:xfrm>
            <a:off x="3414447" y="3692344"/>
            <a:ext cx="282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00" lIns="85675" spcFirstLastPara="1" rIns="85675" wrap="square" tIns="42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" sz="1874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endParaRPr sz="1312"/>
          </a:p>
        </p:txBody>
      </p:sp>
      <p:cxnSp>
        <p:nvCxnSpPr>
          <p:cNvPr id="392" name="Google Shape;392;p25"/>
          <p:cNvCxnSpPr/>
          <p:nvPr/>
        </p:nvCxnSpPr>
        <p:spPr>
          <a:xfrm rot="10800000">
            <a:off x="3076207" y="4213467"/>
            <a:ext cx="0" cy="307200"/>
          </a:xfrm>
          <a:prstGeom prst="straightConnector1">
            <a:avLst/>
          </a:prstGeom>
          <a:noFill/>
          <a:ln cap="flat" cmpd="sng" w="3567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93" name="Google Shape;393;p25"/>
          <p:cNvCxnSpPr/>
          <p:nvPr/>
        </p:nvCxnSpPr>
        <p:spPr>
          <a:xfrm rot="10800000">
            <a:off x="1892107" y="4367155"/>
            <a:ext cx="1184100" cy="0"/>
          </a:xfrm>
          <a:prstGeom prst="straightConnector1">
            <a:avLst/>
          </a:prstGeom>
          <a:noFill/>
          <a:ln cap="flat" cmpd="sng" w="8925">
            <a:solidFill>
              <a:srgbClr val="0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94" name="Google Shape;394;p25"/>
          <p:cNvCxnSpPr/>
          <p:nvPr/>
        </p:nvCxnSpPr>
        <p:spPr>
          <a:xfrm rot="10800000">
            <a:off x="3076274" y="4367155"/>
            <a:ext cx="1127400" cy="0"/>
          </a:xfrm>
          <a:prstGeom prst="straightConnector1">
            <a:avLst/>
          </a:prstGeom>
          <a:noFill/>
          <a:ln cap="flat" cmpd="sng" w="8925">
            <a:solidFill>
              <a:srgbClr val="0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95" name="Google Shape;395;p25"/>
          <p:cNvSpPr txBox="1"/>
          <p:nvPr/>
        </p:nvSpPr>
        <p:spPr>
          <a:xfrm>
            <a:off x="3301703" y="4315977"/>
            <a:ext cx="986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50" lIns="84825" spcFirstLastPara="1" rIns="84825" wrap="square" tIns="41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" sz="1312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Reject H</a:t>
            </a:r>
            <a:r>
              <a:rPr b="0" baseline="-25000" i="0" lang="en" sz="1312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312"/>
          </a:p>
        </p:txBody>
      </p:sp>
      <p:sp>
        <p:nvSpPr>
          <p:cNvPr id="396" name="Google Shape;396;p25"/>
          <p:cNvSpPr txBox="1"/>
          <p:nvPr/>
        </p:nvSpPr>
        <p:spPr>
          <a:xfrm>
            <a:off x="2146026" y="4367155"/>
            <a:ext cx="8694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50" lIns="84825" spcFirstLastPara="1" rIns="84825" wrap="square" tIns="41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" sz="1312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</a:t>
            </a:r>
            <a:endParaRPr sz="1312"/>
          </a:p>
          <a:p>
            <a:pPr indent="0" lvl="0" marL="0" marR="0" rtl="0" algn="l">
              <a:lnSpc>
                <a:spcPct val="20000"/>
              </a:lnSpc>
              <a:spcBef>
                <a:spcPts val="656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" sz="1312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reject H</a:t>
            </a:r>
            <a:r>
              <a:rPr b="0" baseline="-25000" i="0" lang="en" sz="1312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312"/>
          </a:p>
        </p:txBody>
      </p:sp>
      <p:sp>
        <p:nvSpPr>
          <p:cNvPr id="397" name="Google Shape;397;p25"/>
          <p:cNvSpPr txBox="1"/>
          <p:nvPr/>
        </p:nvSpPr>
        <p:spPr>
          <a:xfrm>
            <a:off x="2963461" y="4511073"/>
            <a:ext cx="450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50" lIns="84825" spcFirstLastPara="1" rIns="84825" wrap="square" tIns="41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75"/>
              <a:buFont typeface="Arial"/>
              <a:buNone/>
            </a:pPr>
            <a:r>
              <a:rPr b="1" i="0" lang="en" sz="1874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i="0" lang="en" sz="1874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endParaRPr sz="1312"/>
          </a:p>
        </p:txBody>
      </p:sp>
      <p:pic>
        <p:nvPicPr>
          <p:cNvPr id="398" name="Google Shape;39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315" y="1096399"/>
            <a:ext cx="3918984" cy="384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"/>
          <p:cNvSpPr txBox="1"/>
          <p:nvPr>
            <p:ph type="title"/>
          </p:nvPr>
        </p:nvSpPr>
        <p:spPr>
          <a:xfrm>
            <a:off x="1303800" y="4117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F-Statistic and Critical Value</a:t>
            </a:r>
            <a:endParaRPr/>
          </a:p>
        </p:txBody>
      </p:sp>
      <p:sp>
        <p:nvSpPr>
          <p:cNvPr id="404" name="Google Shape;404;p26"/>
          <p:cNvSpPr txBox="1"/>
          <p:nvPr>
            <p:ph idx="1" type="body"/>
          </p:nvPr>
        </p:nvSpPr>
        <p:spPr>
          <a:xfrm>
            <a:off x="311700" y="1152475"/>
            <a:ext cx="443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 Statistic</a:t>
            </a:r>
            <a:r>
              <a:rPr lang="en"/>
              <a:t> = MSA / MSW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Consult an F table for that level of confidence where df1 = c - 1 and df2 = n - 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 = 41.23 and CV = 3.89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Since F &gt; CV reject the null hypothesis that all group means are equal.</a:t>
            </a:r>
            <a:endParaRPr/>
          </a:p>
        </p:txBody>
      </p:sp>
      <p:pic>
        <p:nvPicPr>
          <p:cNvPr id="405" name="Google Shape;4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100" y="1152475"/>
            <a:ext cx="2909500" cy="131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3315" y="1017724"/>
            <a:ext cx="3918984" cy="384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987" y="2470004"/>
            <a:ext cx="3129026" cy="232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8600" y="445028"/>
            <a:ext cx="5815798" cy="16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7"/>
          <p:cNvSpPr txBox="1"/>
          <p:nvPr/>
        </p:nvSpPr>
        <p:spPr>
          <a:xfrm>
            <a:off x="7071075" y="2842200"/>
            <a:ext cx="17505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If p&lt;alpha, reject null hypothesis that all group means are  equal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14" name="Google Shape;414;p27"/>
          <p:cNvCxnSpPr/>
          <p:nvPr/>
        </p:nvCxnSpPr>
        <p:spPr>
          <a:xfrm rot="10800000">
            <a:off x="7021825" y="1966850"/>
            <a:ext cx="600000" cy="9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50" y="525550"/>
            <a:ext cx="4572000" cy="4006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850" y="604388"/>
            <a:ext cx="4139351" cy="29239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1" name="Google Shape;421;p28"/>
          <p:cNvCxnSpPr/>
          <p:nvPr/>
        </p:nvCxnSpPr>
        <p:spPr>
          <a:xfrm rot="10800000">
            <a:off x="5694200" y="3560150"/>
            <a:ext cx="49200" cy="117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28"/>
          <p:cNvCxnSpPr/>
          <p:nvPr/>
        </p:nvCxnSpPr>
        <p:spPr>
          <a:xfrm rot="10800000">
            <a:off x="8157750" y="1509725"/>
            <a:ext cx="890100" cy="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" name="Google Shape;423;p28"/>
          <p:cNvSpPr txBox="1"/>
          <p:nvPr/>
        </p:nvSpPr>
        <p:spPr>
          <a:xfrm>
            <a:off x="5035325" y="4779625"/>
            <a:ext cx="28128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Fail to reject null since p &gt; alpha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73" y="598575"/>
            <a:ext cx="4614651" cy="413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4500" y="657575"/>
            <a:ext cx="4118575" cy="26890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29"/>
          <p:cNvCxnSpPr/>
          <p:nvPr/>
        </p:nvCxnSpPr>
        <p:spPr>
          <a:xfrm rot="10800000">
            <a:off x="5812200" y="3353625"/>
            <a:ext cx="186900" cy="94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29"/>
          <p:cNvCxnSpPr/>
          <p:nvPr/>
        </p:nvCxnSpPr>
        <p:spPr>
          <a:xfrm rot="10800000">
            <a:off x="8595450" y="1573450"/>
            <a:ext cx="452400" cy="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29"/>
          <p:cNvSpPr txBox="1"/>
          <p:nvPr/>
        </p:nvSpPr>
        <p:spPr>
          <a:xfrm>
            <a:off x="5517225" y="4405900"/>
            <a:ext cx="3294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Reject the null since p &lt; alpha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Hoc Testing: Tukey-Kramer </a:t>
            </a:r>
            <a:endParaRPr/>
          </a:p>
        </p:txBody>
      </p:sp>
      <p:sp>
        <p:nvSpPr>
          <p:cNvPr id="438" name="Google Shape;438;p3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a significant ANOVA result we need to determine which groups differ.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Tukey-Kramer: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Compares all pairwise differences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Controls familywise Type 1 error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Works with unequal sample sizes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 shows: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Mean differences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Confidence intervals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Adjusted p-values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Tukey-Kramer </a:t>
            </a:r>
            <a:endParaRPr/>
          </a:p>
        </p:txBody>
      </p:sp>
      <p:pic>
        <p:nvPicPr>
          <p:cNvPr id="444" name="Google Shape;4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75" y="1791525"/>
            <a:ext cx="4094375" cy="171944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1"/>
          <p:cNvSpPr txBox="1"/>
          <p:nvPr/>
        </p:nvSpPr>
        <p:spPr>
          <a:xfrm>
            <a:off x="875275" y="4514075"/>
            <a:ext cx="7030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Tests each pairwise difference without inflating risk of type one error (as would be the case with six pairwise t-tests)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6" name="Google Shape;44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600" y="1791525"/>
            <a:ext cx="4632074" cy="1886526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1"/>
          <p:cNvSpPr txBox="1"/>
          <p:nvPr/>
        </p:nvSpPr>
        <p:spPr>
          <a:xfrm>
            <a:off x="1229325" y="3727325"/>
            <a:ext cx="15048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All differences are significant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5020550" y="37267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Difference between CS and Sociology is insignificant			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Size in ANOVA</a:t>
            </a:r>
            <a:endParaRPr/>
          </a:p>
        </p:txBody>
      </p:sp>
      <p:sp>
        <p:nvSpPr>
          <p:cNvPr id="454" name="Google Shape;454;p3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Differences can be statistically significant but practically insignificant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With huge samples, even tiny differences can be significant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ANOVA effect size tells us how much of the variation in the outcome is explained by the factors included in the model, not just </a:t>
            </a:r>
            <a:r>
              <a:rPr lang="en" sz="1800"/>
              <a:t>whether</a:t>
            </a:r>
            <a:r>
              <a:rPr lang="en" sz="1800"/>
              <a:t> the effect is statistically significant 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Size in ANOVA</a:t>
            </a:r>
            <a:endParaRPr/>
          </a:p>
        </p:txBody>
      </p:sp>
      <p:sp>
        <p:nvSpPr>
          <p:cNvPr id="460" name="Google Shape;460;p3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One-Way: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Eta-squared: SSA / SST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Ex: 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SST = SSA + SSW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SST = 3.260960e10 + 9.105228e10 = 1.2366188e11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Eta-squared = 3.260960e10 / 1.2366188e11 = 0.264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Eta-squared = 0.264 = 26% of the variation in salary is explained by major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05"/>
          </a:p>
        </p:txBody>
      </p:sp>
      <p:pic>
        <p:nvPicPr>
          <p:cNvPr id="461" name="Google Shape;46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930" y="1206225"/>
            <a:ext cx="3340644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Size in ANOVA</a:t>
            </a:r>
            <a:endParaRPr/>
          </a:p>
        </p:txBody>
      </p:sp>
      <p:sp>
        <p:nvSpPr>
          <p:cNvPr id="467" name="Google Shape;467;p34"/>
          <p:cNvSpPr txBox="1"/>
          <p:nvPr>
            <p:ph idx="1" type="body"/>
          </p:nvPr>
        </p:nvSpPr>
        <p:spPr>
          <a:xfrm>
            <a:off x="1303800" y="1990050"/>
            <a:ext cx="3696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Two-Way: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Partial Eta-squared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SSeffect / (SSeffect + SSerror)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5.555865e08 / (</a:t>
            </a:r>
            <a:r>
              <a:rPr lang="en"/>
              <a:t>5.555865e08 + 1.036290e11) = 0.0053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Major explains 0.53% of the variance after controlling for the other factors </a:t>
            </a:r>
            <a:endParaRPr/>
          </a:p>
        </p:txBody>
      </p:sp>
      <p:pic>
        <p:nvPicPr>
          <p:cNvPr id="468" name="Google Shape;4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625" y="1230325"/>
            <a:ext cx="4314849" cy="17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Way ANOVA</a:t>
            </a:r>
            <a:endParaRPr/>
          </a:p>
        </p:txBody>
      </p:sp>
      <p:sp>
        <p:nvSpPr>
          <p:cNvPr id="474" name="Google Shape;474;p35"/>
          <p:cNvSpPr txBox="1"/>
          <p:nvPr>
            <p:ph idx="1" type="body"/>
          </p:nvPr>
        </p:nvSpPr>
        <p:spPr>
          <a:xfrm>
            <a:off x="1303800" y="1300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when there are two factors /  categorical predictors (college major, school type)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Tests main effect of each factor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Also tests effect of interaction between factors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Example interaction: Does choice of major </a:t>
            </a:r>
            <a:r>
              <a:rPr lang="en"/>
              <a:t>affect</a:t>
            </a:r>
            <a:r>
              <a:rPr lang="en"/>
              <a:t> salaries differently for private school students than it does for public school students</a:t>
            </a:r>
            <a:endParaRPr/>
          </a:p>
        </p:txBody>
      </p:sp>
      <p:pic>
        <p:nvPicPr>
          <p:cNvPr id="475" name="Google Shape;4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27" y="3348800"/>
            <a:ext cx="3837501" cy="170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2326" y="3142100"/>
            <a:ext cx="2686574" cy="184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280" y="171049"/>
            <a:ext cx="5399432" cy="24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6425" y="2712825"/>
            <a:ext cx="5351152" cy="216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6"/>
          <p:cNvSpPr txBox="1"/>
          <p:nvPr/>
        </p:nvSpPr>
        <p:spPr>
          <a:xfrm>
            <a:off x="7562825" y="1170325"/>
            <a:ext cx="13965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Ins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ignificant differences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4" name="Google Shape;484;p36"/>
          <p:cNvSpPr txBox="1"/>
          <p:nvPr/>
        </p:nvSpPr>
        <p:spPr>
          <a:xfrm>
            <a:off x="7513675" y="2979900"/>
            <a:ext cx="14457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Significant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differences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for major and school type, not for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interaction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This suggests the effect of major does not vary based on school type.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987" y="2470004"/>
            <a:ext cx="3129026" cy="232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8600" y="445028"/>
            <a:ext cx="5815798" cy="16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7"/>
          <p:cNvSpPr txBox="1"/>
          <p:nvPr/>
        </p:nvSpPr>
        <p:spPr>
          <a:xfrm>
            <a:off x="7071075" y="2842200"/>
            <a:ext cx="17505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If p&lt;alpha, reject null of equal means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92" name="Google Shape;492;p37"/>
          <p:cNvCxnSpPr/>
          <p:nvPr/>
        </p:nvCxnSpPr>
        <p:spPr>
          <a:xfrm rot="10800000">
            <a:off x="7021825" y="1966850"/>
            <a:ext cx="600000" cy="9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3" name="Google Shape;493;p37"/>
          <p:cNvSpPr txBox="1"/>
          <p:nvPr/>
        </p:nvSpPr>
        <p:spPr>
          <a:xfrm>
            <a:off x="2987850" y="220575"/>
            <a:ext cx="577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Interpreting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 as Regression</a:t>
            </a:r>
            <a:endParaRPr/>
          </a:p>
        </p:txBody>
      </p:sp>
      <p:sp>
        <p:nvSpPr>
          <p:cNvPr id="499" name="Google Shape;499;p38"/>
          <p:cNvSpPr txBox="1"/>
          <p:nvPr>
            <p:ph idx="1" type="body"/>
          </p:nvPr>
        </p:nvSpPr>
        <p:spPr>
          <a:xfrm>
            <a:off x="1303800" y="1990050"/>
            <a:ext cx="3511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 for major (Education, Engineering,, Sociology) could be estimated as regression with dummy variables for all but one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Salary = B0 + B1(Education) + B2(Engineering)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B0 = mean salary for omitted group, B1…Bn = differences from </a:t>
            </a:r>
            <a:r>
              <a:rPr lang="en"/>
              <a:t>omitted</a:t>
            </a:r>
            <a:r>
              <a:rPr lang="en"/>
              <a:t> group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F-Test for regression tests </a:t>
            </a:r>
            <a:r>
              <a:rPr lang="en"/>
              <a:t>whether</a:t>
            </a:r>
            <a:r>
              <a:rPr lang="en"/>
              <a:t> all non-reference groups equal zero</a:t>
            </a:r>
            <a:endParaRPr/>
          </a:p>
        </p:txBody>
      </p:sp>
      <p:pic>
        <p:nvPicPr>
          <p:cNvPr id="500" name="Google Shape;5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325" y="1935475"/>
            <a:ext cx="4023898" cy="2181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9"/>
          <p:cNvSpPr txBox="1"/>
          <p:nvPr>
            <p:ph type="title"/>
          </p:nvPr>
        </p:nvSpPr>
        <p:spPr>
          <a:xfrm>
            <a:off x="1239425" y="121050"/>
            <a:ext cx="7474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Q-Q Plot and Histogram For Residual Normality (Again) </a:t>
            </a:r>
            <a:endParaRPr/>
          </a:p>
        </p:txBody>
      </p:sp>
      <p:pic>
        <p:nvPicPr>
          <p:cNvPr id="506" name="Google Shape;5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363" y="1120349"/>
            <a:ext cx="8087276" cy="402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 Violations</a:t>
            </a:r>
            <a:endParaRPr/>
          </a:p>
        </p:txBody>
      </p:sp>
      <p:sp>
        <p:nvSpPr>
          <p:cNvPr id="512" name="Google Shape;512;p4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Mild non-normality of residuals:: Probably not a problem (</a:t>
            </a:r>
            <a:r>
              <a:rPr lang="en"/>
              <a:t>especially</a:t>
            </a:r>
            <a:r>
              <a:rPr lang="en"/>
              <a:t> if sample sizes are large, group sizes are balanced, and no extreme outliers)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Non-normality driven by outliers: Check for data errors, decide if the outliers are worth keeping, consider “robust” methods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Strong skew or heavy tails: Transform the response variable via log or square-root transform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Use Welch ANOVA if </a:t>
            </a:r>
            <a:r>
              <a:rPr lang="en"/>
              <a:t>variances are unequal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If the data are very non-normal or ordinal, consider </a:t>
            </a:r>
            <a:r>
              <a:rPr lang="en"/>
              <a:t>non-parametric Kruskal-Wallis test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/>
              <a:t>If response variable is highly non-normal, it may be best to use another model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Repeated Measures</a:t>
            </a:r>
            <a:endParaRPr/>
          </a:p>
        </p:txBody>
      </p:sp>
      <p:sp>
        <p:nvSpPr>
          <p:cNvPr id="518" name="Google Shape;518;p4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observations are paired, like with T-test, use repeated measures ANOVA instead of one-way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Standard ANOVA assumes </a:t>
            </a:r>
            <a:r>
              <a:rPr lang="en"/>
              <a:t>independence, so it’s wrong!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Each object has its own baseline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 Non-Normality / Ordinal Outcome</a:t>
            </a:r>
            <a:endParaRPr/>
          </a:p>
        </p:txBody>
      </p:sp>
      <p:sp>
        <p:nvSpPr>
          <p:cNvPr id="524" name="Google Shape;524;p4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Kruskal-Wallis as the non-parametric version of one-way ANOVA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H0: All groups come from same </a:t>
            </a:r>
            <a:r>
              <a:rPr lang="en"/>
              <a:t>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HA: At least one group differs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Often interpreted as median differences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