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</p:sldIdLst>
  <p:sldSz cy="5143500" cx="9144000"/>
  <p:notesSz cx="6858000" cy="9144000"/>
  <p:embeddedFontLst>
    <p:embeddedFont>
      <p:font typeface="Nunito"/>
      <p:regular r:id="rId35"/>
      <p:bold r:id="rId36"/>
      <p:italic r:id="rId37"/>
      <p:boldItalic r:id="rId38"/>
    </p:embeddedFont>
    <p:embeddedFont>
      <p:font typeface="Maven Pro"/>
      <p:regular r:id="rId39"/>
      <p:bold r:id="rId40"/>
    </p:embeddedFont>
    <p:embeddedFont>
      <p:font typeface="Oswald"/>
      <p:regular r:id="rId41"/>
      <p:bold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avenPro-bold.fntdata"/><Relationship Id="rId20" Type="http://schemas.openxmlformats.org/officeDocument/2006/relationships/slide" Target="slides/slide15.xml"/><Relationship Id="rId42" Type="http://schemas.openxmlformats.org/officeDocument/2006/relationships/font" Target="fonts/Oswald-bold.fntdata"/><Relationship Id="rId41" Type="http://schemas.openxmlformats.org/officeDocument/2006/relationships/font" Target="fonts/Oswald-regular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font" Target="fonts/Nunito-regular.fntdata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font" Target="fonts/Nunito-italic.fntdata"/><Relationship Id="rId14" Type="http://schemas.openxmlformats.org/officeDocument/2006/relationships/slide" Target="slides/slide9.xml"/><Relationship Id="rId36" Type="http://schemas.openxmlformats.org/officeDocument/2006/relationships/font" Target="fonts/Nunito-bold.fntdata"/><Relationship Id="rId17" Type="http://schemas.openxmlformats.org/officeDocument/2006/relationships/slide" Target="slides/slide12.xml"/><Relationship Id="rId39" Type="http://schemas.openxmlformats.org/officeDocument/2006/relationships/font" Target="fonts/MavenPro-regular.fntdata"/><Relationship Id="rId16" Type="http://schemas.openxmlformats.org/officeDocument/2006/relationships/slide" Target="slides/slide11.xml"/><Relationship Id="rId38" Type="http://schemas.openxmlformats.org/officeDocument/2006/relationships/font" Target="fonts/Nunito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b8707c75e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2b8707c75e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3032354bd7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33032354bd7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cf0d0d6d5a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cf0d0d6d5a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cf0d0d6d5a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cf0d0d6d5a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b8707c75e7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b8707c75e7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2fdde5d87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2fdde5d87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2b8707c75e7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2b8707c75e7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2b8707c75e7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2b8707c75e7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2bf84c6ea0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2bf84c6ea0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2bf84c6ea0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2bf84c6ea0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2b8707c75e7_1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2b8707c75e7_1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2b8707c75e7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2b8707c75e7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2bf84c6ea0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2bf84c6ea0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fdc4af30c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fdc4af30c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3032354bd7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33032354bd7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33032354bd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33032354bd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cf0d0d6d5a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4" name="Google Shape;434;g3cf0d0d6d5a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2fdc4af30cb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2fdc4af30cb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cf0d0d6d5a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0" name="Google Shape;450;g3cf0d0d6d5a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cf0d0d6d5a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cf0d0d6d5a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cf0d0d6d5a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" name="Google Shape;463;g3cf0d0d6d5a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g2fdc4af30cb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0" name="Google Shape;470;g2fdc4af30cb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2fdc4af30cb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2fdc4af30cb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3cf0d0d6d5a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3cf0d0d6d5a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3cf0d0d6d5a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3cf0d0d6d5a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2fdde5d87d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2" name="Google Shape;502;g2fdde5d87d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cf0d0d6d5a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3cf0d0d6d5a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cf0d0d6d5a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4" name="Google Shape;514;g3cf0d0d6d5a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3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7343003" y="3409675"/>
            <a:ext cx="1691422" cy="1732548"/>
            <a:chOff x="7343003" y="3409675"/>
            <a:chExt cx="1691422" cy="1732548"/>
          </a:xfrm>
        </p:grpSpPr>
        <p:grpSp>
          <p:nvGrpSpPr>
            <p:cNvPr id="11" name="Google Shape;11;p2"/>
            <p:cNvGrpSpPr/>
            <p:nvPr/>
          </p:nvGrpSpPr>
          <p:grpSpPr>
            <a:xfrm>
              <a:off x="7343003" y="4453711"/>
              <a:ext cx="316800" cy="688513"/>
              <a:chOff x="7343003" y="4453711"/>
              <a:chExt cx="316800" cy="688513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7343003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7343003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" name="Google Shape;14;p2"/>
            <p:cNvGrpSpPr/>
            <p:nvPr/>
          </p:nvGrpSpPr>
          <p:grpSpPr>
            <a:xfrm>
              <a:off x="7801210" y="4105700"/>
              <a:ext cx="316800" cy="1036523"/>
              <a:chOff x="7801210" y="4105700"/>
              <a:chExt cx="316800" cy="1036523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7801210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7801210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7801210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" name="Google Shape;18;p2"/>
            <p:cNvGrpSpPr/>
            <p:nvPr/>
          </p:nvGrpSpPr>
          <p:grpSpPr>
            <a:xfrm>
              <a:off x="8259418" y="3757688"/>
              <a:ext cx="316800" cy="1384535"/>
              <a:chOff x="8259418" y="3757688"/>
              <a:chExt cx="316800" cy="1384535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8259418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8259418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8259418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8259418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8717625" y="3409675"/>
              <a:ext cx="316800" cy="1732548"/>
              <a:chOff x="8717625" y="3409675"/>
              <a:chExt cx="316800" cy="1732548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8717625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8717625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8717625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8717625" y="3409675"/>
                <a:ext cx="316800" cy="1732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8717625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9" name="Google Shape;29;p2"/>
          <p:cNvGrpSpPr/>
          <p:nvPr/>
        </p:nvGrpSpPr>
        <p:grpSpPr>
          <a:xfrm>
            <a:off x="5043503" y="0"/>
            <a:ext cx="3814072" cy="3839102"/>
            <a:chOff x="5043503" y="0"/>
            <a:chExt cx="3814072" cy="3839102"/>
          </a:xfrm>
        </p:grpSpPr>
        <p:sp>
          <p:nvSpPr>
            <p:cNvPr id="30" name="Google Shape;30;p2"/>
            <p:cNvSpPr/>
            <p:nvPr/>
          </p:nvSpPr>
          <p:spPr>
            <a:xfrm>
              <a:off x="8460975" y="1817775"/>
              <a:ext cx="396600" cy="3966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 rot="-9830444">
              <a:off x="6469759" y="3480728"/>
              <a:ext cx="320148" cy="320148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2" name="Google Shape;32;p2"/>
            <p:cNvGrpSpPr/>
            <p:nvPr/>
          </p:nvGrpSpPr>
          <p:grpSpPr>
            <a:xfrm>
              <a:off x="7647812" y="2704283"/>
              <a:ext cx="635219" cy="635219"/>
              <a:chOff x="6725724" y="2701260"/>
              <a:chExt cx="1208101" cy="1208100"/>
            </a:xfrm>
          </p:grpSpPr>
          <p:sp>
            <p:nvSpPr>
              <p:cNvPr id="33" name="Google Shape;33;p2"/>
              <p:cNvSpPr/>
              <p:nvPr/>
            </p:nvSpPr>
            <p:spPr>
              <a:xfrm rot="5400000">
                <a:off x="6725725" y="2701260"/>
                <a:ext cx="1208100" cy="12081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 rot="5400000">
                <a:off x="6725724" y="2701260"/>
                <a:ext cx="1208100" cy="1208100"/>
              </a:xfrm>
              <a:prstGeom prst="pie">
                <a:avLst>
                  <a:gd fmla="val 8244818" name="adj1"/>
                  <a:gd fmla="val 16246175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 rot="5400000">
                <a:off x="6954988" y="2930398"/>
                <a:ext cx="749700" cy="7497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6" name="Google Shape;36;p2"/>
            <p:cNvSpPr/>
            <p:nvPr/>
          </p:nvSpPr>
          <p:spPr>
            <a:xfrm>
              <a:off x="8460975" y="1817775"/>
              <a:ext cx="396600" cy="396600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952720" y="179238"/>
              <a:ext cx="873165" cy="873003"/>
              <a:chOff x="7754428" y="208725"/>
              <a:chExt cx="541800" cy="541800"/>
            </a:xfrm>
          </p:grpSpPr>
          <p:sp>
            <p:nvSpPr>
              <p:cNvPr id="38" name="Google Shape;38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0" name="Google Shape;40;p2"/>
            <p:cNvSpPr/>
            <p:nvPr/>
          </p:nvSpPr>
          <p:spPr>
            <a:xfrm>
              <a:off x="5399840" y="356365"/>
              <a:ext cx="2577000" cy="25770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2043858">
              <a:off x="5503813" y="460310"/>
              <a:ext cx="2369480" cy="236948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399795" y="360281"/>
              <a:ext cx="2577000" cy="2577000"/>
            </a:xfrm>
            <a:prstGeom prst="pie">
              <a:avLst>
                <a:gd fmla="val 8801158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 rot="2044777">
              <a:off x="5911449" y="867729"/>
              <a:ext cx="1554223" cy="155422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399795" y="356358"/>
              <a:ext cx="2577000" cy="2577000"/>
            </a:xfrm>
            <a:prstGeom prst="pie">
              <a:avLst>
                <a:gd fmla="val 1255410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 rot="-9830444">
              <a:off x="6469759" y="3480727"/>
              <a:ext cx="320148" cy="320148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" name="Google Shape;46;p2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2"/>
          <p:cNvSpPr txBox="1"/>
          <p:nvPr>
            <p:ph idx="1" type="subTitle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3"/>
          <p:cNvGrpSpPr/>
          <p:nvPr/>
        </p:nvGrpSpPr>
        <p:grpSpPr>
          <a:xfrm>
            <a:off x="146769" y="3406"/>
            <a:ext cx="1233215" cy="1384535"/>
            <a:chOff x="146769" y="3406"/>
            <a:chExt cx="1233215" cy="1384535"/>
          </a:xfrm>
        </p:grpSpPr>
        <p:grpSp>
          <p:nvGrpSpPr>
            <p:cNvPr id="51" name="Google Shape;51;p3"/>
            <p:cNvGrpSpPr/>
            <p:nvPr/>
          </p:nvGrpSpPr>
          <p:grpSpPr>
            <a:xfrm>
              <a:off x="1063183" y="3406"/>
              <a:ext cx="316800" cy="688513"/>
              <a:chOff x="1063183" y="3406"/>
              <a:chExt cx="316800" cy="688513"/>
            </a:xfrm>
          </p:grpSpPr>
          <p:sp>
            <p:nvSpPr>
              <p:cNvPr id="52" name="Google Shape;52;p3"/>
              <p:cNvSpPr/>
              <p:nvPr/>
            </p:nvSpPr>
            <p:spPr>
              <a:xfrm rot="10800000">
                <a:off x="1063183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 rot="10800000">
                <a:off x="1063183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4" name="Google Shape;54;p3"/>
            <p:cNvGrpSpPr/>
            <p:nvPr/>
          </p:nvGrpSpPr>
          <p:grpSpPr>
            <a:xfrm>
              <a:off x="604976" y="3406"/>
              <a:ext cx="316800" cy="1036524"/>
              <a:chOff x="604976" y="3406"/>
              <a:chExt cx="316800" cy="1036524"/>
            </a:xfrm>
          </p:grpSpPr>
          <p:sp>
            <p:nvSpPr>
              <p:cNvPr id="55" name="Google Shape;55;p3"/>
              <p:cNvSpPr/>
              <p:nvPr/>
            </p:nvSpPr>
            <p:spPr>
              <a:xfrm rot="10800000">
                <a:off x="604976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 rot="10800000">
                <a:off x="604976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 rot="10800000">
                <a:off x="604976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8" name="Google Shape;58;p3"/>
            <p:cNvGrpSpPr/>
            <p:nvPr/>
          </p:nvGrpSpPr>
          <p:grpSpPr>
            <a:xfrm>
              <a:off x="146769" y="3406"/>
              <a:ext cx="316800" cy="1384535"/>
              <a:chOff x="146769" y="3406"/>
              <a:chExt cx="316800" cy="1384535"/>
            </a:xfrm>
          </p:grpSpPr>
          <p:sp>
            <p:nvSpPr>
              <p:cNvPr id="59" name="Google Shape;59;p3"/>
              <p:cNvSpPr/>
              <p:nvPr/>
            </p:nvSpPr>
            <p:spPr>
              <a:xfrm rot="10800000">
                <a:off x="146769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" name="Google Shape;60;p3"/>
              <p:cNvSpPr/>
              <p:nvPr/>
            </p:nvSpPr>
            <p:spPr>
              <a:xfrm rot="10800000">
                <a:off x="146769" y="3441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 rot="10800000">
                <a:off x="146769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 rot="10800000">
                <a:off x="146769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3" name="Google Shape;63;p3"/>
          <p:cNvGrpSpPr/>
          <p:nvPr/>
        </p:nvGrpSpPr>
        <p:grpSpPr>
          <a:xfrm>
            <a:off x="6775084" y="2904008"/>
            <a:ext cx="2186148" cy="2239500"/>
            <a:chOff x="6775084" y="2904008"/>
            <a:chExt cx="2186148" cy="2239500"/>
          </a:xfrm>
        </p:grpSpPr>
        <p:grpSp>
          <p:nvGrpSpPr>
            <p:cNvPr id="64" name="Google Shape;64;p3"/>
            <p:cNvGrpSpPr/>
            <p:nvPr/>
          </p:nvGrpSpPr>
          <p:grpSpPr>
            <a:xfrm>
              <a:off x="6775084" y="4253708"/>
              <a:ext cx="409500" cy="889800"/>
              <a:chOff x="6775084" y="4253708"/>
              <a:chExt cx="409500" cy="8898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6775084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6775084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7" name="Google Shape;67;p3"/>
            <p:cNvGrpSpPr/>
            <p:nvPr/>
          </p:nvGrpSpPr>
          <p:grpSpPr>
            <a:xfrm>
              <a:off x="7367299" y="3804008"/>
              <a:ext cx="409500" cy="1339500"/>
              <a:chOff x="7367299" y="3804008"/>
              <a:chExt cx="409500" cy="1339500"/>
            </a:xfrm>
          </p:grpSpPr>
          <p:sp>
            <p:nvSpPr>
              <p:cNvPr id="68" name="Google Shape;68;p3"/>
              <p:cNvSpPr/>
              <p:nvPr/>
            </p:nvSpPr>
            <p:spPr>
              <a:xfrm>
                <a:off x="7367299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" name="Google Shape;69;p3"/>
              <p:cNvSpPr/>
              <p:nvPr/>
            </p:nvSpPr>
            <p:spPr>
              <a:xfrm>
                <a:off x="7367299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" name="Google Shape;70;p3"/>
              <p:cNvSpPr/>
              <p:nvPr/>
            </p:nvSpPr>
            <p:spPr>
              <a:xfrm>
                <a:off x="7367299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1" name="Google Shape;71;p3"/>
            <p:cNvGrpSpPr/>
            <p:nvPr/>
          </p:nvGrpSpPr>
          <p:grpSpPr>
            <a:xfrm>
              <a:off x="7959516" y="3354008"/>
              <a:ext cx="409500" cy="1789500"/>
              <a:chOff x="7959516" y="3354008"/>
              <a:chExt cx="409500" cy="1789500"/>
            </a:xfrm>
          </p:grpSpPr>
          <p:sp>
            <p:nvSpPr>
              <p:cNvPr id="72" name="Google Shape;72;p3"/>
              <p:cNvSpPr/>
              <p:nvPr/>
            </p:nvSpPr>
            <p:spPr>
              <a:xfrm>
                <a:off x="7959516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7959516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7959516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7959516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6" name="Google Shape;76;p3"/>
            <p:cNvGrpSpPr/>
            <p:nvPr/>
          </p:nvGrpSpPr>
          <p:grpSpPr>
            <a:xfrm>
              <a:off x="8551731" y="2904008"/>
              <a:ext cx="409500" cy="2239500"/>
              <a:chOff x="8551731" y="2904008"/>
              <a:chExt cx="409500" cy="2239500"/>
            </a:xfrm>
          </p:grpSpPr>
          <p:sp>
            <p:nvSpPr>
              <p:cNvPr id="77" name="Google Shape;77;p3"/>
              <p:cNvSpPr/>
              <p:nvPr/>
            </p:nvSpPr>
            <p:spPr>
              <a:xfrm>
                <a:off x="8551731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8551731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8551731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8551731" y="2904008"/>
                <a:ext cx="409500" cy="22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8551731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82" name="Google Shape;82;p3"/>
          <p:cNvSpPr txBox="1"/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3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4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86" name="Google Shape;86;p4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4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8" name="Google Shape;88;p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9" name="Google Shape;89;p4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0" name="Google Shape;90;p4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5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93" name="Google Shape;93;p5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5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6" name="Google Shape;96;p5"/>
          <p:cNvSpPr txBox="1"/>
          <p:nvPr>
            <p:ph idx="1" type="body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7" name="Google Shape;97;p5"/>
          <p:cNvSpPr txBox="1"/>
          <p:nvPr>
            <p:ph idx="2" type="body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5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6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1" name="Google Shape;101;p6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4" name="Google Shape;104;p6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7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7" name="Google Shape;107;p7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7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9" name="Google Shape;109;p7"/>
          <p:cNvSpPr txBox="1"/>
          <p:nvPr>
            <p:ph type="title"/>
          </p:nvPr>
        </p:nvSpPr>
        <p:spPr>
          <a:xfrm>
            <a:off x="1303800" y="598575"/>
            <a:ext cx="33120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0" name="Google Shape;110;p7"/>
          <p:cNvSpPr txBox="1"/>
          <p:nvPr>
            <p:ph idx="1" type="body"/>
          </p:nvPr>
        </p:nvSpPr>
        <p:spPr>
          <a:xfrm>
            <a:off x="1303800" y="2309675"/>
            <a:ext cx="3312000" cy="222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1" name="Google Shape;111;p7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8"/>
          <p:cNvGrpSpPr/>
          <p:nvPr/>
        </p:nvGrpSpPr>
        <p:grpSpPr>
          <a:xfrm>
            <a:off x="6866714" y="1306"/>
            <a:ext cx="2267451" cy="2601690"/>
            <a:chOff x="6790514" y="1306"/>
            <a:chExt cx="2267451" cy="2601690"/>
          </a:xfrm>
        </p:grpSpPr>
        <p:grpSp>
          <p:nvGrpSpPr>
            <p:cNvPr id="114" name="Google Shape;114;p8"/>
            <p:cNvGrpSpPr/>
            <p:nvPr/>
          </p:nvGrpSpPr>
          <p:grpSpPr>
            <a:xfrm>
              <a:off x="7067465" y="1306"/>
              <a:ext cx="1990500" cy="1990200"/>
              <a:chOff x="7067465" y="1306"/>
              <a:chExt cx="1990500" cy="1990200"/>
            </a:xfrm>
          </p:grpSpPr>
          <p:sp>
            <p:nvSpPr>
              <p:cNvPr id="115" name="Google Shape;115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 rot="-8649154">
                <a:off x="7349891" y="283705"/>
                <a:ext cx="1425647" cy="14254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18" name="Google Shape;118;p8"/>
            <p:cNvGrpSpPr/>
            <p:nvPr/>
          </p:nvGrpSpPr>
          <p:grpSpPr>
            <a:xfrm>
              <a:off x="8207126" y="1807996"/>
              <a:ext cx="795000" cy="795000"/>
              <a:chOff x="8207126" y="1807996"/>
              <a:chExt cx="795000" cy="795000"/>
            </a:xfrm>
          </p:grpSpPr>
          <p:sp>
            <p:nvSpPr>
              <p:cNvPr id="119" name="Google Shape;119;p8"/>
              <p:cNvSpPr/>
              <p:nvPr/>
            </p:nvSpPr>
            <p:spPr>
              <a:xfrm rot="2152054">
                <a:off x="8319942" y="1920813"/>
                <a:ext cx="569367" cy="569367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2" name="Google Shape;122;p8"/>
            <p:cNvGrpSpPr/>
            <p:nvPr/>
          </p:nvGrpSpPr>
          <p:grpSpPr>
            <a:xfrm>
              <a:off x="6790514" y="118857"/>
              <a:ext cx="548700" cy="548700"/>
              <a:chOff x="6790514" y="118857"/>
              <a:chExt cx="548700" cy="548700"/>
            </a:xfrm>
          </p:grpSpPr>
          <p:sp>
            <p:nvSpPr>
              <p:cNvPr id="123" name="Google Shape;123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25" name="Google Shape;125;p8"/>
          <p:cNvSpPr txBox="1"/>
          <p:nvPr>
            <p:ph type="title"/>
          </p:nvPr>
        </p:nvSpPr>
        <p:spPr>
          <a:xfrm>
            <a:off x="824000" y="763600"/>
            <a:ext cx="5857800" cy="357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6" name="Google Shape;126;p8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9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29" name="Google Shape;129;p9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9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1" name="Google Shape;131;p9"/>
          <p:cNvSpPr txBox="1"/>
          <p:nvPr>
            <p:ph type="title"/>
          </p:nvPr>
        </p:nvSpPr>
        <p:spPr>
          <a:xfrm>
            <a:off x="1303800" y="598575"/>
            <a:ext cx="3430500" cy="19902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2" name="Google Shape;132;p9"/>
          <p:cNvSpPr txBox="1"/>
          <p:nvPr>
            <p:ph idx="1" type="subTitle"/>
          </p:nvPr>
        </p:nvSpPr>
        <p:spPr>
          <a:xfrm>
            <a:off x="1303800" y="2743203"/>
            <a:ext cx="3430500" cy="7260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33" name="Google Shape;133;p9"/>
          <p:cNvSpPr txBox="1"/>
          <p:nvPr>
            <p:ph idx="2" type="body"/>
          </p:nvPr>
        </p:nvSpPr>
        <p:spPr>
          <a:xfrm>
            <a:off x="4903700" y="661000"/>
            <a:ext cx="3430500" cy="38706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34" name="Google Shape;134;p9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10"/>
          <p:cNvGrpSpPr/>
          <p:nvPr/>
        </p:nvGrpSpPr>
        <p:grpSpPr>
          <a:xfrm>
            <a:off x="713373" y="3847119"/>
            <a:ext cx="825392" cy="825392"/>
            <a:chOff x="348199" y="179450"/>
            <a:chExt cx="1116300" cy="11163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0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9" name="Google Shape;139;p10"/>
          <p:cNvSpPr txBox="1"/>
          <p:nvPr>
            <p:ph idx="1" type="body"/>
          </p:nvPr>
        </p:nvSpPr>
        <p:spPr>
          <a:xfrm>
            <a:off x="1303800" y="4138975"/>
            <a:ext cx="5843100" cy="53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40" name="Google Shape;140;p10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11"/>
          <p:cNvGrpSpPr/>
          <p:nvPr/>
        </p:nvGrpSpPr>
        <p:grpSpPr>
          <a:xfrm>
            <a:off x="52" y="4099200"/>
            <a:ext cx="9144036" cy="1044300"/>
            <a:chOff x="52" y="4099200"/>
            <a:chExt cx="9144036" cy="1044300"/>
          </a:xfrm>
        </p:grpSpPr>
        <p:grpSp>
          <p:nvGrpSpPr>
            <p:cNvPr id="143" name="Google Shape;143;p11"/>
            <p:cNvGrpSpPr/>
            <p:nvPr/>
          </p:nvGrpSpPr>
          <p:grpSpPr>
            <a:xfrm>
              <a:off x="52" y="4309200"/>
              <a:ext cx="231622" cy="834300"/>
              <a:chOff x="2688737" y="4301380"/>
              <a:chExt cx="231900" cy="834300"/>
            </a:xfrm>
          </p:grpSpPr>
          <p:sp>
            <p:nvSpPr>
              <p:cNvPr id="144" name="Google Shape;144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8" name="Google Shape;148;p11"/>
            <p:cNvGrpSpPr/>
            <p:nvPr/>
          </p:nvGrpSpPr>
          <p:grpSpPr>
            <a:xfrm>
              <a:off x="371406" y="4099200"/>
              <a:ext cx="231622" cy="1044300"/>
              <a:chOff x="2688737" y="4091380"/>
              <a:chExt cx="231900" cy="1044300"/>
            </a:xfrm>
          </p:grpSpPr>
          <p:sp>
            <p:nvSpPr>
              <p:cNvPr id="149" name="Google Shape;149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" name="Google Shape;150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1"/>
              <p:cNvSpPr/>
              <p:nvPr/>
            </p:nvSpPr>
            <p:spPr>
              <a:xfrm flipH="1">
                <a:off x="2688737" y="4091380"/>
                <a:ext cx="2319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" name="Google Shape;153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4" name="Google Shape;154;p11"/>
            <p:cNvGrpSpPr/>
            <p:nvPr/>
          </p:nvGrpSpPr>
          <p:grpSpPr>
            <a:xfrm>
              <a:off x="742761" y="4309200"/>
              <a:ext cx="231622" cy="834300"/>
              <a:chOff x="2688737" y="4301380"/>
              <a:chExt cx="231900" cy="834300"/>
            </a:xfrm>
          </p:grpSpPr>
          <p:sp>
            <p:nvSpPr>
              <p:cNvPr id="155" name="Google Shape;155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9" name="Google Shape;159;p11"/>
            <p:cNvGrpSpPr/>
            <p:nvPr/>
          </p:nvGrpSpPr>
          <p:grpSpPr>
            <a:xfrm>
              <a:off x="1114115" y="4518900"/>
              <a:ext cx="231622" cy="624600"/>
              <a:chOff x="2688737" y="4511080"/>
              <a:chExt cx="231900" cy="624600"/>
            </a:xfrm>
          </p:grpSpPr>
          <p:sp>
            <p:nvSpPr>
              <p:cNvPr id="160" name="Google Shape;160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" name="Google Shape;16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" name="Google Shape;162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3" name="Google Shape;163;p11"/>
            <p:cNvGrpSpPr/>
            <p:nvPr/>
          </p:nvGrpSpPr>
          <p:grpSpPr>
            <a:xfrm>
              <a:off x="1856753" y="4099200"/>
              <a:ext cx="231600" cy="1044300"/>
              <a:chOff x="1856753" y="4099200"/>
              <a:chExt cx="231600" cy="1044300"/>
            </a:xfrm>
          </p:grpSpPr>
          <p:sp>
            <p:nvSpPr>
              <p:cNvPr id="164" name="Google Shape;164;p11"/>
              <p:cNvSpPr/>
              <p:nvPr/>
            </p:nvSpPr>
            <p:spPr>
              <a:xfrm flipH="1">
                <a:off x="185675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 flipH="1">
                <a:off x="185675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 flipH="1">
                <a:off x="185675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11"/>
              <p:cNvSpPr/>
              <p:nvPr/>
            </p:nvSpPr>
            <p:spPr>
              <a:xfrm flipH="1">
                <a:off x="1856753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11"/>
              <p:cNvSpPr/>
              <p:nvPr/>
            </p:nvSpPr>
            <p:spPr>
              <a:xfrm flipH="1">
                <a:off x="185675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9" name="Google Shape;169;p11"/>
            <p:cNvGrpSpPr/>
            <p:nvPr/>
          </p:nvGrpSpPr>
          <p:grpSpPr>
            <a:xfrm>
              <a:off x="2228107" y="4309200"/>
              <a:ext cx="231600" cy="834300"/>
              <a:chOff x="2228107" y="4309200"/>
              <a:chExt cx="231600" cy="834300"/>
            </a:xfrm>
          </p:grpSpPr>
          <p:sp>
            <p:nvSpPr>
              <p:cNvPr id="170" name="Google Shape;170;p11"/>
              <p:cNvSpPr/>
              <p:nvPr/>
            </p:nvSpPr>
            <p:spPr>
              <a:xfrm flipH="1">
                <a:off x="222810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 flipH="1">
                <a:off x="2228107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 flipH="1">
                <a:off x="222810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1"/>
              <p:cNvSpPr/>
              <p:nvPr/>
            </p:nvSpPr>
            <p:spPr>
              <a:xfrm flipH="1">
                <a:off x="222810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4" name="Google Shape;174;p11"/>
            <p:cNvGrpSpPr/>
            <p:nvPr/>
          </p:nvGrpSpPr>
          <p:grpSpPr>
            <a:xfrm>
              <a:off x="2599462" y="4518900"/>
              <a:ext cx="231600" cy="624600"/>
              <a:chOff x="2599462" y="4518900"/>
              <a:chExt cx="231600" cy="624600"/>
            </a:xfrm>
          </p:grpSpPr>
          <p:sp>
            <p:nvSpPr>
              <p:cNvPr id="175" name="Google Shape;175;p11"/>
              <p:cNvSpPr/>
              <p:nvPr/>
            </p:nvSpPr>
            <p:spPr>
              <a:xfrm flipH="1">
                <a:off x="259946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" name="Google Shape;176;p11"/>
              <p:cNvSpPr/>
              <p:nvPr/>
            </p:nvSpPr>
            <p:spPr>
              <a:xfrm flipH="1">
                <a:off x="259946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1"/>
              <p:cNvSpPr/>
              <p:nvPr/>
            </p:nvSpPr>
            <p:spPr>
              <a:xfrm flipH="1">
                <a:off x="259946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8" name="Google Shape;178;p11"/>
            <p:cNvGrpSpPr/>
            <p:nvPr/>
          </p:nvGrpSpPr>
          <p:grpSpPr>
            <a:xfrm>
              <a:off x="3342171" y="4099200"/>
              <a:ext cx="231600" cy="1044300"/>
              <a:chOff x="3342171" y="4099200"/>
              <a:chExt cx="231600" cy="1044300"/>
            </a:xfrm>
          </p:grpSpPr>
          <p:sp>
            <p:nvSpPr>
              <p:cNvPr id="179" name="Google Shape;179;p11"/>
              <p:cNvSpPr/>
              <p:nvPr/>
            </p:nvSpPr>
            <p:spPr>
              <a:xfrm flipH="1">
                <a:off x="334217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" name="Google Shape;180;p11"/>
              <p:cNvSpPr/>
              <p:nvPr/>
            </p:nvSpPr>
            <p:spPr>
              <a:xfrm flipH="1">
                <a:off x="334217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1"/>
              <p:cNvSpPr/>
              <p:nvPr/>
            </p:nvSpPr>
            <p:spPr>
              <a:xfrm flipH="1">
                <a:off x="334217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1"/>
              <p:cNvSpPr/>
              <p:nvPr/>
            </p:nvSpPr>
            <p:spPr>
              <a:xfrm flipH="1">
                <a:off x="3342171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11"/>
              <p:cNvSpPr/>
              <p:nvPr/>
            </p:nvSpPr>
            <p:spPr>
              <a:xfrm flipH="1">
                <a:off x="334217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4" name="Google Shape;184;p11"/>
            <p:cNvGrpSpPr/>
            <p:nvPr/>
          </p:nvGrpSpPr>
          <p:grpSpPr>
            <a:xfrm>
              <a:off x="3713525" y="4309200"/>
              <a:ext cx="231600" cy="834300"/>
              <a:chOff x="3713525" y="4309200"/>
              <a:chExt cx="231600" cy="834300"/>
            </a:xfrm>
          </p:grpSpPr>
          <p:sp>
            <p:nvSpPr>
              <p:cNvPr id="185" name="Google Shape;185;p11"/>
              <p:cNvSpPr/>
              <p:nvPr/>
            </p:nvSpPr>
            <p:spPr>
              <a:xfrm flipH="1">
                <a:off x="371352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1"/>
              <p:cNvSpPr/>
              <p:nvPr/>
            </p:nvSpPr>
            <p:spPr>
              <a:xfrm flipH="1">
                <a:off x="3713525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11"/>
              <p:cNvSpPr/>
              <p:nvPr/>
            </p:nvSpPr>
            <p:spPr>
              <a:xfrm flipH="1">
                <a:off x="371352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" name="Google Shape;188;p11"/>
              <p:cNvSpPr/>
              <p:nvPr/>
            </p:nvSpPr>
            <p:spPr>
              <a:xfrm flipH="1">
                <a:off x="371352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9" name="Google Shape;189;p11"/>
            <p:cNvGrpSpPr/>
            <p:nvPr/>
          </p:nvGrpSpPr>
          <p:grpSpPr>
            <a:xfrm>
              <a:off x="1485398" y="4309200"/>
              <a:ext cx="231600" cy="834300"/>
              <a:chOff x="1485398" y="4309200"/>
              <a:chExt cx="231600" cy="834300"/>
            </a:xfrm>
          </p:grpSpPr>
          <p:sp>
            <p:nvSpPr>
              <p:cNvPr id="190" name="Google Shape;190;p11"/>
              <p:cNvSpPr/>
              <p:nvPr/>
            </p:nvSpPr>
            <p:spPr>
              <a:xfrm flipH="1">
                <a:off x="148539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" name="Google Shape;191;p11"/>
              <p:cNvSpPr/>
              <p:nvPr/>
            </p:nvSpPr>
            <p:spPr>
              <a:xfrm flipH="1">
                <a:off x="148539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" name="Google Shape;192;p11"/>
              <p:cNvSpPr/>
              <p:nvPr/>
            </p:nvSpPr>
            <p:spPr>
              <a:xfrm flipH="1">
                <a:off x="148539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1"/>
              <p:cNvSpPr/>
              <p:nvPr/>
            </p:nvSpPr>
            <p:spPr>
              <a:xfrm flipH="1">
                <a:off x="148539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4" name="Google Shape;194;p11"/>
            <p:cNvGrpSpPr/>
            <p:nvPr/>
          </p:nvGrpSpPr>
          <p:grpSpPr>
            <a:xfrm>
              <a:off x="4084879" y="4518900"/>
              <a:ext cx="231600" cy="624600"/>
              <a:chOff x="4084879" y="4518900"/>
              <a:chExt cx="231600" cy="624600"/>
            </a:xfrm>
          </p:grpSpPr>
          <p:sp>
            <p:nvSpPr>
              <p:cNvPr id="195" name="Google Shape;195;p11"/>
              <p:cNvSpPr/>
              <p:nvPr/>
            </p:nvSpPr>
            <p:spPr>
              <a:xfrm flipH="1">
                <a:off x="40848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11"/>
              <p:cNvSpPr/>
              <p:nvPr/>
            </p:nvSpPr>
            <p:spPr>
              <a:xfrm flipH="1">
                <a:off x="40848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" name="Google Shape;197;p11"/>
              <p:cNvSpPr/>
              <p:nvPr/>
            </p:nvSpPr>
            <p:spPr>
              <a:xfrm flipH="1">
                <a:off x="40848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8" name="Google Shape;198;p11"/>
            <p:cNvGrpSpPr/>
            <p:nvPr/>
          </p:nvGrpSpPr>
          <p:grpSpPr>
            <a:xfrm>
              <a:off x="2970816" y="4309200"/>
              <a:ext cx="231600" cy="834300"/>
              <a:chOff x="2970816" y="4309200"/>
              <a:chExt cx="231600" cy="834300"/>
            </a:xfrm>
          </p:grpSpPr>
          <p:sp>
            <p:nvSpPr>
              <p:cNvPr id="199" name="Google Shape;199;p11"/>
              <p:cNvSpPr/>
              <p:nvPr/>
            </p:nvSpPr>
            <p:spPr>
              <a:xfrm flipH="1">
                <a:off x="297081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" name="Google Shape;200;p11"/>
              <p:cNvSpPr/>
              <p:nvPr/>
            </p:nvSpPr>
            <p:spPr>
              <a:xfrm flipH="1">
                <a:off x="297081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" name="Google Shape;201;p11"/>
              <p:cNvSpPr/>
              <p:nvPr/>
            </p:nvSpPr>
            <p:spPr>
              <a:xfrm flipH="1">
                <a:off x="297081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" name="Google Shape;202;p11"/>
              <p:cNvSpPr/>
              <p:nvPr/>
            </p:nvSpPr>
            <p:spPr>
              <a:xfrm flipH="1">
                <a:off x="297081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3" name="Google Shape;203;p11"/>
            <p:cNvGrpSpPr/>
            <p:nvPr/>
          </p:nvGrpSpPr>
          <p:grpSpPr>
            <a:xfrm>
              <a:off x="4456234" y="4309200"/>
              <a:ext cx="231600" cy="834300"/>
              <a:chOff x="4456234" y="4309200"/>
              <a:chExt cx="231600" cy="834300"/>
            </a:xfrm>
          </p:grpSpPr>
          <p:sp>
            <p:nvSpPr>
              <p:cNvPr id="204" name="Google Shape;204;p11"/>
              <p:cNvSpPr/>
              <p:nvPr/>
            </p:nvSpPr>
            <p:spPr>
              <a:xfrm flipH="1">
                <a:off x="445623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1"/>
              <p:cNvSpPr/>
              <p:nvPr/>
            </p:nvSpPr>
            <p:spPr>
              <a:xfrm flipH="1">
                <a:off x="445623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1"/>
              <p:cNvSpPr/>
              <p:nvPr/>
            </p:nvSpPr>
            <p:spPr>
              <a:xfrm flipH="1">
                <a:off x="445623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11"/>
              <p:cNvSpPr/>
              <p:nvPr/>
            </p:nvSpPr>
            <p:spPr>
              <a:xfrm flipH="1">
                <a:off x="445623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8" name="Google Shape;208;p11"/>
            <p:cNvGrpSpPr/>
            <p:nvPr/>
          </p:nvGrpSpPr>
          <p:grpSpPr>
            <a:xfrm>
              <a:off x="4827588" y="4099200"/>
              <a:ext cx="231600" cy="1044300"/>
              <a:chOff x="4827588" y="4099200"/>
              <a:chExt cx="231600" cy="1044300"/>
            </a:xfrm>
          </p:grpSpPr>
          <p:sp>
            <p:nvSpPr>
              <p:cNvPr id="209" name="Google Shape;209;p11"/>
              <p:cNvSpPr/>
              <p:nvPr/>
            </p:nvSpPr>
            <p:spPr>
              <a:xfrm flipH="1">
                <a:off x="48275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1"/>
              <p:cNvSpPr/>
              <p:nvPr/>
            </p:nvSpPr>
            <p:spPr>
              <a:xfrm flipH="1">
                <a:off x="48275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1" name="Google Shape;211;p11"/>
              <p:cNvSpPr/>
              <p:nvPr/>
            </p:nvSpPr>
            <p:spPr>
              <a:xfrm flipH="1">
                <a:off x="48275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11"/>
              <p:cNvSpPr/>
              <p:nvPr/>
            </p:nvSpPr>
            <p:spPr>
              <a:xfrm flipH="1">
                <a:off x="4827588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1"/>
              <p:cNvSpPr/>
              <p:nvPr/>
            </p:nvSpPr>
            <p:spPr>
              <a:xfrm flipH="1">
                <a:off x="48275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4" name="Google Shape;214;p11"/>
            <p:cNvGrpSpPr/>
            <p:nvPr/>
          </p:nvGrpSpPr>
          <p:grpSpPr>
            <a:xfrm>
              <a:off x="5198943" y="4309200"/>
              <a:ext cx="231600" cy="834300"/>
              <a:chOff x="5198943" y="4309200"/>
              <a:chExt cx="231600" cy="834300"/>
            </a:xfrm>
          </p:grpSpPr>
          <p:sp>
            <p:nvSpPr>
              <p:cNvPr id="215" name="Google Shape;215;p11"/>
              <p:cNvSpPr/>
              <p:nvPr/>
            </p:nvSpPr>
            <p:spPr>
              <a:xfrm flipH="1">
                <a:off x="519894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" name="Google Shape;216;p11"/>
              <p:cNvSpPr/>
              <p:nvPr/>
            </p:nvSpPr>
            <p:spPr>
              <a:xfrm flipH="1">
                <a:off x="519894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1"/>
              <p:cNvSpPr/>
              <p:nvPr/>
            </p:nvSpPr>
            <p:spPr>
              <a:xfrm flipH="1">
                <a:off x="519894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1"/>
              <p:cNvSpPr/>
              <p:nvPr/>
            </p:nvSpPr>
            <p:spPr>
              <a:xfrm flipH="1">
                <a:off x="519894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>
              <a:off x="5570297" y="4518900"/>
              <a:ext cx="231600" cy="624600"/>
              <a:chOff x="5570297" y="4518900"/>
              <a:chExt cx="231600" cy="624600"/>
            </a:xfrm>
          </p:grpSpPr>
          <p:sp>
            <p:nvSpPr>
              <p:cNvPr id="220" name="Google Shape;220;p11"/>
              <p:cNvSpPr/>
              <p:nvPr/>
            </p:nvSpPr>
            <p:spPr>
              <a:xfrm flipH="1">
                <a:off x="557029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" name="Google Shape;221;p11"/>
              <p:cNvSpPr/>
              <p:nvPr/>
            </p:nvSpPr>
            <p:spPr>
              <a:xfrm flipH="1">
                <a:off x="557029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1"/>
              <p:cNvSpPr/>
              <p:nvPr/>
            </p:nvSpPr>
            <p:spPr>
              <a:xfrm flipH="1">
                <a:off x="557029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3" name="Google Shape;223;p11"/>
            <p:cNvGrpSpPr/>
            <p:nvPr/>
          </p:nvGrpSpPr>
          <p:grpSpPr>
            <a:xfrm>
              <a:off x="5941652" y="4309200"/>
              <a:ext cx="231600" cy="834300"/>
              <a:chOff x="5941652" y="4309200"/>
              <a:chExt cx="231600" cy="834300"/>
            </a:xfrm>
          </p:grpSpPr>
          <p:sp>
            <p:nvSpPr>
              <p:cNvPr id="224" name="Google Shape;224;p11"/>
              <p:cNvSpPr/>
              <p:nvPr/>
            </p:nvSpPr>
            <p:spPr>
              <a:xfrm flipH="1">
                <a:off x="594165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" name="Google Shape;225;p11"/>
              <p:cNvSpPr/>
              <p:nvPr/>
            </p:nvSpPr>
            <p:spPr>
              <a:xfrm flipH="1">
                <a:off x="5941652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1"/>
              <p:cNvSpPr/>
              <p:nvPr/>
            </p:nvSpPr>
            <p:spPr>
              <a:xfrm flipH="1">
                <a:off x="594165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1"/>
              <p:cNvSpPr/>
              <p:nvPr/>
            </p:nvSpPr>
            <p:spPr>
              <a:xfrm flipH="1">
                <a:off x="594165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8" name="Google Shape;228;p11"/>
            <p:cNvGrpSpPr/>
            <p:nvPr/>
          </p:nvGrpSpPr>
          <p:grpSpPr>
            <a:xfrm>
              <a:off x="6313006" y="4099200"/>
              <a:ext cx="231600" cy="1044300"/>
              <a:chOff x="6313006" y="4099200"/>
              <a:chExt cx="231600" cy="1044300"/>
            </a:xfrm>
          </p:grpSpPr>
          <p:sp>
            <p:nvSpPr>
              <p:cNvPr id="229" name="Google Shape;229;p11"/>
              <p:cNvSpPr/>
              <p:nvPr/>
            </p:nvSpPr>
            <p:spPr>
              <a:xfrm flipH="1">
                <a:off x="631300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1"/>
              <p:cNvSpPr/>
              <p:nvPr/>
            </p:nvSpPr>
            <p:spPr>
              <a:xfrm flipH="1">
                <a:off x="631300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1"/>
              <p:cNvSpPr/>
              <p:nvPr/>
            </p:nvSpPr>
            <p:spPr>
              <a:xfrm flipH="1">
                <a:off x="631300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" name="Google Shape;232;p11"/>
              <p:cNvSpPr/>
              <p:nvPr/>
            </p:nvSpPr>
            <p:spPr>
              <a:xfrm flipH="1">
                <a:off x="6313006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" name="Google Shape;233;p11"/>
              <p:cNvSpPr/>
              <p:nvPr/>
            </p:nvSpPr>
            <p:spPr>
              <a:xfrm flipH="1">
                <a:off x="631300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4" name="Google Shape;234;p11"/>
            <p:cNvGrpSpPr/>
            <p:nvPr/>
          </p:nvGrpSpPr>
          <p:grpSpPr>
            <a:xfrm>
              <a:off x="6684361" y="4309200"/>
              <a:ext cx="231600" cy="834300"/>
              <a:chOff x="6684361" y="4309200"/>
              <a:chExt cx="231600" cy="834300"/>
            </a:xfrm>
          </p:grpSpPr>
          <p:sp>
            <p:nvSpPr>
              <p:cNvPr id="235" name="Google Shape;235;p11"/>
              <p:cNvSpPr/>
              <p:nvPr/>
            </p:nvSpPr>
            <p:spPr>
              <a:xfrm flipH="1">
                <a:off x="668436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11"/>
              <p:cNvSpPr/>
              <p:nvPr/>
            </p:nvSpPr>
            <p:spPr>
              <a:xfrm flipH="1">
                <a:off x="668436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11"/>
              <p:cNvSpPr/>
              <p:nvPr/>
            </p:nvSpPr>
            <p:spPr>
              <a:xfrm flipH="1">
                <a:off x="668436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" name="Google Shape;238;p11"/>
              <p:cNvSpPr/>
              <p:nvPr/>
            </p:nvSpPr>
            <p:spPr>
              <a:xfrm flipH="1">
                <a:off x="668436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9" name="Google Shape;239;p11"/>
            <p:cNvGrpSpPr/>
            <p:nvPr/>
          </p:nvGrpSpPr>
          <p:grpSpPr>
            <a:xfrm>
              <a:off x="7055715" y="4518900"/>
              <a:ext cx="231600" cy="624600"/>
              <a:chOff x="7055715" y="4518900"/>
              <a:chExt cx="231600" cy="624600"/>
            </a:xfrm>
          </p:grpSpPr>
          <p:sp>
            <p:nvSpPr>
              <p:cNvPr id="240" name="Google Shape;240;p11"/>
              <p:cNvSpPr/>
              <p:nvPr/>
            </p:nvSpPr>
            <p:spPr>
              <a:xfrm flipH="1">
                <a:off x="705571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" name="Google Shape;241;p11"/>
              <p:cNvSpPr/>
              <p:nvPr/>
            </p:nvSpPr>
            <p:spPr>
              <a:xfrm flipH="1">
                <a:off x="705571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" name="Google Shape;242;p11"/>
              <p:cNvSpPr/>
              <p:nvPr/>
            </p:nvSpPr>
            <p:spPr>
              <a:xfrm flipH="1">
                <a:off x="705571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3" name="Google Shape;243;p11"/>
            <p:cNvGrpSpPr/>
            <p:nvPr/>
          </p:nvGrpSpPr>
          <p:grpSpPr>
            <a:xfrm>
              <a:off x="7798424" y="4099200"/>
              <a:ext cx="231600" cy="1044300"/>
              <a:chOff x="7798424" y="4099200"/>
              <a:chExt cx="231600" cy="1044300"/>
            </a:xfrm>
          </p:grpSpPr>
          <p:sp>
            <p:nvSpPr>
              <p:cNvPr id="244" name="Google Shape;244;p11"/>
              <p:cNvSpPr/>
              <p:nvPr/>
            </p:nvSpPr>
            <p:spPr>
              <a:xfrm flipH="1">
                <a:off x="779842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" name="Google Shape;245;p11"/>
              <p:cNvSpPr/>
              <p:nvPr/>
            </p:nvSpPr>
            <p:spPr>
              <a:xfrm flipH="1">
                <a:off x="779842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" name="Google Shape;246;p11"/>
              <p:cNvSpPr/>
              <p:nvPr/>
            </p:nvSpPr>
            <p:spPr>
              <a:xfrm flipH="1">
                <a:off x="779842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" name="Google Shape;247;p11"/>
              <p:cNvSpPr/>
              <p:nvPr/>
            </p:nvSpPr>
            <p:spPr>
              <a:xfrm flipH="1">
                <a:off x="7798424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" name="Google Shape;248;p11"/>
              <p:cNvSpPr/>
              <p:nvPr/>
            </p:nvSpPr>
            <p:spPr>
              <a:xfrm flipH="1">
                <a:off x="779842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9" name="Google Shape;249;p11"/>
            <p:cNvGrpSpPr/>
            <p:nvPr/>
          </p:nvGrpSpPr>
          <p:grpSpPr>
            <a:xfrm>
              <a:off x="8169779" y="4309200"/>
              <a:ext cx="231600" cy="834300"/>
              <a:chOff x="8169779" y="4309200"/>
              <a:chExt cx="231600" cy="834300"/>
            </a:xfrm>
          </p:grpSpPr>
          <p:sp>
            <p:nvSpPr>
              <p:cNvPr id="250" name="Google Shape;250;p11"/>
              <p:cNvSpPr/>
              <p:nvPr/>
            </p:nvSpPr>
            <p:spPr>
              <a:xfrm flipH="1">
                <a:off x="81697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11"/>
              <p:cNvSpPr/>
              <p:nvPr/>
            </p:nvSpPr>
            <p:spPr>
              <a:xfrm flipH="1">
                <a:off x="8169779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" name="Google Shape;252;p11"/>
              <p:cNvSpPr/>
              <p:nvPr/>
            </p:nvSpPr>
            <p:spPr>
              <a:xfrm flipH="1">
                <a:off x="81697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" name="Google Shape;253;p11"/>
              <p:cNvSpPr/>
              <p:nvPr/>
            </p:nvSpPr>
            <p:spPr>
              <a:xfrm flipH="1">
                <a:off x="81697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4" name="Google Shape;254;p11"/>
            <p:cNvGrpSpPr/>
            <p:nvPr/>
          </p:nvGrpSpPr>
          <p:grpSpPr>
            <a:xfrm>
              <a:off x="7427070" y="4309200"/>
              <a:ext cx="231600" cy="834300"/>
              <a:chOff x="7427070" y="4309200"/>
              <a:chExt cx="231600" cy="834300"/>
            </a:xfrm>
          </p:grpSpPr>
          <p:sp>
            <p:nvSpPr>
              <p:cNvPr id="255" name="Google Shape;255;p11"/>
              <p:cNvSpPr/>
              <p:nvPr/>
            </p:nvSpPr>
            <p:spPr>
              <a:xfrm flipH="1">
                <a:off x="7427070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11"/>
              <p:cNvSpPr/>
              <p:nvPr/>
            </p:nvSpPr>
            <p:spPr>
              <a:xfrm flipH="1">
                <a:off x="7427070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1"/>
              <p:cNvSpPr/>
              <p:nvPr/>
            </p:nvSpPr>
            <p:spPr>
              <a:xfrm flipH="1">
                <a:off x="7427070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" name="Google Shape;258;p11"/>
              <p:cNvSpPr/>
              <p:nvPr/>
            </p:nvSpPr>
            <p:spPr>
              <a:xfrm flipH="1">
                <a:off x="7427070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9" name="Google Shape;259;p11"/>
            <p:cNvGrpSpPr/>
            <p:nvPr/>
          </p:nvGrpSpPr>
          <p:grpSpPr>
            <a:xfrm>
              <a:off x="8541133" y="4518900"/>
              <a:ext cx="231600" cy="624600"/>
              <a:chOff x="8541133" y="4518900"/>
              <a:chExt cx="231600" cy="624600"/>
            </a:xfrm>
          </p:grpSpPr>
          <p:sp>
            <p:nvSpPr>
              <p:cNvPr id="260" name="Google Shape;260;p11"/>
              <p:cNvSpPr/>
              <p:nvPr/>
            </p:nvSpPr>
            <p:spPr>
              <a:xfrm flipH="1">
                <a:off x="854113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" name="Google Shape;261;p11"/>
              <p:cNvSpPr/>
              <p:nvPr/>
            </p:nvSpPr>
            <p:spPr>
              <a:xfrm flipH="1">
                <a:off x="854113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" name="Google Shape;262;p11"/>
              <p:cNvSpPr/>
              <p:nvPr/>
            </p:nvSpPr>
            <p:spPr>
              <a:xfrm flipH="1">
                <a:off x="854113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3" name="Google Shape;263;p11"/>
            <p:cNvGrpSpPr/>
            <p:nvPr/>
          </p:nvGrpSpPr>
          <p:grpSpPr>
            <a:xfrm>
              <a:off x="8912488" y="4309200"/>
              <a:ext cx="231600" cy="834300"/>
              <a:chOff x="8912488" y="4309200"/>
              <a:chExt cx="231600" cy="834300"/>
            </a:xfrm>
          </p:grpSpPr>
          <p:sp>
            <p:nvSpPr>
              <p:cNvPr id="264" name="Google Shape;264;p11"/>
              <p:cNvSpPr/>
              <p:nvPr/>
            </p:nvSpPr>
            <p:spPr>
              <a:xfrm flipH="1">
                <a:off x="89124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" name="Google Shape;265;p11"/>
              <p:cNvSpPr/>
              <p:nvPr/>
            </p:nvSpPr>
            <p:spPr>
              <a:xfrm flipH="1">
                <a:off x="89124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" name="Google Shape;266;p11"/>
              <p:cNvSpPr/>
              <p:nvPr/>
            </p:nvSpPr>
            <p:spPr>
              <a:xfrm flipH="1">
                <a:off x="89124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" name="Google Shape;267;p11"/>
              <p:cNvSpPr/>
              <p:nvPr/>
            </p:nvSpPr>
            <p:spPr>
              <a:xfrm flipH="1">
                <a:off x="89124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68" name="Google Shape;268;p11"/>
          <p:cNvSpPr txBox="1"/>
          <p:nvPr>
            <p:ph hasCustomPrompt="1" type="title"/>
          </p:nvPr>
        </p:nvSpPr>
        <p:spPr>
          <a:xfrm>
            <a:off x="1388625" y="772725"/>
            <a:ext cx="6366900" cy="186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9" name="Google Shape;269;p11"/>
          <p:cNvSpPr txBox="1"/>
          <p:nvPr>
            <p:ph idx="1" type="body"/>
          </p:nvPr>
        </p:nvSpPr>
        <p:spPr>
          <a:xfrm>
            <a:off x="1388625" y="2712300"/>
            <a:ext cx="6366900" cy="11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0" name="Google Shape;270;p1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omentu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●"/>
              <a:defRPr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Relationship Id="rId4" Type="http://schemas.openxmlformats.org/officeDocument/2006/relationships/image" Target="../media/image1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Relationship Id="rId4" Type="http://schemas.openxmlformats.org/officeDocument/2006/relationships/image" Target="../media/image1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7.png"/><Relationship Id="rId4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8.png"/><Relationship Id="rId4" Type="http://schemas.openxmlformats.org/officeDocument/2006/relationships/image" Target="../media/image10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2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ANOVA</a:t>
            </a:r>
            <a:endParaRPr/>
          </a:p>
        </p:txBody>
      </p:sp>
      <p:sp>
        <p:nvSpPr>
          <p:cNvPr id="278" name="Google Shape;278;p13"/>
          <p:cNvSpPr txBox="1"/>
          <p:nvPr>
            <p:ph idx="1" type="subTitle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Analysis of Variance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Three or More Population Means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ANOVA Basics</a:t>
            </a:r>
            <a:endParaRPr/>
          </a:p>
        </p:txBody>
      </p:sp>
      <p:sp>
        <p:nvSpPr>
          <p:cNvPr id="284" name="Google Shape;284;p14"/>
          <p:cNvSpPr txBox="1"/>
          <p:nvPr>
            <p:ph idx="1" type="body"/>
          </p:nvPr>
        </p:nvSpPr>
        <p:spPr>
          <a:xfrm>
            <a:off x="311700" y="1362725"/>
            <a:ext cx="4553100" cy="32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Extension</a:t>
            </a:r>
            <a:r>
              <a:rPr lang="en" sz="1800"/>
              <a:t> of two-sample hypothesis testing to three or more groups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/>
              <a:t>Used when response variable is continuous and predictor variable is categorical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/>
              <a:t>Factor: Categorical explanatory variable (Major)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/>
              <a:t>Level: Categories within the factor (Economics, Marketing…)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/>
              <a:t>One or more “factors” / categorical variables (school type, major)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800"/>
              <a:t>Each factor contains two or more levels (public/private, engineering/biology/economics…)</a:t>
            </a:r>
            <a:endParaRPr sz="1800"/>
          </a:p>
        </p:txBody>
      </p:sp>
      <p:pic>
        <p:nvPicPr>
          <p:cNvPr id="285" name="Google Shape;28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64800" y="1605351"/>
            <a:ext cx="4060449" cy="20500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not lots of T tests?</a:t>
            </a:r>
            <a:endParaRPr/>
          </a:p>
        </p:txBody>
      </p:sp>
      <p:sp>
        <p:nvSpPr>
          <p:cNvPr id="291" name="Google Shape;291;p15"/>
          <p:cNvSpPr txBox="1"/>
          <p:nvPr>
            <p:ph idx="1" type="body"/>
          </p:nvPr>
        </p:nvSpPr>
        <p:spPr>
          <a:xfrm>
            <a:off x="311700" y="1362725"/>
            <a:ext cx="4168500" cy="32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Each t-test at alpha = 5% has a 5% type 1 error rate.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/>
              <a:t>Running many pairwise t-tests increases the chance of getting at least one false positive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/>
              <a:t>ANOVA tests the overall null hypothesis that all group means are equal while controlling the type 1 error rate (for that omnibus test)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800"/>
              <a:t>ANOVA also takes into </a:t>
            </a:r>
            <a:r>
              <a:rPr lang="en" sz="1800"/>
              <a:t>account</a:t>
            </a:r>
            <a:r>
              <a:rPr lang="en" sz="1800"/>
              <a:t> variance across all groups</a:t>
            </a:r>
            <a:endParaRPr sz="1800"/>
          </a:p>
        </p:txBody>
      </p:sp>
      <p:pic>
        <p:nvPicPr>
          <p:cNvPr id="292" name="Google Shape;292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84634" y="0"/>
            <a:ext cx="1854132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1597876"/>
            <a:ext cx="2242126" cy="203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ANOVA Workflow</a:t>
            </a:r>
            <a:endParaRPr/>
          </a:p>
        </p:txBody>
      </p:sp>
      <p:sp>
        <p:nvSpPr>
          <p:cNvPr id="299" name="Google Shape;299;p16"/>
          <p:cNvSpPr txBox="1"/>
          <p:nvPr>
            <p:ph idx="1" type="body"/>
          </p:nvPr>
        </p:nvSpPr>
        <p:spPr>
          <a:xfrm>
            <a:off x="899575" y="1597875"/>
            <a:ext cx="7434600" cy="293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AutoNum type="arabicParenR"/>
            </a:pPr>
            <a:r>
              <a:rPr lang="en" sz="1700"/>
              <a:t>EDA: Summary statistics and graphics (</a:t>
            </a:r>
            <a:r>
              <a:rPr lang="en" sz="1700"/>
              <a:t>box plots</a:t>
            </a:r>
            <a:r>
              <a:rPr lang="en" sz="1700"/>
              <a:t>, histograms)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AutoNum type="arabicParenR"/>
            </a:pPr>
            <a:r>
              <a:rPr lang="en" sz="1700"/>
              <a:t>Fit the model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AutoNum type="arabicParenR"/>
            </a:pPr>
            <a:r>
              <a:rPr lang="en" sz="1700"/>
              <a:t>Check residual diagnostics for normality and variance patterns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AutoNum type="arabicParenR"/>
            </a:pPr>
            <a:r>
              <a:rPr lang="en" sz="1700"/>
              <a:t>Use Levene’s test to assess equal variances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AutoNum type="arabicParenR"/>
            </a:pPr>
            <a:r>
              <a:rPr lang="en" sz="1700"/>
              <a:t>If assumptions are met, interpret F-statistic and p-value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AutoNum type="arabicParenR"/>
            </a:pPr>
            <a:r>
              <a:rPr lang="en" sz="1700"/>
              <a:t>If significant, run post hoc tests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AutoNum type="arabicParenR"/>
            </a:pPr>
            <a:r>
              <a:rPr lang="en" sz="1700"/>
              <a:t>Compute effect sizes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AutoNum type="arabicParenR"/>
            </a:pPr>
            <a:r>
              <a:rPr lang="en" sz="1700"/>
              <a:t>Report results</a:t>
            </a:r>
            <a:endParaRPr sz="17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7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ANOVA Assumptions</a:t>
            </a:r>
            <a:endParaRPr/>
          </a:p>
        </p:txBody>
      </p:sp>
      <p:sp>
        <p:nvSpPr>
          <p:cNvPr id="305" name="Google Shape;305;p17"/>
          <p:cNvSpPr txBox="1"/>
          <p:nvPr>
            <p:ph idx="1" type="body"/>
          </p:nvPr>
        </p:nvSpPr>
        <p:spPr>
          <a:xfrm>
            <a:off x="568850" y="1362600"/>
            <a:ext cx="7765500" cy="316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Assumptions:</a:t>
            </a:r>
            <a:endParaRPr sz="1800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arenR"/>
            </a:pPr>
            <a:r>
              <a:rPr lang="en" sz="1800"/>
              <a:t>Observations are independent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 sz="1800"/>
              <a:t>Residuals within each group are approximately normal*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 sz="1800"/>
              <a:t>Population variances are approximately equal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 sz="1800"/>
              <a:t>No extreme outliers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/>
              <a:t>*If these assumptions are not met, ANOVA is probably still fine if n &gt;30, but unequal variances and severe non-normality can still matter 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8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ANOVA </a:t>
            </a:r>
            <a:endParaRPr/>
          </a:p>
        </p:txBody>
      </p:sp>
      <p:sp>
        <p:nvSpPr>
          <p:cNvPr id="311" name="Google Shape;311;p18"/>
          <p:cNvSpPr txBox="1"/>
          <p:nvPr>
            <p:ph idx="1" type="body"/>
          </p:nvPr>
        </p:nvSpPr>
        <p:spPr>
          <a:xfrm>
            <a:off x="877050" y="1597875"/>
            <a:ext cx="73899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One-Way ANOVA: 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/>
              <a:t>Used to test three or more group means for </a:t>
            </a:r>
            <a:r>
              <a:rPr lang="en" sz="1600"/>
              <a:t>differences</a:t>
            </a:r>
            <a:r>
              <a:rPr lang="en" sz="1600"/>
              <a:t> across a single factor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/>
              <a:t>Two-Way ANOVA: 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/>
              <a:t>Used to test three or more group means for differences across two or more factors and their interaction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9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Levene’s Test For Equal Variance </a:t>
            </a:r>
            <a:endParaRPr/>
          </a:p>
        </p:txBody>
      </p:sp>
      <p:pic>
        <p:nvPicPr>
          <p:cNvPr id="317" name="Google Shape;3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3726" y="1066200"/>
            <a:ext cx="7796549" cy="366454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8" name="Google Shape;318;p19"/>
          <p:cNvCxnSpPr/>
          <p:nvPr/>
        </p:nvCxnSpPr>
        <p:spPr>
          <a:xfrm rot="10800000">
            <a:off x="3579675" y="4583025"/>
            <a:ext cx="1957200" cy="167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19" name="Google Shape;319;p19"/>
          <p:cNvSpPr txBox="1"/>
          <p:nvPr/>
        </p:nvSpPr>
        <p:spPr>
          <a:xfrm>
            <a:off x="5625400" y="4622275"/>
            <a:ext cx="2075100" cy="2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P value &lt; alpha = reject null of equal variance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20" name="Google Shape;320;p19"/>
          <p:cNvSpPr txBox="1"/>
          <p:nvPr/>
        </p:nvSpPr>
        <p:spPr>
          <a:xfrm>
            <a:off x="5908775" y="4006675"/>
            <a:ext cx="300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If variances differ substantially, use Welch’s ANOVA</a:t>
            </a:r>
            <a:endParaRPr b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20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Way ANOVA	</a:t>
            </a:r>
            <a:endParaRPr/>
          </a:p>
        </p:txBody>
      </p:sp>
      <p:sp>
        <p:nvSpPr>
          <p:cNvPr id="326" name="Google Shape;326;p20"/>
          <p:cNvSpPr txBox="1"/>
          <p:nvPr>
            <p:ph idx="1" type="body"/>
          </p:nvPr>
        </p:nvSpPr>
        <p:spPr>
          <a:xfrm>
            <a:off x="311700" y="1179900"/>
            <a:ext cx="4286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H0: Group 1 Mean = Group 2 Mean = Group 3 Mean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grpSp>
        <p:nvGrpSpPr>
          <p:cNvPr id="327" name="Google Shape;327;p20"/>
          <p:cNvGrpSpPr/>
          <p:nvPr/>
        </p:nvGrpSpPr>
        <p:grpSpPr>
          <a:xfrm>
            <a:off x="392400" y="2797750"/>
            <a:ext cx="4286250" cy="1385887"/>
            <a:chOff x="1517" y="2487"/>
            <a:chExt cx="2700" cy="1056"/>
          </a:xfrm>
        </p:grpSpPr>
        <p:sp>
          <p:nvSpPr>
            <p:cNvPr id="328" name="Google Shape;328;p20"/>
            <p:cNvSpPr/>
            <p:nvPr/>
          </p:nvSpPr>
          <p:spPr>
            <a:xfrm>
              <a:off x="2813" y="2583"/>
              <a:ext cx="1151" cy="911"/>
            </a:xfrm>
            <a:custGeom>
              <a:rect b="b" l="l" r="r" t="t"/>
              <a:pathLst>
                <a:path extrusionOk="0" h="911" w="1151">
                  <a:moveTo>
                    <a:pt x="1150" y="910"/>
                  </a:moveTo>
                  <a:lnTo>
                    <a:pt x="1029" y="899"/>
                  </a:lnTo>
                  <a:lnTo>
                    <a:pt x="969" y="889"/>
                  </a:lnTo>
                  <a:lnTo>
                    <a:pt x="906" y="872"/>
                  </a:lnTo>
                  <a:lnTo>
                    <a:pt x="848" y="852"/>
                  </a:lnTo>
                  <a:lnTo>
                    <a:pt x="786" y="825"/>
                  </a:lnTo>
                  <a:lnTo>
                    <a:pt x="727" y="787"/>
                  </a:lnTo>
                  <a:lnTo>
                    <a:pt x="604" y="683"/>
                  </a:lnTo>
                  <a:lnTo>
                    <a:pt x="483" y="533"/>
                  </a:lnTo>
                  <a:lnTo>
                    <a:pt x="363" y="356"/>
                  </a:lnTo>
                  <a:lnTo>
                    <a:pt x="302" y="265"/>
                  </a:lnTo>
                  <a:lnTo>
                    <a:pt x="240" y="181"/>
                  </a:lnTo>
                  <a:lnTo>
                    <a:pt x="181" y="107"/>
                  </a:lnTo>
                  <a:lnTo>
                    <a:pt x="119" y="49"/>
                  </a:lnTo>
                  <a:lnTo>
                    <a:pt x="60" y="14"/>
                  </a:lnTo>
                  <a:lnTo>
                    <a:pt x="0" y="0"/>
                  </a:lnTo>
                </a:path>
              </a:pathLst>
            </a:custGeom>
            <a:noFill/>
            <a:ln cap="rnd" cmpd="sng" w="25400">
              <a:solidFill>
                <a:srgbClr val="00E4A8"/>
              </a:solidFill>
              <a:prstDash val="solid"/>
              <a:round/>
              <a:headEnd len="med" w="med" type="none"/>
              <a:tailEnd len="med" w="med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" name="Google Shape;329;p20"/>
            <p:cNvSpPr/>
            <p:nvPr/>
          </p:nvSpPr>
          <p:spPr>
            <a:xfrm>
              <a:off x="1709" y="2583"/>
              <a:ext cx="1103" cy="911"/>
            </a:xfrm>
            <a:custGeom>
              <a:rect b="b" l="l" r="r" t="t"/>
              <a:pathLst>
                <a:path extrusionOk="0" h="911" w="1103">
                  <a:moveTo>
                    <a:pt x="0" y="910"/>
                  </a:moveTo>
                  <a:lnTo>
                    <a:pt x="116" y="899"/>
                  </a:lnTo>
                  <a:lnTo>
                    <a:pt x="174" y="889"/>
                  </a:lnTo>
                  <a:lnTo>
                    <a:pt x="234" y="872"/>
                  </a:lnTo>
                  <a:lnTo>
                    <a:pt x="290" y="852"/>
                  </a:lnTo>
                  <a:lnTo>
                    <a:pt x="349" y="825"/>
                  </a:lnTo>
                  <a:lnTo>
                    <a:pt x="405" y="787"/>
                  </a:lnTo>
                  <a:lnTo>
                    <a:pt x="521" y="683"/>
                  </a:lnTo>
                  <a:lnTo>
                    <a:pt x="637" y="533"/>
                  </a:lnTo>
                  <a:lnTo>
                    <a:pt x="755" y="356"/>
                  </a:lnTo>
                  <a:lnTo>
                    <a:pt x="811" y="265"/>
                  </a:lnTo>
                  <a:lnTo>
                    <a:pt x="870" y="181"/>
                  </a:lnTo>
                  <a:lnTo>
                    <a:pt x="927" y="107"/>
                  </a:lnTo>
                  <a:lnTo>
                    <a:pt x="986" y="49"/>
                  </a:lnTo>
                  <a:lnTo>
                    <a:pt x="1042" y="14"/>
                  </a:lnTo>
                  <a:lnTo>
                    <a:pt x="1102" y="0"/>
                  </a:lnTo>
                </a:path>
              </a:pathLst>
            </a:custGeom>
            <a:noFill/>
            <a:ln cap="rnd" cmpd="sng" w="25400">
              <a:solidFill>
                <a:srgbClr val="00E4A8"/>
              </a:solidFill>
              <a:prstDash val="solid"/>
              <a:round/>
              <a:headEnd len="med" w="med" type="none"/>
              <a:tailEnd len="med" w="med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" name="Google Shape;330;p20"/>
            <p:cNvSpPr/>
            <p:nvPr/>
          </p:nvSpPr>
          <p:spPr>
            <a:xfrm>
              <a:off x="2813" y="2535"/>
              <a:ext cx="1151" cy="911"/>
            </a:xfrm>
            <a:custGeom>
              <a:rect b="b" l="l" r="r" t="t"/>
              <a:pathLst>
                <a:path extrusionOk="0" h="911" w="1151">
                  <a:moveTo>
                    <a:pt x="1150" y="910"/>
                  </a:moveTo>
                  <a:lnTo>
                    <a:pt x="1029" y="899"/>
                  </a:lnTo>
                  <a:lnTo>
                    <a:pt x="969" y="889"/>
                  </a:lnTo>
                  <a:lnTo>
                    <a:pt x="906" y="872"/>
                  </a:lnTo>
                  <a:lnTo>
                    <a:pt x="848" y="852"/>
                  </a:lnTo>
                  <a:lnTo>
                    <a:pt x="786" y="825"/>
                  </a:lnTo>
                  <a:lnTo>
                    <a:pt x="727" y="787"/>
                  </a:lnTo>
                  <a:lnTo>
                    <a:pt x="604" y="683"/>
                  </a:lnTo>
                  <a:lnTo>
                    <a:pt x="483" y="533"/>
                  </a:lnTo>
                  <a:lnTo>
                    <a:pt x="363" y="356"/>
                  </a:lnTo>
                  <a:lnTo>
                    <a:pt x="302" y="265"/>
                  </a:lnTo>
                  <a:lnTo>
                    <a:pt x="240" y="181"/>
                  </a:lnTo>
                  <a:lnTo>
                    <a:pt x="181" y="107"/>
                  </a:lnTo>
                  <a:lnTo>
                    <a:pt x="119" y="49"/>
                  </a:lnTo>
                  <a:lnTo>
                    <a:pt x="60" y="14"/>
                  </a:lnTo>
                  <a:lnTo>
                    <a:pt x="0" y="0"/>
                  </a:lnTo>
                </a:path>
              </a:pathLst>
            </a:custGeom>
            <a:noFill/>
            <a:ln cap="rnd" cmpd="sng" w="25400">
              <a:solidFill>
                <a:srgbClr val="FF0000"/>
              </a:solidFill>
              <a:prstDash val="solid"/>
              <a:round/>
              <a:headEnd len="med" w="med" type="none"/>
              <a:tailEnd len="med" w="med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" name="Google Shape;331;p20"/>
            <p:cNvSpPr/>
            <p:nvPr/>
          </p:nvSpPr>
          <p:spPr>
            <a:xfrm>
              <a:off x="1661" y="2535"/>
              <a:ext cx="1151" cy="911"/>
            </a:xfrm>
            <a:custGeom>
              <a:rect b="b" l="l" r="r" t="t"/>
              <a:pathLst>
                <a:path extrusionOk="0" h="911" w="1151">
                  <a:moveTo>
                    <a:pt x="0" y="910"/>
                  </a:moveTo>
                  <a:lnTo>
                    <a:pt x="121" y="899"/>
                  </a:lnTo>
                  <a:lnTo>
                    <a:pt x="181" y="889"/>
                  </a:lnTo>
                  <a:lnTo>
                    <a:pt x="244" y="872"/>
                  </a:lnTo>
                  <a:lnTo>
                    <a:pt x="302" y="852"/>
                  </a:lnTo>
                  <a:lnTo>
                    <a:pt x="365" y="825"/>
                  </a:lnTo>
                  <a:lnTo>
                    <a:pt x="423" y="787"/>
                  </a:lnTo>
                  <a:lnTo>
                    <a:pt x="544" y="683"/>
                  </a:lnTo>
                  <a:lnTo>
                    <a:pt x="665" y="533"/>
                  </a:lnTo>
                  <a:lnTo>
                    <a:pt x="787" y="356"/>
                  </a:lnTo>
                  <a:lnTo>
                    <a:pt x="846" y="265"/>
                  </a:lnTo>
                  <a:lnTo>
                    <a:pt x="908" y="181"/>
                  </a:lnTo>
                  <a:lnTo>
                    <a:pt x="967" y="107"/>
                  </a:lnTo>
                  <a:lnTo>
                    <a:pt x="1029" y="49"/>
                  </a:lnTo>
                  <a:lnTo>
                    <a:pt x="1088" y="14"/>
                  </a:lnTo>
                  <a:lnTo>
                    <a:pt x="1150" y="0"/>
                  </a:lnTo>
                </a:path>
              </a:pathLst>
            </a:custGeom>
            <a:noFill/>
            <a:ln cap="rnd" cmpd="sng" w="25400">
              <a:solidFill>
                <a:srgbClr val="FF0000"/>
              </a:solidFill>
              <a:prstDash val="solid"/>
              <a:round/>
              <a:headEnd len="med" w="med" type="none"/>
              <a:tailEnd len="med" w="med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20"/>
            <p:cNvSpPr/>
            <p:nvPr/>
          </p:nvSpPr>
          <p:spPr>
            <a:xfrm>
              <a:off x="2813" y="2487"/>
              <a:ext cx="1247" cy="911"/>
            </a:xfrm>
            <a:custGeom>
              <a:rect b="b" l="l" r="r" t="t"/>
              <a:pathLst>
                <a:path extrusionOk="0" h="911" w="1247">
                  <a:moveTo>
                    <a:pt x="1246" y="910"/>
                  </a:moveTo>
                  <a:lnTo>
                    <a:pt x="1115" y="899"/>
                  </a:lnTo>
                  <a:lnTo>
                    <a:pt x="1050" y="889"/>
                  </a:lnTo>
                  <a:lnTo>
                    <a:pt x="982" y="872"/>
                  </a:lnTo>
                  <a:lnTo>
                    <a:pt x="919" y="852"/>
                  </a:lnTo>
                  <a:lnTo>
                    <a:pt x="851" y="825"/>
                  </a:lnTo>
                  <a:lnTo>
                    <a:pt x="788" y="787"/>
                  </a:lnTo>
                  <a:lnTo>
                    <a:pt x="655" y="683"/>
                  </a:lnTo>
                  <a:lnTo>
                    <a:pt x="524" y="533"/>
                  </a:lnTo>
                  <a:lnTo>
                    <a:pt x="393" y="356"/>
                  </a:lnTo>
                  <a:lnTo>
                    <a:pt x="327" y="265"/>
                  </a:lnTo>
                  <a:lnTo>
                    <a:pt x="260" y="181"/>
                  </a:lnTo>
                  <a:lnTo>
                    <a:pt x="196" y="107"/>
                  </a:lnTo>
                  <a:lnTo>
                    <a:pt x="129" y="49"/>
                  </a:lnTo>
                  <a:lnTo>
                    <a:pt x="65" y="14"/>
                  </a:lnTo>
                  <a:lnTo>
                    <a:pt x="0" y="0"/>
                  </a:lnTo>
                </a:path>
              </a:pathLst>
            </a:custGeom>
            <a:noFill/>
            <a:ln cap="rnd" cmpd="sng" w="25400">
              <a:solidFill>
                <a:srgbClr val="3333CC"/>
              </a:solidFill>
              <a:prstDash val="solid"/>
              <a:round/>
              <a:headEnd len="med" w="med" type="none"/>
              <a:tailEnd len="med" w="med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" name="Google Shape;333;p20"/>
            <p:cNvSpPr/>
            <p:nvPr/>
          </p:nvSpPr>
          <p:spPr>
            <a:xfrm>
              <a:off x="1613" y="2487"/>
              <a:ext cx="1199" cy="911"/>
            </a:xfrm>
            <a:custGeom>
              <a:rect b="b" l="l" r="r" t="t"/>
              <a:pathLst>
                <a:path extrusionOk="0" h="911" w="1199">
                  <a:moveTo>
                    <a:pt x="0" y="910"/>
                  </a:moveTo>
                  <a:lnTo>
                    <a:pt x="126" y="899"/>
                  </a:lnTo>
                  <a:lnTo>
                    <a:pt x="189" y="889"/>
                  </a:lnTo>
                  <a:lnTo>
                    <a:pt x="254" y="872"/>
                  </a:lnTo>
                  <a:lnTo>
                    <a:pt x="315" y="852"/>
                  </a:lnTo>
                  <a:lnTo>
                    <a:pt x="380" y="825"/>
                  </a:lnTo>
                  <a:lnTo>
                    <a:pt x="441" y="787"/>
                  </a:lnTo>
                  <a:lnTo>
                    <a:pt x="566" y="683"/>
                  </a:lnTo>
                  <a:lnTo>
                    <a:pt x="692" y="533"/>
                  </a:lnTo>
                  <a:lnTo>
                    <a:pt x="820" y="356"/>
                  </a:lnTo>
                  <a:lnTo>
                    <a:pt x="881" y="265"/>
                  </a:lnTo>
                  <a:lnTo>
                    <a:pt x="946" y="181"/>
                  </a:lnTo>
                  <a:lnTo>
                    <a:pt x="1007" y="107"/>
                  </a:lnTo>
                  <a:lnTo>
                    <a:pt x="1072" y="49"/>
                  </a:lnTo>
                  <a:lnTo>
                    <a:pt x="1133" y="14"/>
                  </a:lnTo>
                  <a:lnTo>
                    <a:pt x="1198" y="0"/>
                  </a:lnTo>
                </a:path>
              </a:pathLst>
            </a:custGeom>
            <a:noFill/>
            <a:ln cap="rnd" cmpd="sng" w="25400">
              <a:solidFill>
                <a:srgbClr val="3333CC"/>
              </a:solidFill>
              <a:prstDash val="solid"/>
              <a:round/>
              <a:headEnd len="med" w="med" type="none"/>
              <a:tailEnd len="med" w="med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34" name="Google Shape;334;p20"/>
            <p:cNvCxnSpPr/>
            <p:nvPr/>
          </p:nvCxnSpPr>
          <p:spPr>
            <a:xfrm>
              <a:off x="2813" y="2583"/>
              <a:ext cx="0" cy="900"/>
            </a:xfrm>
            <a:prstGeom prst="straightConnector1">
              <a:avLst/>
            </a:prstGeom>
            <a:noFill/>
            <a:ln cap="flat" cmpd="sng" w="28575">
              <a:solidFill>
                <a:srgbClr val="000000"/>
              </a:solidFill>
              <a:prstDash val="solid"/>
              <a:miter lim="800000"/>
              <a:headEnd len="med" w="med" type="none"/>
              <a:tailEnd len="med" w="med" type="none"/>
            </a:ln>
          </p:spPr>
        </p:cxnSp>
        <p:cxnSp>
          <p:nvCxnSpPr>
            <p:cNvPr id="335" name="Google Shape;335;p20"/>
            <p:cNvCxnSpPr/>
            <p:nvPr/>
          </p:nvCxnSpPr>
          <p:spPr>
            <a:xfrm>
              <a:off x="1517" y="3543"/>
              <a:ext cx="2700" cy="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miter lim="800000"/>
              <a:headEnd len="med" w="med" type="none"/>
              <a:tailEnd len="med" w="med" type="none"/>
            </a:ln>
          </p:spPr>
        </p:cxnSp>
      </p:grpSp>
      <p:sp>
        <p:nvSpPr>
          <p:cNvPr id="336" name="Google Shape;336;p20"/>
          <p:cNvSpPr/>
          <p:nvPr/>
        </p:nvSpPr>
        <p:spPr>
          <a:xfrm>
            <a:off x="6550518" y="1916235"/>
            <a:ext cx="845763" cy="982839"/>
          </a:xfrm>
          <a:custGeom>
            <a:rect b="b" l="l" r="r" t="t"/>
            <a:pathLst>
              <a:path extrusionOk="0" h="911" w="1151">
                <a:moveTo>
                  <a:pt x="1150" y="910"/>
                </a:moveTo>
                <a:lnTo>
                  <a:pt x="1029" y="899"/>
                </a:lnTo>
                <a:lnTo>
                  <a:pt x="969" y="889"/>
                </a:lnTo>
                <a:lnTo>
                  <a:pt x="906" y="872"/>
                </a:lnTo>
                <a:lnTo>
                  <a:pt x="848" y="852"/>
                </a:lnTo>
                <a:lnTo>
                  <a:pt x="786" y="825"/>
                </a:lnTo>
                <a:lnTo>
                  <a:pt x="727" y="787"/>
                </a:lnTo>
                <a:lnTo>
                  <a:pt x="604" y="683"/>
                </a:lnTo>
                <a:lnTo>
                  <a:pt x="483" y="533"/>
                </a:lnTo>
                <a:lnTo>
                  <a:pt x="363" y="356"/>
                </a:lnTo>
                <a:lnTo>
                  <a:pt x="302" y="265"/>
                </a:lnTo>
                <a:lnTo>
                  <a:pt x="240" y="181"/>
                </a:lnTo>
                <a:lnTo>
                  <a:pt x="181" y="107"/>
                </a:lnTo>
                <a:lnTo>
                  <a:pt x="119" y="49"/>
                </a:lnTo>
                <a:lnTo>
                  <a:pt x="60" y="14"/>
                </a:lnTo>
                <a:lnTo>
                  <a:pt x="0" y="0"/>
                </a:lnTo>
              </a:path>
            </a:pathLst>
          </a:custGeom>
          <a:noFill/>
          <a:ln cap="rnd" cmpd="sng" w="25400">
            <a:solidFill>
              <a:srgbClr val="00E4A8"/>
            </a:solidFill>
            <a:prstDash val="solid"/>
            <a:round/>
            <a:headEnd len="med" w="med" type="none"/>
            <a:tailEnd len="med" w="med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20"/>
          <p:cNvSpPr/>
          <p:nvPr/>
        </p:nvSpPr>
        <p:spPr>
          <a:xfrm>
            <a:off x="5756898" y="1916235"/>
            <a:ext cx="810154" cy="982839"/>
          </a:xfrm>
          <a:custGeom>
            <a:rect b="b" l="l" r="r" t="t"/>
            <a:pathLst>
              <a:path extrusionOk="0" h="911" w="1103">
                <a:moveTo>
                  <a:pt x="0" y="910"/>
                </a:moveTo>
                <a:lnTo>
                  <a:pt x="116" y="899"/>
                </a:lnTo>
                <a:lnTo>
                  <a:pt x="174" y="889"/>
                </a:lnTo>
                <a:lnTo>
                  <a:pt x="234" y="872"/>
                </a:lnTo>
                <a:lnTo>
                  <a:pt x="290" y="852"/>
                </a:lnTo>
                <a:lnTo>
                  <a:pt x="349" y="825"/>
                </a:lnTo>
                <a:lnTo>
                  <a:pt x="405" y="787"/>
                </a:lnTo>
                <a:lnTo>
                  <a:pt x="521" y="683"/>
                </a:lnTo>
                <a:lnTo>
                  <a:pt x="637" y="533"/>
                </a:lnTo>
                <a:lnTo>
                  <a:pt x="755" y="356"/>
                </a:lnTo>
                <a:lnTo>
                  <a:pt x="811" y="265"/>
                </a:lnTo>
                <a:lnTo>
                  <a:pt x="870" y="181"/>
                </a:lnTo>
                <a:lnTo>
                  <a:pt x="927" y="107"/>
                </a:lnTo>
                <a:lnTo>
                  <a:pt x="986" y="49"/>
                </a:lnTo>
                <a:lnTo>
                  <a:pt x="1042" y="14"/>
                </a:lnTo>
                <a:lnTo>
                  <a:pt x="1102" y="0"/>
                </a:lnTo>
              </a:path>
            </a:pathLst>
          </a:custGeom>
          <a:noFill/>
          <a:ln cap="rnd" cmpd="sng" w="25400">
            <a:solidFill>
              <a:srgbClr val="00E4A8"/>
            </a:solidFill>
            <a:prstDash val="solid"/>
            <a:round/>
            <a:headEnd len="med" w="med" type="none"/>
            <a:tailEnd len="med" w="med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20"/>
          <p:cNvSpPr/>
          <p:nvPr/>
        </p:nvSpPr>
        <p:spPr>
          <a:xfrm>
            <a:off x="6550518" y="1864450"/>
            <a:ext cx="845763" cy="982839"/>
          </a:xfrm>
          <a:custGeom>
            <a:rect b="b" l="l" r="r" t="t"/>
            <a:pathLst>
              <a:path extrusionOk="0" h="911" w="1151">
                <a:moveTo>
                  <a:pt x="1150" y="910"/>
                </a:moveTo>
                <a:lnTo>
                  <a:pt x="1029" y="899"/>
                </a:lnTo>
                <a:lnTo>
                  <a:pt x="969" y="889"/>
                </a:lnTo>
                <a:lnTo>
                  <a:pt x="906" y="872"/>
                </a:lnTo>
                <a:lnTo>
                  <a:pt x="848" y="852"/>
                </a:lnTo>
                <a:lnTo>
                  <a:pt x="786" y="825"/>
                </a:lnTo>
                <a:lnTo>
                  <a:pt x="727" y="787"/>
                </a:lnTo>
                <a:lnTo>
                  <a:pt x="604" y="683"/>
                </a:lnTo>
                <a:lnTo>
                  <a:pt x="483" y="533"/>
                </a:lnTo>
                <a:lnTo>
                  <a:pt x="363" y="356"/>
                </a:lnTo>
                <a:lnTo>
                  <a:pt x="302" y="265"/>
                </a:lnTo>
                <a:lnTo>
                  <a:pt x="240" y="181"/>
                </a:lnTo>
                <a:lnTo>
                  <a:pt x="181" y="107"/>
                </a:lnTo>
                <a:lnTo>
                  <a:pt x="119" y="49"/>
                </a:lnTo>
                <a:lnTo>
                  <a:pt x="60" y="14"/>
                </a:lnTo>
                <a:lnTo>
                  <a:pt x="0" y="0"/>
                </a:lnTo>
              </a:path>
            </a:pathLst>
          </a:custGeom>
          <a:noFill/>
          <a:ln cap="rnd" cmpd="sng" w="254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0"/>
          <p:cNvSpPr/>
          <p:nvPr/>
        </p:nvSpPr>
        <p:spPr>
          <a:xfrm>
            <a:off x="5695850" y="1864450"/>
            <a:ext cx="845763" cy="982839"/>
          </a:xfrm>
          <a:custGeom>
            <a:rect b="b" l="l" r="r" t="t"/>
            <a:pathLst>
              <a:path extrusionOk="0" h="911" w="1151">
                <a:moveTo>
                  <a:pt x="0" y="910"/>
                </a:moveTo>
                <a:lnTo>
                  <a:pt x="121" y="899"/>
                </a:lnTo>
                <a:lnTo>
                  <a:pt x="181" y="889"/>
                </a:lnTo>
                <a:lnTo>
                  <a:pt x="244" y="872"/>
                </a:lnTo>
                <a:lnTo>
                  <a:pt x="302" y="852"/>
                </a:lnTo>
                <a:lnTo>
                  <a:pt x="365" y="825"/>
                </a:lnTo>
                <a:lnTo>
                  <a:pt x="423" y="787"/>
                </a:lnTo>
                <a:lnTo>
                  <a:pt x="544" y="683"/>
                </a:lnTo>
                <a:lnTo>
                  <a:pt x="665" y="533"/>
                </a:lnTo>
                <a:lnTo>
                  <a:pt x="787" y="356"/>
                </a:lnTo>
                <a:lnTo>
                  <a:pt x="846" y="265"/>
                </a:lnTo>
                <a:lnTo>
                  <a:pt x="908" y="181"/>
                </a:lnTo>
                <a:lnTo>
                  <a:pt x="967" y="107"/>
                </a:lnTo>
                <a:lnTo>
                  <a:pt x="1029" y="49"/>
                </a:lnTo>
                <a:lnTo>
                  <a:pt x="1088" y="14"/>
                </a:lnTo>
                <a:lnTo>
                  <a:pt x="1150" y="0"/>
                </a:lnTo>
              </a:path>
            </a:pathLst>
          </a:custGeom>
          <a:noFill/>
          <a:ln cap="rnd" cmpd="sng" w="254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20"/>
          <p:cNvSpPr/>
          <p:nvPr/>
        </p:nvSpPr>
        <p:spPr>
          <a:xfrm>
            <a:off x="7466234" y="1916235"/>
            <a:ext cx="915716" cy="982839"/>
          </a:xfrm>
          <a:custGeom>
            <a:rect b="b" l="l" r="r" t="t"/>
            <a:pathLst>
              <a:path extrusionOk="0" h="911" w="1247">
                <a:moveTo>
                  <a:pt x="1246" y="910"/>
                </a:moveTo>
                <a:lnTo>
                  <a:pt x="1115" y="899"/>
                </a:lnTo>
                <a:lnTo>
                  <a:pt x="1050" y="889"/>
                </a:lnTo>
                <a:lnTo>
                  <a:pt x="982" y="872"/>
                </a:lnTo>
                <a:lnTo>
                  <a:pt x="919" y="852"/>
                </a:lnTo>
                <a:lnTo>
                  <a:pt x="851" y="825"/>
                </a:lnTo>
                <a:lnTo>
                  <a:pt x="788" y="787"/>
                </a:lnTo>
                <a:lnTo>
                  <a:pt x="655" y="683"/>
                </a:lnTo>
                <a:lnTo>
                  <a:pt x="524" y="533"/>
                </a:lnTo>
                <a:lnTo>
                  <a:pt x="393" y="356"/>
                </a:lnTo>
                <a:lnTo>
                  <a:pt x="327" y="265"/>
                </a:lnTo>
                <a:lnTo>
                  <a:pt x="260" y="181"/>
                </a:lnTo>
                <a:lnTo>
                  <a:pt x="196" y="107"/>
                </a:lnTo>
                <a:lnTo>
                  <a:pt x="129" y="49"/>
                </a:lnTo>
                <a:lnTo>
                  <a:pt x="65" y="14"/>
                </a:lnTo>
                <a:lnTo>
                  <a:pt x="0" y="0"/>
                </a:lnTo>
              </a:path>
            </a:pathLst>
          </a:custGeom>
          <a:noFill/>
          <a:ln cap="rnd" cmpd="sng" w="25400">
            <a:solidFill>
              <a:srgbClr val="3333CC"/>
            </a:solidFill>
            <a:prstDash val="solid"/>
            <a:round/>
            <a:headEnd len="med" w="med" type="none"/>
            <a:tailEnd len="med" w="med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20"/>
          <p:cNvSpPr/>
          <p:nvPr/>
        </p:nvSpPr>
        <p:spPr>
          <a:xfrm>
            <a:off x="6550518" y="1916235"/>
            <a:ext cx="902998" cy="981760"/>
          </a:xfrm>
          <a:custGeom>
            <a:rect b="b" l="l" r="r" t="t"/>
            <a:pathLst>
              <a:path extrusionOk="0" h="910" w="710">
                <a:moveTo>
                  <a:pt x="0" y="910"/>
                </a:moveTo>
                <a:lnTo>
                  <a:pt x="73" y="899"/>
                </a:lnTo>
                <a:lnTo>
                  <a:pt x="109" y="889"/>
                </a:lnTo>
                <a:lnTo>
                  <a:pt x="147" y="872"/>
                </a:lnTo>
                <a:lnTo>
                  <a:pt x="182" y="852"/>
                </a:lnTo>
                <a:lnTo>
                  <a:pt x="219" y="825"/>
                </a:lnTo>
                <a:lnTo>
                  <a:pt x="255" y="787"/>
                </a:lnTo>
                <a:lnTo>
                  <a:pt x="327" y="683"/>
                </a:lnTo>
                <a:lnTo>
                  <a:pt x="399" y="533"/>
                </a:lnTo>
                <a:lnTo>
                  <a:pt x="473" y="356"/>
                </a:lnTo>
                <a:lnTo>
                  <a:pt x="508" y="265"/>
                </a:lnTo>
                <a:lnTo>
                  <a:pt x="546" y="181"/>
                </a:lnTo>
                <a:lnTo>
                  <a:pt x="581" y="107"/>
                </a:lnTo>
                <a:lnTo>
                  <a:pt x="619" y="49"/>
                </a:lnTo>
                <a:lnTo>
                  <a:pt x="654" y="14"/>
                </a:lnTo>
                <a:lnTo>
                  <a:pt x="710" y="0"/>
                </a:lnTo>
              </a:path>
            </a:pathLst>
          </a:custGeom>
          <a:noFill/>
          <a:ln cap="rnd" cmpd="sng" w="25400">
            <a:solidFill>
              <a:srgbClr val="3333CC"/>
            </a:solidFill>
            <a:prstDash val="solid"/>
            <a:round/>
            <a:headEnd len="med" w="med" type="none"/>
            <a:tailEnd len="med" w="med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20"/>
          <p:cNvSpPr/>
          <p:nvPr/>
        </p:nvSpPr>
        <p:spPr>
          <a:xfrm>
            <a:off x="6895989" y="3058075"/>
            <a:ext cx="963896" cy="1315138"/>
          </a:xfrm>
          <a:custGeom>
            <a:rect b="b" l="l" r="r" t="t"/>
            <a:pathLst>
              <a:path extrusionOk="0" h="911" w="1151">
                <a:moveTo>
                  <a:pt x="1150" y="910"/>
                </a:moveTo>
                <a:lnTo>
                  <a:pt x="1029" y="899"/>
                </a:lnTo>
                <a:lnTo>
                  <a:pt x="969" y="889"/>
                </a:lnTo>
                <a:lnTo>
                  <a:pt x="906" y="872"/>
                </a:lnTo>
                <a:lnTo>
                  <a:pt x="848" y="852"/>
                </a:lnTo>
                <a:lnTo>
                  <a:pt x="786" y="825"/>
                </a:lnTo>
                <a:lnTo>
                  <a:pt x="727" y="787"/>
                </a:lnTo>
                <a:lnTo>
                  <a:pt x="604" y="683"/>
                </a:lnTo>
                <a:lnTo>
                  <a:pt x="483" y="533"/>
                </a:lnTo>
                <a:lnTo>
                  <a:pt x="363" y="356"/>
                </a:lnTo>
                <a:lnTo>
                  <a:pt x="302" y="265"/>
                </a:lnTo>
                <a:lnTo>
                  <a:pt x="240" y="181"/>
                </a:lnTo>
                <a:lnTo>
                  <a:pt x="181" y="107"/>
                </a:lnTo>
                <a:lnTo>
                  <a:pt x="119" y="49"/>
                </a:lnTo>
                <a:lnTo>
                  <a:pt x="60" y="14"/>
                </a:lnTo>
                <a:lnTo>
                  <a:pt x="0" y="0"/>
                </a:lnTo>
              </a:path>
            </a:pathLst>
          </a:custGeom>
          <a:noFill/>
          <a:ln cap="rnd" cmpd="sng" w="25400">
            <a:solidFill>
              <a:srgbClr val="00E4A8"/>
            </a:solidFill>
            <a:prstDash val="solid"/>
            <a:round/>
            <a:headEnd len="med" w="med" type="none"/>
            <a:tailEnd len="med" w="med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20"/>
          <p:cNvSpPr/>
          <p:nvPr/>
        </p:nvSpPr>
        <p:spPr>
          <a:xfrm>
            <a:off x="5991521" y="3058075"/>
            <a:ext cx="923310" cy="1315138"/>
          </a:xfrm>
          <a:custGeom>
            <a:rect b="b" l="l" r="r" t="t"/>
            <a:pathLst>
              <a:path extrusionOk="0" h="911" w="1103">
                <a:moveTo>
                  <a:pt x="0" y="910"/>
                </a:moveTo>
                <a:lnTo>
                  <a:pt x="116" y="899"/>
                </a:lnTo>
                <a:lnTo>
                  <a:pt x="174" y="889"/>
                </a:lnTo>
                <a:lnTo>
                  <a:pt x="234" y="872"/>
                </a:lnTo>
                <a:lnTo>
                  <a:pt x="290" y="852"/>
                </a:lnTo>
                <a:lnTo>
                  <a:pt x="349" y="825"/>
                </a:lnTo>
                <a:lnTo>
                  <a:pt x="405" y="787"/>
                </a:lnTo>
                <a:lnTo>
                  <a:pt x="521" y="683"/>
                </a:lnTo>
                <a:lnTo>
                  <a:pt x="637" y="533"/>
                </a:lnTo>
                <a:lnTo>
                  <a:pt x="755" y="356"/>
                </a:lnTo>
                <a:lnTo>
                  <a:pt x="811" y="265"/>
                </a:lnTo>
                <a:lnTo>
                  <a:pt x="870" y="181"/>
                </a:lnTo>
                <a:lnTo>
                  <a:pt x="927" y="107"/>
                </a:lnTo>
                <a:lnTo>
                  <a:pt x="986" y="49"/>
                </a:lnTo>
                <a:lnTo>
                  <a:pt x="1042" y="14"/>
                </a:lnTo>
                <a:lnTo>
                  <a:pt x="1102" y="0"/>
                </a:lnTo>
              </a:path>
            </a:pathLst>
          </a:custGeom>
          <a:noFill/>
          <a:ln cap="rnd" cmpd="sng" w="25400">
            <a:solidFill>
              <a:srgbClr val="00E4A8"/>
            </a:solidFill>
            <a:prstDash val="solid"/>
            <a:round/>
            <a:headEnd len="med" w="med" type="none"/>
            <a:tailEnd len="med" w="med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20"/>
          <p:cNvSpPr/>
          <p:nvPr/>
        </p:nvSpPr>
        <p:spPr>
          <a:xfrm>
            <a:off x="6339393" y="3058075"/>
            <a:ext cx="963896" cy="1315138"/>
          </a:xfrm>
          <a:custGeom>
            <a:rect b="b" l="l" r="r" t="t"/>
            <a:pathLst>
              <a:path extrusionOk="0" h="911" w="1151">
                <a:moveTo>
                  <a:pt x="1150" y="910"/>
                </a:moveTo>
                <a:lnTo>
                  <a:pt x="1029" y="899"/>
                </a:lnTo>
                <a:lnTo>
                  <a:pt x="969" y="889"/>
                </a:lnTo>
                <a:lnTo>
                  <a:pt x="906" y="872"/>
                </a:lnTo>
                <a:lnTo>
                  <a:pt x="848" y="852"/>
                </a:lnTo>
                <a:lnTo>
                  <a:pt x="786" y="825"/>
                </a:lnTo>
                <a:lnTo>
                  <a:pt x="727" y="787"/>
                </a:lnTo>
                <a:lnTo>
                  <a:pt x="604" y="683"/>
                </a:lnTo>
                <a:lnTo>
                  <a:pt x="483" y="533"/>
                </a:lnTo>
                <a:lnTo>
                  <a:pt x="363" y="356"/>
                </a:lnTo>
                <a:lnTo>
                  <a:pt x="302" y="265"/>
                </a:lnTo>
                <a:lnTo>
                  <a:pt x="240" y="181"/>
                </a:lnTo>
                <a:lnTo>
                  <a:pt x="181" y="107"/>
                </a:lnTo>
                <a:lnTo>
                  <a:pt x="119" y="49"/>
                </a:lnTo>
                <a:lnTo>
                  <a:pt x="60" y="14"/>
                </a:lnTo>
                <a:lnTo>
                  <a:pt x="0" y="0"/>
                </a:lnTo>
              </a:path>
            </a:pathLst>
          </a:custGeom>
          <a:noFill/>
          <a:ln cap="rnd" cmpd="sng" w="254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0"/>
          <p:cNvSpPr/>
          <p:nvPr/>
        </p:nvSpPr>
        <p:spPr>
          <a:xfrm>
            <a:off x="5365350" y="3058075"/>
            <a:ext cx="963896" cy="1315138"/>
          </a:xfrm>
          <a:custGeom>
            <a:rect b="b" l="l" r="r" t="t"/>
            <a:pathLst>
              <a:path extrusionOk="0" h="911" w="1151">
                <a:moveTo>
                  <a:pt x="0" y="910"/>
                </a:moveTo>
                <a:lnTo>
                  <a:pt x="121" y="899"/>
                </a:lnTo>
                <a:lnTo>
                  <a:pt x="181" y="889"/>
                </a:lnTo>
                <a:lnTo>
                  <a:pt x="244" y="872"/>
                </a:lnTo>
                <a:lnTo>
                  <a:pt x="302" y="852"/>
                </a:lnTo>
                <a:lnTo>
                  <a:pt x="365" y="825"/>
                </a:lnTo>
                <a:lnTo>
                  <a:pt x="423" y="787"/>
                </a:lnTo>
                <a:lnTo>
                  <a:pt x="544" y="683"/>
                </a:lnTo>
                <a:lnTo>
                  <a:pt x="665" y="533"/>
                </a:lnTo>
                <a:lnTo>
                  <a:pt x="787" y="356"/>
                </a:lnTo>
                <a:lnTo>
                  <a:pt x="846" y="265"/>
                </a:lnTo>
                <a:lnTo>
                  <a:pt x="908" y="181"/>
                </a:lnTo>
                <a:lnTo>
                  <a:pt x="967" y="107"/>
                </a:lnTo>
                <a:lnTo>
                  <a:pt x="1029" y="49"/>
                </a:lnTo>
                <a:lnTo>
                  <a:pt x="1088" y="14"/>
                </a:lnTo>
                <a:lnTo>
                  <a:pt x="1150" y="0"/>
                </a:lnTo>
              </a:path>
            </a:pathLst>
          </a:custGeom>
          <a:noFill/>
          <a:ln cap="rnd" cmpd="sng" w="254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20"/>
          <p:cNvSpPr/>
          <p:nvPr/>
        </p:nvSpPr>
        <p:spPr>
          <a:xfrm>
            <a:off x="7939607" y="3058075"/>
            <a:ext cx="1043617" cy="1315138"/>
          </a:xfrm>
          <a:custGeom>
            <a:rect b="b" l="l" r="r" t="t"/>
            <a:pathLst>
              <a:path extrusionOk="0" h="911" w="1247">
                <a:moveTo>
                  <a:pt x="1246" y="910"/>
                </a:moveTo>
                <a:lnTo>
                  <a:pt x="1115" y="899"/>
                </a:lnTo>
                <a:lnTo>
                  <a:pt x="1050" y="889"/>
                </a:lnTo>
                <a:lnTo>
                  <a:pt x="982" y="872"/>
                </a:lnTo>
                <a:lnTo>
                  <a:pt x="919" y="852"/>
                </a:lnTo>
                <a:lnTo>
                  <a:pt x="851" y="825"/>
                </a:lnTo>
                <a:lnTo>
                  <a:pt x="788" y="787"/>
                </a:lnTo>
                <a:lnTo>
                  <a:pt x="655" y="683"/>
                </a:lnTo>
                <a:lnTo>
                  <a:pt x="524" y="533"/>
                </a:lnTo>
                <a:lnTo>
                  <a:pt x="393" y="356"/>
                </a:lnTo>
                <a:lnTo>
                  <a:pt x="327" y="265"/>
                </a:lnTo>
                <a:lnTo>
                  <a:pt x="260" y="181"/>
                </a:lnTo>
                <a:lnTo>
                  <a:pt x="196" y="107"/>
                </a:lnTo>
                <a:lnTo>
                  <a:pt x="129" y="49"/>
                </a:lnTo>
                <a:lnTo>
                  <a:pt x="65" y="14"/>
                </a:lnTo>
                <a:lnTo>
                  <a:pt x="0" y="0"/>
                </a:lnTo>
              </a:path>
            </a:pathLst>
          </a:custGeom>
          <a:noFill/>
          <a:ln cap="rnd" cmpd="sng" w="25400">
            <a:solidFill>
              <a:srgbClr val="3333CC"/>
            </a:solidFill>
            <a:prstDash val="solid"/>
            <a:round/>
            <a:headEnd len="med" w="med" type="none"/>
            <a:tailEnd len="med" w="med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0"/>
          <p:cNvSpPr/>
          <p:nvPr/>
        </p:nvSpPr>
        <p:spPr>
          <a:xfrm>
            <a:off x="6895989" y="3058075"/>
            <a:ext cx="1029124" cy="1313694"/>
          </a:xfrm>
          <a:custGeom>
            <a:rect b="b" l="l" r="r" t="t"/>
            <a:pathLst>
              <a:path extrusionOk="0" h="910" w="710">
                <a:moveTo>
                  <a:pt x="0" y="910"/>
                </a:moveTo>
                <a:lnTo>
                  <a:pt x="73" y="899"/>
                </a:lnTo>
                <a:lnTo>
                  <a:pt x="109" y="889"/>
                </a:lnTo>
                <a:lnTo>
                  <a:pt x="147" y="872"/>
                </a:lnTo>
                <a:lnTo>
                  <a:pt x="182" y="852"/>
                </a:lnTo>
                <a:lnTo>
                  <a:pt x="219" y="825"/>
                </a:lnTo>
                <a:lnTo>
                  <a:pt x="255" y="787"/>
                </a:lnTo>
                <a:lnTo>
                  <a:pt x="327" y="683"/>
                </a:lnTo>
                <a:lnTo>
                  <a:pt x="399" y="533"/>
                </a:lnTo>
                <a:lnTo>
                  <a:pt x="473" y="356"/>
                </a:lnTo>
                <a:lnTo>
                  <a:pt x="508" y="265"/>
                </a:lnTo>
                <a:lnTo>
                  <a:pt x="546" y="181"/>
                </a:lnTo>
                <a:lnTo>
                  <a:pt x="581" y="107"/>
                </a:lnTo>
                <a:lnTo>
                  <a:pt x="619" y="49"/>
                </a:lnTo>
                <a:lnTo>
                  <a:pt x="654" y="14"/>
                </a:lnTo>
                <a:lnTo>
                  <a:pt x="710" y="0"/>
                </a:lnTo>
              </a:path>
            </a:pathLst>
          </a:custGeom>
          <a:noFill/>
          <a:ln cap="rnd" cmpd="sng" w="25400">
            <a:solidFill>
              <a:srgbClr val="3333CC"/>
            </a:solidFill>
            <a:prstDash val="solid"/>
            <a:round/>
            <a:headEnd len="med" w="med" type="none"/>
            <a:tailEnd len="med" w="med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0"/>
          <p:cNvSpPr txBox="1"/>
          <p:nvPr>
            <p:ph idx="1" type="body"/>
          </p:nvPr>
        </p:nvSpPr>
        <p:spPr>
          <a:xfrm>
            <a:off x="4696825" y="1101200"/>
            <a:ext cx="4286400" cy="112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HA: At least one population mean differs</a:t>
            </a:r>
            <a:endParaRPr/>
          </a:p>
        </p:txBody>
      </p:sp>
      <p:sp>
        <p:nvSpPr>
          <p:cNvPr id="349" name="Google Shape;349;p20"/>
          <p:cNvSpPr txBox="1"/>
          <p:nvPr/>
        </p:nvSpPr>
        <p:spPr>
          <a:xfrm>
            <a:off x="2389950" y="4532225"/>
            <a:ext cx="4858200" cy="4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ANOVA tells us a difference exists, but not which groups differ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1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Variance Decomposition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	</a:t>
            </a:r>
            <a:endParaRPr/>
          </a:p>
        </p:txBody>
      </p:sp>
      <p:sp>
        <p:nvSpPr>
          <p:cNvPr id="355" name="Google Shape;355;p21"/>
          <p:cNvSpPr txBox="1"/>
          <p:nvPr>
            <p:ph idx="1" type="body"/>
          </p:nvPr>
        </p:nvSpPr>
        <p:spPr>
          <a:xfrm>
            <a:off x="311700" y="1152475"/>
            <a:ext cx="4123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Sum Of Squared Variation Within Groups (SSW)</a:t>
            </a:r>
            <a:endParaRPr sz="20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AutoNum type="arabicParenR"/>
            </a:pPr>
            <a:r>
              <a:rPr lang="en" sz="1100"/>
              <a:t>Calculate the mean of each group</a:t>
            </a: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arenR"/>
            </a:pPr>
            <a:r>
              <a:rPr lang="en" sz="1100"/>
              <a:t>Calculate differences between each observation and its group’s mean</a:t>
            </a: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arenR"/>
            </a:pPr>
            <a:r>
              <a:rPr lang="en" sz="1100"/>
              <a:t>Square the differences</a:t>
            </a: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arenR"/>
            </a:pPr>
            <a:r>
              <a:rPr lang="en" sz="1100"/>
              <a:t>Add up all the squared differences = SSW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21"/>
          <p:cNvSpPr txBox="1"/>
          <p:nvPr>
            <p:ph idx="1" type="body"/>
          </p:nvPr>
        </p:nvSpPr>
        <p:spPr>
          <a:xfrm>
            <a:off x="4708800" y="1152475"/>
            <a:ext cx="4123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Sum Of Squared Variation Among Groups (SSA)</a:t>
            </a:r>
            <a:endParaRPr sz="30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298767" lvl="0" marL="457200" rtl="0" algn="l">
              <a:spcBef>
                <a:spcPts val="120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Calculate the mean for all observations (grand mean)</a:t>
            </a:r>
            <a:endParaRPr/>
          </a:p>
          <a:p>
            <a:pPr indent="-29876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Calculate</a:t>
            </a:r>
            <a:r>
              <a:rPr lang="en"/>
              <a:t> the mean for each group</a:t>
            </a:r>
            <a:endParaRPr/>
          </a:p>
          <a:p>
            <a:pPr indent="-29876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Calculate the differences between each group’s mean and the grand mean</a:t>
            </a:r>
            <a:endParaRPr/>
          </a:p>
          <a:p>
            <a:pPr indent="-29876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Square the differences</a:t>
            </a:r>
            <a:endParaRPr/>
          </a:p>
          <a:p>
            <a:pPr indent="-29876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Multiply each group’s squared difference by the number of observations in each group to weight the values</a:t>
            </a:r>
            <a:endParaRPr/>
          </a:p>
          <a:p>
            <a:pPr indent="-29876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Add up all the multiplied squared differences = SSA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21"/>
          <p:cNvSpPr txBox="1"/>
          <p:nvPr>
            <p:ph type="title"/>
          </p:nvPr>
        </p:nvSpPr>
        <p:spPr>
          <a:xfrm>
            <a:off x="408450" y="42045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100"/>
              <a:t>Total Variation (SST) = Within Group Variation (SSW) + Among Group Variation (SSA)</a:t>
            </a:r>
            <a:endParaRPr sz="2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100"/>
              <a:t>	</a:t>
            </a:r>
            <a:endParaRPr sz="21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22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SSW (Within-Group Variation)</a:t>
            </a:r>
            <a:endParaRPr/>
          </a:p>
        </p:txBody>
      </p:sp>
      <p:sp>
        <p:nvSpPr>
          <p:cNvPr id="363" name="Google Shape;363;p22"/>
          <p:cNvSpPr txBox="1"/>
          <p:nvPr>
            <p:ph idx="1" type="body"/>
          </p:nvPr>
        </p:nvSpPr>
        <p:spPr>
          <a:xfrm>
            <a:off x="311700" y="1388500"/>
            <a:ext cx="3297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Variation inside each group</a:t>
            </a: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00"/>
              <a:t>Measures natural variability in the data</a:t>
            </a: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00"/>
              <a:t>Measures noise within groups</a:t>
            </a: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00"/>
              <a:t>Steps:</a:t>
            </a:r>
            <a:endParaRPr sz="1700"/>
          </a:p>
          <a:p>
            <a:pPr indent="-320357" lvl="0" marL="457200" rtl="0" algn="l">
              <a:spcBef>
                <a:spcPts val="1200"/>
              </a:spcBef>
              <a:spcAft>
                <a:spcPts val="0"/>
              </a:spcAft>
              <a:buSzPct val="100000"/>
              <a:buAutoNum type="arabicParenR"/>
            </a:pPr>
            <a:r>
              <a:rPr lang="en" sz="1700"/>
              <a:t>Calculate</a:t>
            </a:r>
            <a:r>
              <a:rPr lang="en" sz="1700"/>
              <a:t> mean of each group</a:t>
            </a:r>
            <a:endParaRPr sz="1700"/>
          </a:p>
          <a:p>
            <a:pPr indent="-32035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 sz="1700"/>
              <a:t>Calculate each observation’s difference from it’s group mean</a:t>
            </a:r>
            <a:endParaRPr sz="1700"/>
          </a:p>
          <a:p>
            <a:pPr indent="-32035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 sz="1700"/>
              <a:t>Square the differences</a:t>
            </a:r>
            <a:endParaRPr sz="1700"/>
          </a:p>
          <a:p>
            <a:pPr indent="-32035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 sz="1700"/>
              <a:t>Sum them up!</a:t>
            </a:r>
            <a:endParaRPr sz="1700"/>
          </a:p>
        </p:txBody>
      </p:sp>
      <p:pic>
        <p:nvPicPr>
          <p:cNvPr id="364" name="Google Shape;36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725" y="1152475"/>
            <a:ext cx="4534575" cy="3512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3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SSA (Between-Group Variation)</a:t>
            </a:r>
            <a:endParaRPr/>
          </a:p>
        </p:txBody>
      </p:sp>
      <p:sp>
        <p:nvSpPr>
          <p:cNvPr id="370" name="Google Shape;370;p23"/>
          <p:cNvSpPr txBox="1"/>
          <p:nvPr>
            <p:ph idx="1" type="body"/>
          </p:nvPr>
        </p:nvSpPr>
        <p:spPr>
          <a:xfrm>
            <a:off x="1303800" y="1429475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Variation between group means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/>
              <a:t>Measures how far group means are from the grand mean</a:t>
            </a:r>
            <a:endParaRPr sz="1500"/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SzPts val="1500"/>
              <a:buAutoNum type="arabicParenR"/>
            </a:pPr>
            <a:r>
              <a:rPr lang="en" sz="1500"/>
              <a:t>Compute the grand mean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AutoNum type="arabicParenR"/>
            </a:pPr>
            <a:r>
              <a:rPr lang="en" sz="1500"/>
              <a:t>Compute each group mean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AutoNum type="arabicParenR"/>
            </a:pPr>
            <a:r>
              <a:rPr lang="en" sz="1500"/>
              <a:t>Subtract the grand mean from each group mean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AutoNum type="arabicParenR"/>
            </a:pPr>
            <a:r>
              <a:rPr lang="en" sz="1500"/>
              <a:t>Square the differences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AutoNum type="arabicParenR"/>
            </a:pPr>
            <a:r>
              <a:rPr lang="en" sz="1500"/>
              <a:t>Multiply by the group sample size 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AutoNum type="arabicParenR"/>
            </a:pPr>
            <a:r>
              <a:rPr lang="en" sz="1500"/>
              <a:t>Sum results</a:t>
            </a:r>
            <a:endParaRPr sz="1500"/>
          </a:p>
        </p:txBody>
      </p:sp>
      <p:pic>
        <p:nvPicPr>
          <p:cNvPr id="371" name="Google Shape;371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711700"/>
            <a:ext cx="8520599" cy="14317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2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Mean Squares and the F Statistic </a:t>
            </a:r>
            <a:endParaRPr/>
          </a:p>
        </p:txBody>
      </p:sp>
      <p:sp>
        <p:nvSpPr>
          <p:cNvPr id="377" name="Google Shape;377;p24"/>
          <p:cNvSpPr txBox="1"/>
          <p:nvPr>
            <p:ph idx="1" type="body"/>
          </p:nvPr>
        </p:nvSpPr>
        <p:spPr>
          <a:xfrm>
            <a:off x="1303800" y="17204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/>
              <a:t>Mean Square Among (MSA)</a:t>
            </a:r>
            <a:r>
              <a:rPr lang="en" sz="1600"/>
              <a:t> = SSA / (c - 1), where c is the number of categories.  (In our example, c =3)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600"/>
              <a:t>Mean Square Within (MSW) </a:t>
            </a:r>
            <a:r>
              <a:rPr lang="en" sz="1600"/>
              <a:t>= SSW / (n - c), where n is the total sample size from all groups and c is the number of categories.  (In our example, n=15)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600"/>
              <a:t>F Statistic = MSA / MSW</a:t>
            </a:r>
            <a:endParaRPr b="1"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600"/>
              <a:t>Interpretation: Large F = Between-group variation is large relative to within group variation = Evidence that group </a:t>
            </a:r>
            <a:r>
              <a:rPr b="1" lang="en" sz="1600"/>
              <a:t>means</a:t>
            </a:r>
            <a:r>
              <a:rPr b="1" lang="en" sz="1600"/>
              <a:t> differ</a:t>
            </a:r>
            <a:endParaRPr sz="1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2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 Test</a:t>
            </a:r>
            <a:endParaRPr/>
          </a:p>
        </p:txBody>
      </p:sp>
      <p:sp>
        <p:nvSpPr>
          <p:cNvPr id="383" name="Google Shape;383;p25"/>
          <p:cNvSpPr txBox="1"/>
          <p:nvPr>
            <p:ph idx="1" type="body"/>
          </p:nvPr>
        </p:nvSpPr>
        <p:spPr>
          <a:xfrm>
            <a:off x="311700" y="1467175"/>
            <a:ext cx="4343100" cy="212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F distribution is right-skewed</a:t>
            </a: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00"/>
              <a:t>Large F values indicate evidence against the null hypothesis </a:t>
            </a: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00"/>
              <a:t>Select a </a:t>
            </a:r>
            <a:r>
              <a:rPr lang="en" sz="1700"/>
              <a:t>significance</a:t>
            </a:r>
            <a:r>
              <a:rPr lang="en" sz="1700"/>
              <a:t> level and consult that specific F table</a:t>
            </a: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00"/>
              <a:t>Df1 = c - 1 and df2 = n - c (where c = number of categories)</a:t>
            </a: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700"/>
              <a:t>Reject H0 when F &gt; CV or p &lt; alpha</a:t>
            </a:r>
            <a:endParaRPr sz="1700"/>
          </a:p>
        </p:txBody>
      </p:sp>
      <p:sp>
        <p:nvSpPr>
          <p:cNvPr id="384" name="Google Shape;384;p25"/>
          <p:cNvSpPr/>
          <p:nvPr/>
        </p:nvSpPr>
        <p:spPr>
          <a:xfrm>
            <a:off x="3071510" y="4060132"/>
            <a:ext cx="1150956" cy="150313"/>
          </a:xfrm>
          <a:custGeom>
            <a:rect b="b" l="l" r="r" t="t"/>
            <a:pathLst>
              <a:path extrusionOk="0" h="154" w="980">
                <a:moveTo>
                  <a:pt x="4" y="154"/>
                </a:moveTo>
                <a:lnTo>
                  <a:pt x="0" y="0"/>
                </a:lnTo>
                <a:lnTo>
                  <a:pt x="83" y="39"/>
                </a:lnTo>
                <a:lnTo>
                  <a:pt x="154" y="61"/>
                </a:lnTo>
                <a:lnTo>
                  <a:pt x="209" y="76"/>
                </a:lnTo>
                <a:lnTo>
                  <a:pt x="283" y="91"/>
                </a:lnTo>
                <a:lnTo>
                  <a:pt x="428" y="111"/>
                </a:lnTo>
                <a:lnTo>
                  <a:pt x="592" y="126"/>
                </a:lnTo>
                <a:lnTo>
                  <a:pt x="979" y="141"/>
                </a:lnTo>
                <a:lnTo>
                  <a:pt x="980" y="154"/>
                </a:lnTo>
              </a:path>
            </a:pathLst>
          </a:custGeom>
          <a:solidFill>
            <a:srgbClr val="FFCF01"/>
          </a:solidFill>
          <a:ln>
            <a:noFill/>
          </a:ln>
        </p:spPr>
        <p:txBody>
          <a:bodyPr anchorCtr="0" anchor="t" bIns="42800" lIns="85675" spcFirstLastPara="1" rIns="85675" wrap="square" tIns="42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49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25"/>
          <p:cNvSpPr/>
          <p:nvPr/>
        </p:nvSpPr>
        <p:spPr>
          <a:xfrm>
            <a:off x="1830121" y="3282979"/>
            <a:ext cx="2599053" cy="930664"/>
          </a:xfrm>
          <a:custGeom>
            <a:rect b="b" l="l" r="r" t="t"/>
            <a:pathLst>
              <a:path extrusionOk="0" h="1023" w="3388">
                <a:moveTo>
                  <a:pt x="0" y="0"/>
                </a:moveTo>
                <a:lnTo>
                  <a:pt x="0" y="1022"/>
                </a:lnTo>
                <a:lnTo>
                  <a:pt x="3387" y="1022"/>
                </a:lnTo>
              </a:path>
            </a:pathLst>
          </a:custGeom>
          <a:noFill/>
          <a:ln cap="rnd" cmpd="sng" w="238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2800" lIns="85675" spcFirstLastPara="1" rIns="85675" wrap="square" tIns="42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49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25"/>
          <p:cNvSpPr txBox="1"/>
          <p:nvPr/>
        </p:nvSpPr>
        <p:spPr>
          <a:xfrm>
            <a:off x="1666874" y="4060132"/>
            <a:ext cx="338400" cy="60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50" lIns="84825" spcFirstLastPara="1" rIns="84825" wrap="square" tIns="416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Arial"/>
              <a:buNone/>
            </a:pPr>
            <a:r>
              <a:rPr b="0" i="0" lang="en" sz="2249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b="1" i="0" lang="en" sz="3374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312"/>
          </a:p>
        </p:txBody>
      </p:sp>
      <p:sp>
        <p:nvSpPr>
          <p:cNvPr id="387" name="Google Shape;387;p25"/>
          <p:cNvSpPr/>
          <p:nvPr/>
        </p:nvSpPr>
        <p:spPr>
          <a:xfrm>
            <a:off x="1835994" y="3292574"/>
            <a:ext cx="2536807" cy="934927"/>
          </a:xfrm>
          <a:custGeom>
            <a:rect b="b" l="l" r="r" t="t"/>
            <a:pathLst>
              <a:path extrusionOk="0" h="1021" w="3492">
                <a:moveTo>
                  <a:pt x="0" y="1011"/>
                </a:moveTo>
                <a:cubicBezTo>
                  <a:pt x="27" y="982"/>
                  <a:pt x="43" y="1005"/>
                  <a:pt x="162" y="837"/>
                </a:cubicBezTo>
                <a:cubicBezTo>
                  <a:pt x="281" y="669"/>
                  <a:pt x="453" y="0"/>
                  <a:pt x="714" y="3"/>
                </a:cubicBezTo>
                <a:cubicBezTo>
                  <a:pt x="975" y="6"/>
                  <a:pt x="1265" y="689"/>
                  <a:pt x="1728" y="855"/>
                </a:cubicBezTo>
                <a:cubicBezTo>
                  <a:pt x="2191" y="1021"/>
                  <a:pt x="3125" y="969"/>
                  <a:pt x="3492" y="999"/>
                </a:cubicBezTo>
              </a:path>
            </a:pathLst>
          </a:custGeom>
          <a:noFill/>
          <a:ln cap="flat" cmpd="sng" w="35675">
            <a:solidFill>
              <a:srgbClr val="3333CC"/>
            </a:solidFill>
            <a:prstDash val="solid"/>
            <a:miter lim="524288"/>
            <a:headEnd len="sm" w="sm" type="none"/>
            <a:tailEnd len="sm" w="sm" type="none"/>
          </a:ln>
        </p:spPr>
        <p:txBody>
          <a:bodyPr anchorCtr="0" anchor="t" bIns="42800" lIns="85675" spcFirstLastPara="1" rIns="85675" wrap="square" tIns="42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49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88" name="Google Shape;388;p25"/>
          <p:cNvCxnSpPr/>
          <p:nvPr/>
        </p:nvCxnSpPr>
        <p:spPr>
          <a:xfrm>
            <a:off x="3076207" y="4060132"/>
            <a:ext cx="900" cy="153300"/>
          </a:xfrm>
          <a:prstGeom prst="straightConnector1">
            <a:avLst/>
          </a:prstGeom>
          <a:noFill/>
          <a:ln cap="flat" cmpd="sng" w="17850">
            <a:solidFill>
              <a:srgbClr val="000000"/>
            </a:solidFill>
            <a:prstDash val="solid"/>
            <a:miter lim="800000"/>
            <a:headEnd len="med" w="med" type="none"/>
            <a:tailEnd len="med" w="med" type="none"/>
          </a:ln>
        </p:spPr>
      </p:cxnSp>
      <p:cxnSp>
        <p:nvCxnSpPr>
          <p:cNvPr id="389" name="Google Shape;389;p25"/>
          <p:cNvCxnSpPr/>
          <p:nvPr/>
        </p:nvCxnSpPr>
        <p:spPr>
          <a:xfrm flipH="1">
            <a:off x="3301621" y="3906620"/>
            <a:ext cx="169200" cy="204600"/>
          </a:xfrm>
          <a:prstGeom prst="straightConnector1">
            <a:avLst/>
          </a:prstGeom>
          <a:noFill/>
          <a:ln cap="flat" cmpd="sng" w="8925">
            <a:solidFill>
              <a:srgbClr val="000000"/>
            </a:solidFill>
            <a:prstDash val="solid"/>
            <a:miter lim="800000"/>
            <a:headEnd len="med" w="med" type="none"/>
            <a:tailEnd len="med" w="med" type="triangle"/>
          </a:ln>
        </p:spPr>
      </p:cxnSp>
      <p:sp>
        <p:nvSpPr>
          <p:cNvPr id="390" name="Google Shape;390;p25"/>
          <p:cNvSpPr txBox="1"/>
          <p:nvPr/>
        </p:nvSpPr>
        <p:spPr>
          <a:xfrm>
            <a:off x="3414447" y="3692344"/>
            <a:ext cx="282000" cy="3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2800" lIns="85675" spcFirstLastPara="1" rIns="85675" wrap="square" tIns="428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75"/>
              <a:buFont typeface="Arial"/>
              <a:buNone/>
            </a:pPr>
            <a:r>
              <a:rPr b="0" i="0" lang="en" sz="1874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α</a:t>
            </a:r>
            <a:endParaRPr sz="1312"/>
          </a:p>
        </p:txBody>
      </p:sp>
      <p:cxnSp>
        <p:nvCxnSpPr>
          <p:cNvPr id="391" name="Google Shape;391;p25"/>
          <p:cNvCxnSpPr/>
          <p:nvPr/>
        </p:nvCxnSpPr>
        <p:spPr>
          <a:xfrm rot="10800000">
            <a:off x="3076207" y="4213467"/>
            <a:ext cx="0" cy="307200"/>
          </a:xfrm>
          <a:prstGeom prst="straightConnector1">
            <a:avLst/>
          </a:prstGeom>
          <a:noFill/>
          <a:ln cap="flat" cmpd="sng" w="35675">
            <a:solidFill>
              <a:srgbClr val="FF0000"/>
            </a:solidFill>
            <a:prstDash val="solid"/>
            <a:miter lim="800000"/>
            <a:headEnd len="med" w="med" type="none"/>
            <a:tailEnd len="med" w="med" type="triangle"/>
          </a:ln>
        </p:spPr>
      </p:cxnSp>
      <p:cxnSp>
        <p:nvCxnSpPr>
          <p:cNvPr id="392" name="Google Shape;392;p25"/>
          <p:cNvCxnSpPr/>
          <p:nvPr/>
        </p:nvCxnSpPr>
        <p:spPr>
          <a:xfrm rot="10800000">
            <a:off x="1892107" y="4367155"/>
            <a:ext cx="1184100" cy="0"/>
          </a:xfrm>
          <a:prstGeom prst="straightConnector1">
            <a:avLst/>
          </a:prstGeom>
          <a:noFill/>
          <a:ln cap="flat" cmpd="sng" w="8925">
            <a:solidFill>
              <a:srgbClr val="000000"/>
            </a:solidFill>
            <a:prstDash val="solid"/>
            <a:miter lim="800000"/>
            <a:headEnd len="med" w="med" type="triangle"/>
            <a:tailEnd len="med" w="med" type="triangle"/>
          </a:ln>
        </p:spPr>
      </p:cxnSp>
      <p:cxnSp>
        <p:nvCxnSpPr>
          <p:cNvPr id="393" name="Google Shape;393;p25"/>
          <p:cNvCxnSpPr/>
          <p:nvPr/>
        </p:nvCxnSpPr>
        <p:spPr>
          <a:xfrm rot="10800000">
            <a:off x="3076274" y="4367155"/>
            <a:ext cx="1127400" cy="0"/>
          </a:xfrm>
          <a:prstGeom prst="straightConnector1">
            <a:avLst/>
          </a:prstGeom>
          <a:noFill/>
          <a:ln cap="flat" cmpd="sng" w="8925">
            <a:solidFill>
              <a:srgbClr val="000000"/>
            </a:solidFill>
            <a:prstDash val="solid"/>
            <a:miter lim="800000"/>
            <a:headEnd len="med" w="med" type="triangle"/>
            <a:tailEnd len="med" w="med" type="triangle"/>
          </a:ln>
        </p:spPr>
      </p:cxnSp>
      <p:sp>
        <p:nvSpPr>
          <p:cNvPr id="394" name="Google Shape;394;p25"/>
          <p:cNvSpPr txBox="1"/>
          <p:nvPr/>
        </p:nvSpPr>
        <p:spPr>
          <a:xfrm>
            <a:off x="3301703" y="4315977"/>
            <a:ext cx="9861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50" lIns="84825" spcFirstLastPara="1" rIns="84825" wrap="square" tIns="416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2"/>
              <a:buFont typeface="Arial"/>
              <a:buNone/>
            </a:pPr>
            <a:r>
              <a:rPr b="0" i="0" lang="en" sz="1312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Reject H</a:t>
            </a:r>
            <a:r>
              <a:rPr b="0" baseline="-25000" i="0" lang="en" sz="1312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sz="1312"/>
          </a:p>
        </p:txBody>
      </p:sp>
      <p:sp>
        <p:nvSpPr>
          <p:cNvPr id="395" name="Google Shape;395;p25"/>
          <p:cNvSpPr txBox="1"/>
          <p:nvPr/>
        </p:nvSpPr>
        <p:spPr>
          <a:xfrm>
            <a:off x="2146026" y="4367155"/>
            <a:ext cx="869400" cy="4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50" lIns="84825" spcFirstLastPara="1" rIns="84825" wrap="square" tIns="416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2"/>
              <a:buFont typeface="Arial"/>
              <a:buNone/>
            </a:pPr>
            <a:r>
              <a:rPr b="0" i="0" lang="en" sz="1312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 not </a:t>
            </a:r>
            <a:endParaRPr sz="1312"/>
          </a:p>
          <a:p>
            <a:pPr indent="0" lvl="0" marL="0" marR="0" rtl="0" algn="l">
              <a:lnSpc>
                <a:spcPct val="20000"/>
              </a:lnSpc>
              <a:spcBef>
                <a:spcPts val="656"/>
              </a:spcBef>
              <a:spcAft>
                <a:spcPts val="0"/>
              </a:spcAft>
              <a:buClr>
                <a:srgbClr val="000000"/>
              </a:buClr>
              <a:buSzPts val="1312"/>
              <a:buFont typeface="Arial"/>
              <a:buNone/>
            </a:pPr>
            <a:r>
              <a:rPr b="0" i="0" lang="en" sz="1312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reject H</a:t>
            </a:r>
            <a:r>
              <a:rPr b="0" baseline="-25000" i="0" lang="en" sz="1312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sz="1312"/>
          </a:p>
        </p:txBody>
      </p:sp>
      <p:sp>
        <p:nvSpPr>
          <p:cNvPr id="396" name="Google Shape;396;p25"/>
          <p:cNvSpPr txBox="1"/>
          <p:nvPr/>
        </p:nvSpPr>
        <p:spPr>
          <a:xfrm>
            <a:off x="2963461" y="4511073"/>
            <a:ext cx="450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50" lIns="84825" spcFirstLastPara="1" rIns="84825" wrap="square" tIns="416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75"/>
              <a:buFont typeface="Arial"/>
              <a:buNone/>
            </a:pPr>
            <a:r>
              <a:rPr b="1" i="0" lang="en" sz="1874" u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F</a:t>
            </a:r>
            <a:r>
              <a:rPr b="1" baseline="-25000" i="0" lang="en" sz="1874" u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α</a:t>
            </a:r>
            <a:endParaRPr sz="1312"/>
          </a:p>
        </p:txBody>
      </p:sp>
      <p:pic>
        <p:nvPicPr>
          <p:cNvPr id="397" name="Google Shape;397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13315" y="1096399"/>
            <a:ext cx="3918984" cy="3841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26"/>
          <p:cNvSpPr txBox="1"/>
          <p:nvPr>
            <p:ph type="title"/>
          </p:nvPr>
        </p:nvSpPr>
        <p:spPr>
          <a:xfrm>
            <a:off x="1303800" y="41172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F-Statistic and Critical Value</a:t>
            </a:r>
            <a:endParaRPr/>
          </a:p>
        </p:txBody>
      </p:sp>
      <p:sp>
        <p:nvSpPr>
          <p:cNvPr id="403" name="Google Shape;403;p26"/>
          <p:cNvSpPr txBox="1"/>
          <p:nvPr>
            <p:ph idx="1" type="body"/>
          </p:nvPr>
        </p:nvSpPr>
        <p:spPr>
          <a:xfrm>
            <a:off x="311700" y="1152475"/>
            <a:ext cx="44361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F Statistic</a:t>
            </a:r>
            <a:r>
              <a:rPr lang="en"/>
              <a:t> = MSA / MSW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Consult an F table for that level of confidence where df1 = c - 1 and df2 = n - 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 = 41.23 and CV = 3.89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Since F &gt; CV reject the null hypothesis that all group means are equal.</a:t>
            </a:r>
            <a:endParaRPr/>
          </a:p>
        </p:txBody>
      </p:sp>
      <p:pic>
        <p:nvPicPr>
          <p:cNvPr id="404" name="Google Shape;404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7100" y="1152475"/>
            <a:ext cx="2909500" cy="131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5" name="Google Shape;405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13315" y="1017724"/>
            <a:ext cx="3918984" cy="3841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" name="Google Shape;410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31987" y="2470004"/>
            <a:ext cx="3129026" cy="23245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11" name="Google Shape;411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88600" y="445028"/>
            <a:ext cx="5815798" cy="1647675"/>
          </a:xfrm>
          <a:prstGeom prst="rect">
            <a:avLst/>
          </a:prstGeom>
          <a:noFill/>
          <a:ln>
            <a:noFill/>
          </a:ln>
        </p:spPr>
      </p:pic>
      <p:sp>
        <p:nvSpPr>
          <p:cNvPr id="412" name="Google Shape;412;p27"/>
          <p:cNvSpPr txBox="1"/>
          <p:nvPr/>
        </p:nvSpPr>
        <p:spPr>
          <a:xfrm>
            <a:off x="7071075" y="2842200"/>
            <a:ext cx="1750500" cy="68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If p&lt;alpha, reject null hypothesis that all group means are  equal 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cxnSp>
        <p:nvCxnSpPr>
          <p:cNvPr id="413" name="Google Shape;413;p27"/>
          <p:cNvCxnSpPr/>
          <p:nvPr/>
        </p:nvCxnSpPr>
        <p:spPr>
          <a:xfrm rot="10800000">
            <a:off x="7021825" y="1966850"/>
            <a:ext cx="600000" cy="91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8" name="Google Shape;418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850" y="525550"/>
            <a:ext cx="4572000" cy="4006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19" name="Google Shape;419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99850" y="604388"/>
            <a:ext cx="4139351" cy="292396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20" name="Google Shape;420;p28"/>
          <p:cNvCxnSpPr/>
          <p:nvPr/>
        </p:nvCxnSpPr>
        <p:spPr>
          <a:xfrm rot="10800000">
            <a:off x="5694200" y="3560150"/>
            <a:ext cx="49200" cy="117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21" name="Google Shape;421;p28"/>
          <p:cNvCxnSpPr/>
          <p:nvPr/>
        </p:nvCxnSpPr>
        <p:spPr>
          <a:xfrm rot="10800000">
            <a:off x="8157750" y="1509725"/>
            <a:ext cx="890100" cy="93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22" name="Google Shape;422;p28"/>
          <p:cNvSpPr txBox="1"/>
          <p:nvPr/>
        </p:nvSpPr>
        <p:spPr>
          <a:xfrm>
            <a:off x="5035325" y="4779625"/>
            <a:ext cx="2812800" cy="2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Fail to reject null since p &gt; alpha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427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973" y="598575"/>
            <a:ext cx="4614651" cy="4131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8" name="Google Shape;428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4500" y="657575"/>
            <a:ext cx="4118575" cy="268908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29" name="Google Shape;429;p29"/>
          <p:cNvCxnSpPr/>
          <p:nvPr/>
        </p:nvCxnSpPr>
        <p:spPr>
          <a:xfrm rot="10800000">
            <a:off x="5812200" y="3353625"/>
            <a:ext cx="186900" cy="944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30" name="Google Shape;430;p29"/>
          <p:cNvCxnSpPr/>
          <p:nvPr/>
        </p:nvCxnSpPr>
        <p:spPr>
          <a:xfrm rot="10800000">
            <a:off x="8595450" y="1573450"/>
            <a:ext cx="452400" cy="59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31" name="Google Shape;431;p29"/>
          <p:cNvSpPr txBox="1"/>
          <p:nvPr/>
        </p:nvSpPr>
        <p:spPr>
          <a:xfrm>
            <a:off x="5517225" y="4405900"/>
            <a:ext cx="3294600" cy="2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Reject the null since p &lt; alpha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0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Post Hoc Testing: Tukey-Kramer </a:t>
            </a:r>
            <a:endParaRPr/>
          </a:p>
        </p:txBody>
      </p:sp>
      <p:sp>
        <p:nvSpPr>
          <p:cNvPr id="437" name="Google Shape;437;p30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After a significant ANOVA result we need to determine which groups differ.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Tukey-Kramer: 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AutoNum type="arabicParenR"/>
            </a:pPr>
            <a:r>
              <a:rPr lang="en"/>
              <a:t>Compares all pairwise differences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"/>
              <a:t>Controls familywise Type 1 error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"/>
              <a:t>Works with unequal sample sizes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Output shows: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AutoNum type="arabicParenR"/>
            </a:pPr>
            <a:r>
              <a:rPr lang="en"/>
              <a:t>Mean differences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"/>
              <a:t>Confidence intervals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"/>
              <a:t>Adjusted p-values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31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Tukey-Kramer </a:t>
            </a:r>
            <a:endParaRPr/>
          </a:p>
        </p:txBody>
      </p:sp>
      <p:pic>
        <p:nvPicPr>
          <p:cNvPr id="443" name="Google Shape;443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675" y="1791525"/>
            <a:ext cx="4094375" cy="1719449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p31"/>
          <p:cNvSpPr txBox="1"/>
          <p:nvPr/>
        </p:nvSpPr>
        <p:spPr>
          <a:xfrm>
            <a:off x="875275" y="4514075"/>
            <a:ext cx="70305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Tests each pairwise difference without inflating risk of type one error (as would be the case with six pairwise t-tests)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445" name="Google Shape;445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25600" y="1791525"/>
            <a:ext cx="4632074" cy="1886526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p31"/>
          <p:cNvSpPr txBox="1"/>
          <p:nvPr/>
        </p:nvSpPr>
        <p:spPr>
          <a:xfrm>
            <a:off x="1229325" y="3727325"/>
            <a:ext cx="1504800" cy="38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All differences are significant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447" name="Google Shape;447;p31"/>
          <p:cNvSpPr txBox="1"/>
          <p:nvPr/>
        </p:nvSpPr>
        <p:spPr>
          <a:xfrm>
            <a:off x="5020550" y="3726725"/>
            <a:ext cx="30000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Difference between CS and Sociology is insignificant			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32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Effect Size in ANOVA</a:t>
            </a:r>
            <a:endParaRPr/>
          </a:p>
        </p:txBody>
      </p:sp>
      <p:sp>
        <p:nvSpPr>
          <p:cNvPr id="453" name="Google Shape;453;p32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Differences can be statistically significant but practically insignificant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/>
              <a:t>With huge samples, even tiny differences can be significant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800"/>
              <a:t>ANOVA effect size tells us how much of the variation in the outcome is explained by the factors included in the model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33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Effect Size in ANOVA</a:t>
            </a:r>
            <a:endParaRPr/>
          </a:p>
        </p:txBody>
      </p:sp>
      <p:sp>
        <p:nvSpPr>
          <p:cNvPr id="459" name="Google Shape;459;p33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" sz="1405"/>
              <a:t>One-Way:</a:t>
            </a:r>
            <a:endParaRPr sz="140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lang="en" sz="1405"/>
              <a:t>Eta-squared (n^2): SSA / SST</a:t>
            </a:r>
            <a:endParaRPr sz="140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lang="en" sz="1405"/>
              <a:t>Ex: </a:t>
            </a:r>
            <a:endParaRPr sz="140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lang="en" sz="1405"/>
              <a:t>SST = SSA + SSW</a:t>
            </a:r>
            <a:endParaRPr sz="140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lang="en" sz="1405"/>
              <a:t>SST = 3.260960e10 + 9.105228e10 = 1.2366188e11</a:t>
            </a:r>
            <a:endParaRPr sz="140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lang="en" sz="1405"/>
              <a:t>Eta-squared = 3.260960e10 / 1.2366188e11 = 0.264</a:t>
            </a:r>
            <a:endParaRPr sz="140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lang="en" sz="1405"/>
              <a:t>Eta-squared = 0.264 = 26% of the variation in salary is explained by major</a:t>
            </a:r>
            <a:endParaRPr sz="140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t/>
            </a:r>
            <a:endParaRPr sz="1405"/>
          </a:p>
        </p:txBody>
      </p:sp>
      <p:pic>
        <p:nvPicPr>
          <p:cNvPr id="460" name="Google Shape;46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56930" y="1206225"/>
            <a:ext cx="3340644" cy="99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3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Effect Size in ANOVA</a:t>
            </a:r>
            <a:endParaRPr/>
          </a:p>
        </p:txBody>
      </p:sp>
      <p:sp>
        <p:nvSpPr>
          <p:cNvPr id="466" name="Google Shape;466;p34"/>
          <p:cNvSpPr txBox="1"/>
          <p:nvPr>
            <p:ph idx="1" type="body"/>
          </p:nvPr>
        </p:nvSpPr>
        <p:spPr>
          <a:xfrm>
            <a:off x="1303800" y="1990050"/>
            <a:ext cx="36969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Two-Way: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Partial Eta-squared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SSeffect / (SSeffect + SSerror) =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5.555865e08 / (</a:t>
            </a:r>
            <a:r>
              <a:rPr lang="en"/>
              <a:t>5.555865e08 + 1.036290e11) = 0.0053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Major explains 0.53% of the variance after controlling for the other factors </a:t>
            </a:r>
            <a:endParaRPr/>
          </a:p>
        </p:txBody>
      </p:sp>
      <p:pic>
        <p:nvPicPr>
          <p:cNvPr id="467" name="Google Shape;467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0625" y="1230325"/>
            <a:ext cx="4314849" cy="1773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Way ANOVA</a:t>
            </a:r>
            <a:endParaRPr/>
          </a:p>
        </p:txBody>
      </p:sp>
      <p:sp>
        <p:nvSpPr>
          <p:cNvPr id="473" name="Google Shape;473;p35"/>
          <p:cNvSpPr txBox="1"/>
          <p:nvPr>
            <p:ph idx="1" type="body"/>
          </p:nvPr>
        </p:nvSpPr>
        <p:spPr>
          <a:xfrm>
            <a:off x="1303800" y="13009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Used when there are two factors /  categorical predictors (college major, school type)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Tests effect of each factor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Also tests effect of interaction between factors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Example interaction: Does choice of major </a:t>
            </a:r>
            <a:r>
              <a:rPr lang="en"/>
              <a:t>affect</a:t>
            </a:r>
            <a:r>
              <a:rPr lang="en"/>
              <a:t> salaries differently for private school students than it does for public school students</a:t>
            </a:r>
            <a:endParaRPr/>
          </a:p>
        </p:txBody>
      </p:sp>
      <p:pic>
        <p:nvPicPr>
          <p:cNvPr id="474" name="Google Shape;474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7027" y="3348800"/>
            <a:ext cx="3837501" cy="170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5" name="Google Shape;475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32326" y="3142100"/>
            <a:ext cx="2686574" cy="18438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0" name="Google Shape;480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2280" y="171049"/>
            <a:ext cx="5399432" cy="240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1" name="Google Shape;481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96425" y="2712825"/>
            <a:ext cx="5351152" cy="2164600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36"/>
          <p:cNvSpPr txBox="1"/>
          <p:nvPr/>
        </p:nvSpPr>
        <p:spPr>
          <a:xfrm>
            <a:off x="7562825" y="1170325"/>
            <a:ext cx="1396500" cy="38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Nunito"/>
                <a:ea typeface="Nunito"/>
                <a:cs typeface="Nunito"/>
                <a:sym typeface="Nunito"/>
              </a:rPr>
              <a:t>Ins</a:t>
            </a:r>
            <a:r>
              <a:rPr lang="en" sz="1100">
                <a:latin typeface="Nunito"/>
                <a:ea typeface="Nunito"/>
                <a:cs typeface="Nunito"/>
                <a:sym typeface="Nunito"/>
              </a:rPr>
              <a:t>ignificant differences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483" name="Google Shape;483;p36"/>
          <p:cNvSpPr txBox="1"/>
          <p:nvPr/>
        </p:nvSpPr>
        <p:spPr>
          <a:xfrm>
            <a:off x="7513675" y="2979900"/>
            <a:ext cx="1445700" cy="204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Nunito"/>
                <a:ea typeface="Nunito"/>
                <a:cs typeface="Nunito"/>
                <a:sym typeface="Nunito"/>
              </a:rPr>
              <a:t>Significant </a:t>
            </a:r>
            <a:r>
              <a:rPr lang="en" sz="1100">
                <a:latin typeface="Nunito"/>
                <a:ea typeface="Nunito"/>
                <a:cs typeface="Nunito"/>
                <a:sym typeface="Nunito"/>
              </a:rPr>
              <a:t>differences</a:t>
            </a:r>
            <a:r>
              <a:rPr lang="en" sz="1100">
                <a:latin typeface="Nunito"/>
                <a:ea typeface="Nunito"/>
                <a:cs typeface="Nunito"/>
                <a:sym typeface="Nunito"/>
              </a:rPr>
              <a:t> for major and school type, not for </a:t>
            </a:r>
            <a:r>
              <a:rPr lang="en" sz="1100">
                <a:latin typeface="Nunito"/>
                <a:ea typeface="Nunito"/>
                <a:cs typeface="Nunito"/>
                <a:sym typeface="Nunito"/>
              </a:rPr>
              <a:t>interaction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Nunito"/>
                <a:ea typeface="Nunito"/>
                <a:cs typeface="Nunito"/>
                <a:sym typeface="Nunito"/>
              </a:rPr>
              <a:t>This means the effect of major does not vary based on school type.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31987" y="2470004"/>
            <a:ext cx="3129026" cy="23245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88600" y="445028"/>
            <a:ext cx="5815798" cy="1647675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7"/>
          <p:cNvSpPr txBox="1"/>
          <p:nvPr/>
        </p:nvSpPr>
        <p:spPr>
          <a:xfrm>
            <a:off x="7071075" y="2842200"/>
            <a:ext cx="1750500" cy="68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If p&lt;alpha, reject null of equal means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cxnSp>
        <p:nvCxnSpPr>
          <p:cNvPr id="491" name="Google Shape;491;p37"/>
          <p:cNvCxnSpPr/>
          <p:nvPr/>
        </p:nvCxnSpPr>
        <p:spPr>
          <a:xfrm rot="10800000">
            <a:off x="7021825" y="1966850"/>
            <a:ext cx="600000" cy="91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92" name="Google Shape;492;p37"/>
          <p:cNvSpPr txBox="1"/>
          <p:nvPr/>
        </p:nvSpPr>
        <p:spPr>
          <a:xfrm>
            <a:off x="2987850" y="220575"/>
            <a:ext cx="57753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Interpreting 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8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ANOVA as Regression</a:t>
            </a:r>
            <a:endParaRPr/>
          </a:p>
        </p:txBody>
      </p:sp>
      <p:sp>
        <p:nvSpPr>
          <p:cNvPr id="498" name="Google Shape;498;p38"/>
          <p:cNvSpPr txBox="1"/>
          <p:nvPr>
            <p:ph idx="1" type="body"/>
          </p:nvPr>
        </p:nvSpPr>
        <p:spPr>
          <a:xfrm>
            <a:off x="1303800" y="1990050"/>
            <a:ext cx="3511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ANOVA for major (Education, Engineering,, Sociology) could be estimated as regression with dummy variables for each (but one) level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Salary = B0 + B1(Education) + B2(Engineering) + 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B0 = mean salary for omitted group, B1…Bn = differences from </a:t>
            </a:r>
            <a:r>
              <a:rPr lang="en"/>
              <a:t>omitted</a:t>
            </a:r>
            <a:r>
              <a:rPr lang="en"/>
              <a:t> group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F-Test for regression tests B1 = B2 = B3 = Bn = 0</a:t>
            </a:r>
            <a:endParaRPr/>
          </a:p>
        </p:txBody>
      </p:sp>
      <p:pic>
        <p:nvPicPr>
          <p:cNvPr id="499" name="Google Shape;499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88325" y="1935475"/>
            <a:ext cx="4023898" cy="21818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9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Q-Q Plot and Histogram For Normality (Again) </a:t>
            </a:r>
            <a:endParaRPr/>
          </a:p>
        </p:txBody>
      </p:sp>
      <p:pic>
        <p:nvPicPr>
          <p:cNvPr id="505" name="Google Shape;505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8363" y="1120349"/>
            <a:ext cx="8087276" cy="402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40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 Violations</a:t>
            </a:r>
            <a:endParaRPr/>
          </a:p>
        </p:txBody>
      </p:sp>
      <p:sp>
        <p:nvSpPr>
          <p:cNvPr id="511" name="Google Shape;511;p40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"/>
              <a:t>Mild non-normality of residuals:: Probably not a problem (</a:t>
            </a:r>
            <a:r>
              <a:rPr lang="en"/>
              <a:t>especially</a:t>
            </a:r>
            <a:r>
              <a:rPr lang="en"/>
              <a:t> if sample sizes are large, group sizes are balanced, and no extreme outliers)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"/>
              <a:t>Non-normality driven by outliers: Check for data errors, decide if the outliers are worth keeping, consider “robust” methods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"/>
              <a:t>Strong skew or heavy tails: Transform the response variable via log or square-root transform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"/>
              <a:t>Use Welch ANOVA if </a:t>
            </a:r>
            <a:r>
              <a:rPr lang="en"/>
              <a:t>variance</a:t>
            </a:r>
            <a:r>
              <a:rPr lang="en"/>
              <a:t> isn’t </a:t>
            </a:r>
            <a:r>
              <a:rPr lang="en"/>
              <a:t>sufficiently</a:t>
            </a:r>
            <a:r>
              <a:rPr lang="en"/>
              <a:t> equal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"/>
              <a:t>If the data are very non-normal or ordinal, consider </a:t>
            </a:r>
            <a:r>
              <a:rPr lang="en"/>
              <a:t>non-parametric Kruskal-Wallis test 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"/>
              <a:t>If response variable is weirdly </a:t>
            </a:r>
            <a:r>
              <a:rPr lang="en"/>
              <a:t>distributed</a:t>
            </a:r>
            <a:r>
              <a:rPr lang="en"/>
              <a:t>, it may be best to use another model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41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Repeated Measures</a:t>
            </a:r>
            <a:endParaRPr/>
          </a:p>
        </p:txBody>
      </p:sp>
      <p:sp>
        <p:nvSpPr>
          <p:cNvPr id="517" name="Google Shape;517;p41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If observations are paired, like with T-test, use repeated measures ANOVA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