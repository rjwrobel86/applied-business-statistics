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y="5143500" cx="9144000"/>
  <p:notesSz cx="6858000" cy="9144000"/>
  <p:embeddedFontLst>
    <p:embeddedFont>
      <p:font typeface="Roboto Slab"/>
      <p:regular r:id="rId65"/>
      <p:bold r:id="rId66"/>
    </p:embeddedFont>
    <p:embeddedFont>
      <p:font typeface="Roboto"/>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71" roundtripDataSignature="AMtx7mhxre3Jw4Bpu1nPowHIUKsD2Ynz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28EA1AB-F888-4D35-83DA-0139EBD81F6B}">
  <a:tblStyle styleId="{528EA1AB-F888-4D35-83DA-0139EBD81F6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11F6B16C-429F-468D-B13A-87170C32BEDF}"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customschemas.google.com/relationships/presentationmetadata" Target="metadata"/><Relationship Id="rId70" Type="http://schemas.openxmlformats.org/officeDocument/2006/relationships/font" Target="fonts/Roboto-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RobotoSlab-bold.fntdata"/><Relationship Id="rId21" Type="http://schemas.openxmlformats.org/officeDocument/2006/relationships/slide" Target="slides/slide15.xml"/><Relationship Id="rId65" Type="http://schemas.openxmlformats.org/officeDocument/2006/relationships/font" Target="fonts/RobotoSlab-regular.fntdata"/><Relationship Id="rId24" Type="http://schemas.openxmlformats.org/officeDocument/2006/relationships/slide" Target="slides/slide18.xml"/><Relationship Id="rId68" Type="http://schemas.openxmlformats.org/officeDocument/2006/relationships/font" Target="fonts/Roboto-bold.fntdata"/><Relationship Id="rId23" Type="http://schemas.openxmlformats.org/officeDocument/2006/relationships/slide" Target="slides/slide17.xml"/><Relationship Id="rId67" Type="http://schemas.openxmlformats.org/officeDocument/2006/relationships/font" Target="fonts/Roboto-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Adding and subtracting is fine with interval data, but </a:t>
            </a:r>
            <a:r>
              <a:rPr lang="en"/>
              <a:t>multiplication</a:t>
            </a:r>
            <a:r>
              <a:rPr lang="en"/>
              <a:t> / division are not.  Adding and subtracting care about differences, multiplication and division care about origins and scale.  </a:t>
            </a:r>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en">
                <a:solidFill>
                  <a:schemeClr val="dk1"/>
                </a:solidFill>
              </a:rPr>
              <a:t>Take two temperatures: A = 20°C, B = 10°C.  If ratios were meaningful, the ratio should survive a unit change.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In Celsius: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20 / 10 = 2 = “twice as hot”</a:t>
            </a:r>
            <a:br>
              <a:rPr lang="en">
                <a:solidFill>
                  <a:schemeClr val="dk1"/>
                </a:solidFill>
              </a:rPr>
            </a:br>
            <a:r>
              <a:rPr lang="en">
                <a:solidFill>
                  <a:schemeClr val="dk1"/>
                </a:solidFill>
              </a:rPr>
              <a:t>Now convert to Kelvin:</a:t>
            </a:r>
            <a:endParaRPr>
              <a:solidFill>
                <a:schemeClr val="dk1"/>
              </a:solidFill>
            </a:endParaRPr>
          </a:p>
          <a:p>
            <a:pPr indent="0" lvl="0" marL="0" rtl="0" algn="l">
              <a:lnSpc>
                <a:spcPct val="115000"/>
              </a:lnSpc>
              <a:spcBef>
                <a:spcPts val="1200"/>
              </a:spcBef>
              <a:spcAft>
                <a:spcPts val="0"/>
              </a:spcAft>
              <a:buNone/>
            </a:pPr>
            <a:r>
              <a:rPr lang="en">
                <a:solidFill>
                  <a:schemeClr val="dk1"/>
                </a:solidFill>
              </a:rPr>
              <a:t>293 / 283 ≈ 1.035</a:t>
            </a:r>
            <a:br>
              <a:rPr lang="en">
                <a:solidFill>
                  <a:schemeClr val="dk1"/>
                </a:solidFill>
              </a:rPr>
            </a:br>
            <a:r>
              <a:rPr lang="en">
                <a:solidFill>
                  <a:schemeClr val="dk1"/>
                </a:solidFill>
              </a:rPr>
              <a:t>The ratio </a:t>
            </a:r>
            <a:r>
              <a:rPr b="1" lang="en">
                <a:solidFill>
                  <a:schemeClr val="dk1"/>
                </a:solidFill>
              </a:rPr>
              <a:t>changed</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 means the ratio was never a real property of the thing, just an artifact of where you put zero.</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7b782141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d7b782141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2" name="Google Shape;28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9" name="Google Shape;329;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6" name="Google Shape;356;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9301d41c3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9301d41c3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9301d41c3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9301d41c3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5" name="Google Shape;385;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9301d41c3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9301d41c3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2" name="Google Shape;412;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 name="Google Shape;426;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5" name="Google Shape;455;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70"/>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70"/>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70"/>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70"/>
          <p:cNvSpPr txBox="1"/>
          <p:nvPr>
            <p:ph type="ctrTitle"/>
          </p:nvPr>
        </p:nvSpPr>
        <p:spPr>
          <a:xfrm>
            <a:off x="1680302" y="1188925"/>
            <a:ext cx="5783400" cy="1457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14" name="Google Shape;14;p70"/>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cxnSp>
        <p:nvCxnSpPr>
          <p:cNvPr id="17" name="Google Shape;17;p71"/>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7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p7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cxnSp>
        <p:nvCxnSpPr>
          <p:cNvPr id="22" name="Google Shape;22;p72"/>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3" name="Google Shape;23;p72"/>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4" name="Google Shape;24;p72"/>
          <p:cNvSpPr txBox="1"/>
          <p:nvPr>
            <p:ph idx="1" type="body"/>
          </p:nvPr>
        </p:nvSpPr>
        <p:spPr>
          <a:xfrm>
            <a:off x="3879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72"/>
          <p:cNvSpPr txBox="1"/>
          <p:nvPr>
            <p:ph idx="2" type="body"/>
          </p:nvPr>
        </p:nvSpPr>
        <p:spPr>
          <a:xfrm>
            <a:off x="47562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cxnSp>
        <p:nvCxnSpPr>
          <p:cNvPr id="28" name="Google Shape;28;p7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29" name="Google Shape;29;p73"/>
          <p:cNvSpPr txBox="1"/>
          <p:nvPr>
            <p:ph type="title"/>
          </p:nvPr>
        </p:nvSpPr>
        <p:spPr>
          <a:xfrm>
            <a:off x="480750" y="1764950"/>
            <a:ext cx="8222100" cy="907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30" name="Google Shape;30;p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74"/>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3" name="Google Shape;33;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5"/>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5"/>
          <p:cNvSpPr txBox="1"/>
          <p:nvPr>
            <p:ph type="title"/>
          </p:nvPr>
        </p:nvSpPr>
        <p:spPr>
          <a:xfrm>
            <a:off x="3879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p75"/>
          <p:cNvSpPr txBox="1"/>
          <p:nvPr>
            <p:ph idx="1" type="body"/>
          </p:nvPr>
        </p:nvSpPr>
        <p:spPr>
          <a:xfrm>
            <a:off x="387900" y="1594025"/>
            <a:ext cx="2808000" cy="26811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76"/>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1" name="Google Shape;41;p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77"/>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 name="Google Shape;44;p77"/>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77"/>
          <p:cNvSpPr txBox="1"/>
          <p:nvPr>
            <p:ph type="title"/>
          </p:nvPr>
        </p:nvSpPr>
        <p:spPr>
          <a:xfrm>
            <a:off x="265500" y="1209075"/>
            <a:ext cx="4045200" cy="1506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46" name="Google Shape;46;p77"/>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77"/>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78"/>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79"/>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79"/>
          <p:cNvSpPr txBox="1"/>
          <p:nvPr>
            <p:ph hasCustomPrompt="1" type="title"/>
          </p:nvPr>
        </p:nvSpPr>
        <p:spPr>
          <a:xfrm>
            <a:off x="387900" y="1152450"/>
            <a:ext cx="83682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5"/>
              </a:buClr>
              <a:buSzPts val="13000"/>
              <a:buNone/>
              <a:defRPr sz="13000">
                <a:solidFill>
                  <a:schemeClr val="accent5"/>
                </a:solidFill>
              </a:defRPr>
            </a:lvl1pPr>
            <a:lvl2pPr lvl="1" algn="ctr">
              <a:lnSpc>
                <a:spcPct val="100000"/>
              </a:lnSpc>
              <a:spcBef>
                <a:spcPts val="0"/>
              </a:spcBef>
              <a:spcAft>
                <a:spcPts val="0"/>
              </a:spcAft>
              <a:buClr>
                <a:schemeClr val="accent5"/>
              </a:buClr>
              <a:buSzPts val="13000"/>
              <a:buNone/>
              <a:defRPr sz="13000">
                <a:solidFill>
                  <a:schemeClr val="accent5"/>
                </a:solidFill>
              </a:defRPr>
            </a:lvl2pPr>
            <a:lvl3pPr lvl="2" algn="ctr">
              <a:lnSpc>
                <a:spcPct val="100000"/>
              </a:lnSpc>
              <a:spcBef>
                <a:spcPts val="0"/>
              </a:spcBef>
              <a:spcAft>
                <a:spcPts val="0"/>
              </a:spcAft>
              <a:buClr>
                <a:schemeClr val="accent5"/>
              </a:buClr>
              <a:buSzPts val="13000"/>
              <a:buNone/>
              <a:defRPr sz="13000">
                <a:solidFill>
                  <a:schemeClr val="accent5"/>
                </a:solidFill>
              </a:defRPr>
            </a:lvl3pPr>
            <a:lvl4pPr lvl="3" algn="ctr">
              <a:lnSpc>
                <a:spcPct val="100000"/>
              </a:lnSpc>
              <a:spcBef>
                <a:spcPts val="0"/>
              </a:spcBef>
              <a:spcAft>
                <a:spcPts val="0"/>
              </a:spcAft>
              <a:buClr>
                <a:schemeClr val="accent5"/>
              </a:buClr>
              <a:buSzPts val="13000"/>
              <a:buNone/>
              <a:defRPr sz="13000">
                <a:solidFill>
                  <a:schemeClr val="accent5"/>
                </a:solidFill>
              </a:defRPr>
            </a:lvl4pPr>
            <a:lvl5pPr lvl="4" algn="ctr">
              <a:lnSpc>
                <a:spcPct val="100000"/>
              </a:lnSpc>
              <a:spcBef>
                <a:spcPts val="0"/>
              </a:spcBef>
              <a:spcAft>
                <a:spcPts val="0"/>
              </a:spcAft>
              <a:buClr>
                <a:schemeClr val="accent5"/>
              </a:buClr>
              <a:buSzPts val="13000"/>
              <a:buNone/>
              <a:defRPr sz="13000">
                <a:solidFill>
                  <a:schemeClr val="accent5"/>
                </a:solidFill>
              </a:defRPr>
            </a:lvl5pPr>
            <a:lvl6pPr lvl="5" algn="ctr">
              <a:lnSpc>
                <a:spcPct val="100000"/>
              </a:lnSpc>
              <a:spcBef>
                <a:spcPts val="0"/>
              </a:spcBef>
              <a:spcAft>
                <a:spcPts val="0"/>
              </a:spcAft>
              <a:buClr>
                <a:schemeClr val="accent5"/>
              </a:buClr>
              <a:buSzPts val="13000"/>
              <a:buNone/>
              <a:defRPr sz="13000">
                <a:solidFill>
                  <a:schemeClr val="accent5"/>
                </a:solidFill>
              </a:defRPr>
            </a:lvl6pPr>
            <a:lvl7pPr lvl="6" algn="ctr">
              <a:lnSpc>
                <a:spcPct val="100000"/>
              </a:lnSpc>
              <a:spcBef>
                <a:spcPts val="0"/>
              </a:spcBef>
              <a:spcAft>
                <a:spcPts val="0"/>
              </a:spcAft>
              <a:buClr>
                <a:schemeClr val="accent5"/>
              </a:buClr>
              <a:buSzPts val="13000"/>
              <a:buNone/>
              <a:defRPr sz="13000">
                <a:solidFill>
                  <a:schemeClr val="accent5"/>
                </a:solidFill>
              </a:defRPr>
            </a:lvl7pPr>
            <a:lvl8pPr lvl="7" algn="ctr">
              <a:lnSpc>
                <a:spcPct val="100000"/>
              </a:lnSpc>
              <a:spcBef>
                <a:spcPts val="0"/>
              </a:spcBef>
              <a:spcAft>
                <a:spcPts val="0"/>
              </a:spcAft>
              <a:buClr>
                <a:schemeClr val="accent5"/>
              </a:buClr>
              <a:buSzPts val="13000"/>
              <a:buNone/>
              <a:defRPr sz="13000">
                <a:solidFill>
                  <a:schemeClr val="accent5"/>
                </a:solidFill>
              </a:defRPr>
            </a:lvl8pPr>
            <a:lvl9pPr lvl="8" algn="ctr">
              <a:lnSpc>
                <a:spcPct val="100000"/>
              </a:lnSpc>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79"/>
          <p:cNvSpPr txBox="1"/>
          <p:nvPr>
            <p:ph idx="1" type="body"/>
          </p:nvPr>
        </p:nvSpPr>
        <p:spPr>
          <a:xfrm>
            <a:off x="387900" y="2919450"/>
            <a:ext cx="83682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6" name="Google Shape;56;p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69"/>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1pPr>
            <a:lvl2pPr lvl="1"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2pPr>
            <a:lvl3pPr lvl="2"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3pPr>
            <a:lvl4pPr lvl="3"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4pPr>
            <a:lvl5pPr lvl="4"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5pPr>
            <a:lvl6pPr lvl="5"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6pPr>
            <a:lvl7pPr lvl="6"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7pPr>
            <a:lvl8pPr lvl="7"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8pPr>
            <a:lvl9pPr lvl="8"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9pPr>
          </a:lstStyle>
          <a:p/>
        </p:txBody>
      </p:sp>
      <p:sp>
        <p:nvSpPr>
          <p:cNvPr id="7" name="Google Shape;7;p69"/>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17500" lvl="1" marL="914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sp>
        <p:nvSpPr>
          <p:cNvPr id="8" name="Google Shape;8;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6.png"/><Relationship Id="rId5"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3.png"/><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2.png"/><Relationship Id="rId4" Type="http://schemas.openxmlformats.org/officeDocument/2006/relationships/image" Target="../media/image5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9.png"/><Relationship Id="rId4"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7.png"/><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4.png"/><Relationship Id="rId4" Type="http://schemas.openxmlformats.org/officeDocument/2006/relationships/image" Target="../media/image4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7.png"/><Relationship Id="rId4" Type="http://schemas.openxmlformats.org/officeDocument/2006/relationships/image" Target="../media/image41.png"/><Relationship Id="rId5"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44.png"/><Relationship Id="rId4" Type="http://schemas.openxmlformats.org/officeDocument/2006/relationships/image" Target="../media/image42.png"/><Relationship Id="rId5" Type="http://schemas.openxmlformats.org/officeDocument/2006/relationships/image" Target="../media/image5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hyperlink" Target="https://cscheid.net/courses/fal16/cs444/demos/anscombes_trex.html" TargetMode="External"/><Relationship Id="rId4" Type="http://schemas.openxmlformats.org/officeDocument/2006/relationships/hyperlink" Target="https://www.reddit.com/r/dataisbeautiful/" TargetMode="External"/><Relationship Id="rId5" Type="http://schemas.openxmlformats.org/officeDocument/2006/relationships/hyperlink" Target="https://www.reddit.com/r/dataisugly/" TargetMode="External"/><Relationship Id="rId6" Type="http://schemas.openxmlformats.org/officeDocument/2006/relationships/hyperlink" Target="https://viz.wtf/"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hyperlink" Target="http://www.youtube.com/watch?v=hEWY6kkBdpo" TargetMode="External"/><Relationship Id="rId4" Type="http://schemas.openxmlformats.org/officeDocument/2006/relationships/image" Target="../media/image55.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hyperlink" Target="http://www.youtube.com/watch?v=HMkllhBI91Y" TargetMode="External"/><Relationship Id="rId4" Type="http://schemas.openxmlformats.org/officeDocument/2006/relationships/image" Target="../media/image4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
          <p:cNvSpPr txBox="1"/>
          <p:nvPr>
            <p:ph type="ctrTitle"/>
          </p:nvPr>
        </p:nvSpPr>
        <p:spPr>
          <a:xfrm>
            <a:off x="1680302" y="1188925"/>
            <a:ext cx="5783400" cy="14574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000"/>
              <a:buNone/>
            </a:pPr>
            <a:r>
              <a:rPr lang="en"/>
              <a:t>Data!</a:t>
            </a:r>
            <a:endParaRPr/>
          </a:p>
        </p:txBody>
      </p:sp>
      <p:sp>
        <p:nvSpPr>
          <p:cNvPr id="64" name="Google Shape;64;p1"/>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n"/>
              <a:t>Organizing, Visualizing, &amp; Sampling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 name="Shape 68"/>
        <p:cNvGrpSpPr/>
        <p:nvPr/>
      </p:nvGrpSpPr>
      <p:grpSpPr>
        <a:xfrm>
          <a:off x="0" y="0"/>
          <a:ext cx="0" cy="0"/>
          <a:chOff x="0" y="0"/>
          <a:chExt cx="0" cy="0"/>
        </a:xfrm>
      </p:grpSpPr>
      <p:sp>
        <p:nvSpPr>
          <p:cNvPr id="69" name="Google Shape;69;p2"/>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Types of Data: Categorical / Qualitative</a:t>
            </a:r>
            <a:endParaRPr/>
          </a:p>
        </p:txBody>
      </p:sp>
      <p:sp>
        <p:nvSpPr>
          <p:cNvPr id="70" name="Google Shape;70;p2"/>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sz="1400"/>
              <a:t>Labels / Categories</a:t>
            </a:r>
            <a:endParaRPr b="1" sz="1400"/>
          </a:p>
          <a:p>
            <a:pPr indent="0" lvl="0" marL="0" rtl="0" algn="l">
              <a:lnSpc>
                <a:spcPct val="115000"/>
              </a:lnSpc>
              <a:spcBef>
                <a:spcPts val="1200"/>
              </a:spcBef>
              <a:spcAft>
                <a:spcPts val="0"/>
              </a:spcAft>
              <a:buSzPts val="1800"/>
              <a:buNone/>
            </a:pPr>
            <a:r>
              <a:rPr b="1" lang="en" sz="1400"/>
              <a:t>Nominal</a:t>
            </a:r>
            <a:r>
              <a:rPr lang="en" sz="1400"/>
              <a:t> if labels have no order / ranking </a:t>
            </a:r>
            <a:endParaRPr sz="1400"/>
          </a:p>
          <a:p>
            <a:pPr indent="0" lvl="0" marL="0" rtl="0" algn="l">
              <a:lnSpc>
                <a:spcPct val="115000"/>
              </a:lnSpc>
              <a:spcBef>
                <a:spcPts val="1200"/>
              </a:spcBef>
              <a:spcAft>
                <a:spcPts val="0"/>
              </a:spcAft>
              <a:buSzPts val="1800"/>
              <a:buNone/>
            </a:pPr>
            <a:r>
              <a:rPr lang="en" sz="1400"/>
              <a:t>Examples: Major, gender, nationality, political party, hair color</a:t>
            </a:r>
            <a:endParaRPr sz="1400"/>
          </a:p>
          <a:p>
            <a:pPr indent="0" lvl="0" marL="0" rtl="0" algn="l">
              <a:lnSpc>
                <a:spcPct val="115000"/>
              </a:lnSpc>
              <a:spcBef>
                <a:spcPts val="1200"/>
              </a:spcBef>
              <a:spcAft>
                <a:spcPts val="0"/>
              </a:spcAft>
              <a:buSzPts val="1800"/>
              <a:buNone/>
            </a:pPr>
            <a:r>
              <a:rPr b="1" lang="en" sz="1400"/>
              <a:t>Ordinal</a:t>
            </a:r>
            <a:r>
              <a:rPr lang="en" sz="1400"/>
              <a:t> if labels have order / ranking </a:t>
            </a:r>
            <a:endParaRPr sz="1400"/>
          </a:p>
          <a:p>
            <a:pPr indent="0" lvl="0" marL="0" rtl="0" algn="l">
              <a:lnSpc>
                <a:spcPct val="115000"/>
              </a:lnSpc>
              <a:spcBef>
                <a:spcPts val="1200"/>
              </a:spcBef>
              <a:spcAft>
                <a:spcPts val="0"/>
              </a:spcAft>
              <a:buSzPts val="1800"/>
              <a:buNone/>
            </a:pPr>
            <a:r>
              <a:rPr lang="en" sz="1400"/>
              <a:t>Examples : Grades (A, B, C…), Place (1st, 2nd, 3rd…), Education level (High School, Undergrad, Graduate), Scales 1-10*</a:t>
            </a:r>
            <a:endParaRPr sz="1400"/>
          </a:p>
          <a:p>
            <a:pPr indent="0" lvl="0" marL="0" rtl="0" algn="l">
              <a:lnSpc>
                <a:spcPct val="115000"/>
              </a:lnSpc>
              <a:spcBef>
                <a:spcPts val="1200"/>
              </a:spcBef>
              <a:spcAft>
                <a:spcPts val="1200"/>
              </a:spcAft>
              <a:buSzPts val="1800"/>
              <a:buNone/>
            </a:pPr>
            <a:r>
              <a:rPr lang="en" sz="1400"/>
              <a:t>Can have numeric labels, but they are still labels, not quantitative data upon which math can be done - 2nd place isn’t 5x better than 10th - KEY </a:t>
            </a:r>
            <a:r>
              <a:rPr lang="en" sz="1400"/>
              <a:t>DISTINCTION</a:t>
            </a:r>
            <a:r>
              <a:rPr lang="en" sz="1400"/>
              <a:t> IS THAT INTERVALS MAY NOT BE EQUAL</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Variable Types &amp; Measurement Scales - Qualitative / Categorical</a:t>
            </a:r>
            <a:endParaRPr/>
          </a:p>
        </p:txBody>
      </p:sp>
      <p:sp>
        <p:nvSpPr>
          <p:cNvPr id="76" name="Google Shape;76;p3"/>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0000"/>
              <a:buNone/>
            </a:pPr>
            <a:r>
              <a:rPr b="1" lang="en"/>
              <a:t>Nominal</a:t>
            </a:r>
            <a:r>
              <a:rPr lang="en"/>
              <a:t>: Labels, unordered</a:t>
            </a:r>
            <a:endParaRPr/>
          </a:p>
          <a:p>
            <a:pPr indent="0" lvl="0" marL="0" rtl="0" algn="l">
              <a:lnSpc>
                <a:spcPct val="115000"/>
              </a:lnSpc>
              <a:spcBef>
                <a:spcPts val="1200"/>
              </a:spcBef>
              <a:spcAft>
                <a:spcPts val="0"/>
              </a:spcAft>
              <a:buSzPct val="100000"/>
              <a:buNone/>
            </a:pPr>
            <a:r>
              <a:rPr lang="en"/>
              <a:t>Ex: Major (Engineering, Art, History, Economics)</a:t>
            </a:r>
            <a:endParaRPr/>
          </a:p>
          <a:p>
            <a:pPr indent="0" lvl="0" marL="0" rtl="0" algn="l">
              <a:lnSpc>
                <a:spcPct val="115000"/>
              </a:lnSpc>
              <a:spcBef>
                <a:spcPts val="1200"/>
              </a:spcBef>
              <a:spcAft>
                <a:spcPts val="0"/>
              </a:spcAft>
              <a:buSzPct val="100000"/>
              <a:buNone/>
            </a:pPr>
            <a:r>
              <a:rPr b="1" lang="en"/>
              <a:t>Ordinal</a:t>
            </a:r>
            <a:r>
              <a:rPr lang="en"/>
              <a:t>: Labels, ordered</a:t>
            </a:r>
            <a:endParaRPr/>
          </a:p>
          <a:p>
            <a:pPr indent="0" lvl="0" marL="0" rtl="0" algn="l">
              <a:lnSpc>
                <a:spcPct val="115000"/>
              </a:lnSpc>
              <a:spcBef>
                <a:spcPts val="1200"/>
              </a:spcBef>
              <a:spcAft>
                <a:spcPts val="0"/>
              </a:spcAft>
              <a:buSzPct val="100000"/>
              <a:buNone/>
            </a:pPr>
            <a:r>
              <a:rPr lang="en"/>
              <a:t>Ex: Rank: (1st, 2nd, 3rd), Grades: (A, B, C…), Education Level (Elementary, Middle, High…)</a:t>
            </a:r>
            <a:endParaRPr/>
          </a:p>
          <a:p>
            <a:pPr indent="0" lvl="0" marL="0" rtl="0" algn="l">
              <a:lnSpc>
                <a:spcPct val="115000"/>
              </a:lnSpc>
              <a:spcBef>
                <a:spcPts val="1200"/>
              </a:spcBef>
              <a:spcAft>
                <a:spcPts val="0"/>
              </a:spcAft>
              <a:buSzPct val="100000"/>
              <a:buNone/>
            </a:pPr>
            <a:r>
              <a:rPr lang="en"/>
              <a:t>Can have numeric labels, but they are still labels, not quantitative data upon which math can be done - 2nd place isn’t 5x better than 10th AND the gap </a:t>
            </a:r>
            <a:endParaRPr/>
          </a:p>
          <a:p>
            <a:pPr indent="0" lvl="0" marL="0" rtl="0" algn="l">
              <a:lnSpc>
                <a:spcPct val="115000"/>
              </a:lnSpc>
              <a:spcBef>
                <a:spcPts val="1200"/>
              </a:spcBef>
              <a:spcAft>
                <a:spcPts val="1200"/>
              </a:spcAft>
              <a:buSzPct val="100000"/>
              <a:buNone/>
            </a:pPr>
            <a:r>
              <a:rPr b="1" lang="en"/>
              <a:t>Also intervals are likely unequal.  Distance between 1st and 2nd place may be way different than 2nd and 3rd place, even though both are 1 rank apart.</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4"/>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Organizing One Categorical Variable</a:t>
            </a:r>
            <a:endParaRPr/>
          </a:p>
        </p:txBody>
      </p:sp>
      <p:sp>
        <p:nvSpPr>
          <p:cNvPr id="82" name="Google Shape;82;p4"/>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Summary Table</a:t>
            </a:r>
            <a:r>
              <a:rPr lang="en"/>
              <a:t>: A table tallying frequencies or percentages</a:t>
            </a:r>
            <a:endParaRPr/>
          </a:p>
          <a:p>
            <a:pPr indent="0" lvl="0" marL="0" rtl="0" algn="l">
              <a:lnSpc>
                <a:spcPct val="115000"/>
              </a:lnSpc>
              <a:spcBef>
                <a:spcPts val="1200"/>
              </a:spcBef>
              <a:spcAft>
                <a:spcPts val="0"/>
              </a:spcAft>
              <a:buSzPts val="1800"/>
              <a:buNone/>
            </a:pPr>
            <a:r>
              <a:rPr lang="en"/>
              <a:t>Used for a single categorical variable </a:t>
            </a:r>
            <a:endParaRPr/>
          </a:p>
          <a:p>
            <a:pPr indent="0" lvl="0" marL="0" rtl="0" algn="l">
              <a:lnSpc>
                <a:spcPct val="115000"/>
              </a:lnSpc>
              <a:spcBef>
                <a:spcPts val="1200"/>
              </a:spcBef>
              <a:spcAft>
                <a:spcPts val="1200"/>
              </a:spcAft>
              <a:buSzPts val="1800"/>
              <a:buNone/>
            </a:pPr>
            <a:r>
              <a:t/>
            </a:r>
            <a:endParaRPr/>
          </a:p>
        </p:txBody>
      </p:sp>
      <p:graphicFrame>
        <p:nvGraphicFramePr>
          <p:cNvPr id="83" name="Google Shape;83;p4"/>
          <p:cNvGraphicFramePr/>
          <p:nvPr/>
        </p:nvGraphicFramePr>
        <p:xfrm>
          <a:off x="885500" y="2571750"/>
          <a:ext cx="3000000" cy="3000000"/>
        </p:xfrm>
        <a:graphic>
          <a:graphicData uri="http://schemas.openxmlformats.org/drawingml/2006/table">
            <a:tbl>
              <a:tblPr>
                <a:noFill/>
                <a:tableStyleId>{528EA1AB-F888-4D35-83DA-0139EBD81F6B}</a:tableStyleId>
              </a:tblPr>
              <a:tblGrid>
                <a:gridCol w="2413000"/>
                <a:gridCol w="2413000"/>
                <a:gridCol w="24130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Favorite Class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Total / Frequency</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Percentage</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Applied Business Statistics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25</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83.33%</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Managerial Economics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5</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16.66%</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Poetry</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0</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0%</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Total</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30</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100%</a:t>
                      </a:r>
                      <a:endParaRPr sz="1400" u="none" cap="none" strike="noStrike">
                        <a:solidFill>
                          <a:schemeClr val="dk1"/>
                        </a:solidFill>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Organizing Two Categorical Variables</a:t>
            </a:r>
            <a:endParaRPr/>
          </a:p>
        </p:txBody>
      </p:sp>
      <p:sp>
        <p:nvSpPr>
          <p:cNvPr id="89" name="Google Shape;89;p5"/>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Contingency Table</a:t>
            </a:r>
            <a:r>
              <a:rPr lang="en"/>
              <a:t>: A table showing the </a:t>
            </a:r>
            <a:r>
              <a:rPr b="1" lang="en"/>
              <a:t>joint frequencies</a:t>
            </a:r>
            <a:r>
              <a:rPr lang="en"/>
              <a:t> / percentages of two variables</a:t>
            </a:r>
            <a:endParaRPr/>
          </a:p>
          <a:p>
            <a:pPr indent="0" lvl="0" marL="0" rtl="0" algn="l">
              <a:lnSpc>
                <a:spcPct val="115000"/>
              </a:lnSpc>
              <a:spcBef>
                <a:spcPts val="1200"/>
              </a:spcBef>
              <a:spcAft>
                <a:spcPts val="1200"/>
              </a:spcAft>
              <a:buSzPts val="1800"/>
              <a:buNone/>
            </a:pPr>
            <a:r>
              <a:t/>
            </a:r>
            <a:endParaRPr/>
          </a:p>
        </p:txBody>
      </p:sp>
      <p:graphicFrame>
        <p:nvGraphicFramePr>
          <p:cNvPr id="90" name="Google Shape;90;p5"/>
          <p:cNvGraphicFramePr/>
          <p:nvPr/>
        </p:nvGraphicFramePr>
        <p:xfrm>
          <a:off x="825850" y="2571750"/>
          <a:ext cx="3000000" cy="3000000"/>
        </p:xfrm>
        <a:graphic>
          <a:graphicData uri="http://schemas.openxmlformats.org/drawingml/2006/table">
            <a:tbl>
              <a:tblPr>
                <a:noFill/>
                <a:tableStyleId>{528EA1AB-F888-4D35-83DA-0139EBD81F6B}</a:tableStyleId>
              </a:tblPr>
              <a:tblGrid>
                <a:gridCol w="1447800"/>
                <a:gridCol w="1447800"/>
                <a:gridCol w="1447800"/>
                <a:gridCol w="1447800"/>
                <a:gridCol w="1447800"/>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Sedan</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Truck</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SUV</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Total</a:t>
                      </a:r>
                      <a:endParaRPr b="1"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Red</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7</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Black</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9</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Blue</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11</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Total</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9</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6</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27</a:t>
                      </a:r>
                      <a:endParaRPr sz="1400" u="none" cap="none" strike="noStrike">
                        <a:solidFill>
                          <a:schemeClr val="dk1"/>
                        </a:solidFill>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6"/>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Organizing Two Categorical Variables</a:t>
            </a:r>
            <a:endParaRPr/>
          </a:p>
        </p:txBody>
      </p:sp>
      <p:sp>
        <p:nvSpPr>
          <p:cNvPr id="96" name="Google Shape;96;p6"/>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Contingency Table</a:t>
            </a:r>
            <a:r>
              <a:rPr lang="en"/>
              <a:t>: A table showing the joint frequencies / </a:t>
            </a:r>
            <a:r>
              <a:rPr b="1" lang="en"/>
              <a:t>percentages</a:t>
            </a:r>
            <a:r>
              <a:rPr lang="en"/>
              <a:t> of two variables</a:t>
            </a:r>
            <a:endParaRPr/>
          </a:p>
          <a:p>
            <a:pPr indent="0" lvl="0" marL="0" rtl="0" algn="l">
              <a:lnSpc>
                <a:spcPct val="115000"/>
              </a:lnSpc>
              <a:spcBef>
                <a:spcPts val="1200"/>
              </a:spcBef>
              <a:spcAft>
                <a:spcPts val="1200"/>
              </a:spcAft>
              <a:buSzPts val="1800"/>
              <a:buNone/>
            </a:pPr>
            <a:r>
              <a:t/>
            </a:r>
            <a:endParaRPr/>
          </a:p>
        </p:txBody>
      </p:sp>
      <p:graphicFrame>
        <p:nvGraphicFramePr>
          <p:cNvPr id="97" name="Google Shape;97;p6"/>
          <p:cNvGraphicFramePr/>
          <p:nvPr/>
        </p:nvGraphicFramePr>
        <p:xfrm>
          <a:off x="825850" y="2571750"/>
          <a:ext cx="3000000" cy="3000000"/>
        </p:xfrm>
        <a:graphic>
          <a:graphicData uri="http://schemas.openxmlformats.org/drawingml/2006/table">
            <a:tbl>
              <a:tblPr>
                <a:noFill/>
                <a:tableStyleId>{528EA1AB-F888-4D35-83DA-0139EBD81F6B}</a:tableStyleId>
              </a:tblPr>
              <a:tblGrid>
                <a:gridCol w="1447800"/>
                <a:gridCol w="1447800"/>
                <a:gridCol w="1447800"/>
                <a:gridCol w="1447800"/>
                <a:gridCol w="1447800"/>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Sedan</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Truck</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SUV</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Total</a:t>
                      </a:r>
                      <a:endParaRPr b="1"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Red</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2/27 = 7.4%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1/27 = 3.7%</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4/27 = 14.8%</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7/27 = 25.9%</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Black</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3/27 = 11.1%</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2/27 = 7.4%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4/27 = 14.8%</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9/27 = 33.3%</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Blue</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4/27 = 14.8%</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3/27 = 11.1%</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4/27 = 14.8%</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11/27 = 40.7%</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solidFill>
                            <a:schemeClr val="dk1"/>
                          </a:solidFill>
                        </a:rPr>
                        <a:t>Total</a:t>
                      </a:r>
                      <a:endParaRPr b="1"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9/27 = 33.3%</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6/27 = 22.2%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12/27 = 44.4%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27/27 = 100%</a:t>
                      </a:r>
                      <a:endParaRPr sz="1400" u="none" cap="none" strike="noStrike">
                        <a:solidFill>
                          <a:schemeClr val="dk1"/>
                        </a:solidFill>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Organizing Two Categorical Variables</a:t>
            </a:r>
            <a:endParaRPr/>
          </a:p>
        </p:txBody>
      </p:sp>
      <p:sp>
        <p:nvSpPr>
          <p:cNvPr id="103" name="Google Shape;103;p7"/>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b="1" lang="en"/>
              <a:t>Contingency tables </a:t>
            </a:r>
            <a:r>
              <a:rPr lang="en"/>
              <a:t>using percentages</a:t>
            </a:r>
            <a:r>
              <a:rPr b="1" lang="en"/>
              <a:t> </a:t>
            </a:r>
            <a:r>
              <a:rPr lang="en"/>
              <a:t>can be based on overall totals, </a:t>
            </a:r>
            <a:r>
              <a:rPr b="1" lang="en"/>
              <a:t>row totals</a:t>
            </a:r>
            <a:r>
              <a:rPr lang="en"/>
              <a:t>, or column totals based on need</a:t>
            </a:r>
            <a:endParaRPr/>
          </a:p>
          <a:p>
            <a:pPr indent="0" lvl="0" marL="0" rtl="0" algn="l">
              <a:lnSpc>
                <a:spcPct val="115000"/>
              </a:lnSpc>
              <a:spcBef>
                <a:spcPts val="1200"/>
              </a:spcBef>
              <a:spcAft>
                <a:spcPts val="1200"/>
              </a:spcAft>
              <a:buSzPts val="1800"/>
              <a:buNone/>
            </a:pPr>
            <a:r>
              <a:t/>
            </a:r>
            <a:endParaRPr/>
          </a:p>
        </p:txBody>
      </p:sp>
      <p:graphicFrame>
        <p:nvGraphicFramePr>
          <p:cNvPr id="104" name="Google Shape;104;p7"/>
          <p:cNvGraphicFramePr/>
          <p:nvPr/>
        </p:nvGraphicFramePr>
        <p:xfrm>
          <a:off x="852025" y="2571750"/>
          <a:ext cx="3000000" cy="3000000"/>
        </p:xfrm>
        <a:graphic>
          <a:graphicData uri="http://schemas.openxmlformats.org/drawingml/2006/table">
            <a:tbl>
              <a:tblPr>
                <a:noFill/>
                <a:tableStyleId>{528EA1AB-F888-4D35-83DA-0139EBD81F6B}</a:tableStyleId>
              </a:tblPr>
              <a:tblGrid>
                <a:gridCol w="1447800"/>
                <a:gridCol w="1447800"/>
                <a:gridCol w="1447800"/>
                <a:gridCol w="1447800"/>
                <a:gridCol w="1447800"/>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Sedan</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Truck</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SUV</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Total</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Red</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29%</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57%</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100%</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Black</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33%</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100%</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Blue</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36%</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27%</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36%</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100%</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Total</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33%</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100%</a:t>
                      </a:r>
                      <a:endParaRPr sz="1400" u="none" cap="none" strike="noStrike">
                        <a:solidFill>
                          <a:schemeClr val="dk1"/>
                        </a:solidFill>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Visualizing Categorical Data: Bar Charts</a:t>
            </a:r>
            <a:endParaRPr/>
          </a:p>
        </p:txBody>
      </p:sp>
      <p:graphicFrame>
        <p:nvGraphicFramePr>
          <p:cNvPr id="110" name="Google Shape;110;p8"/>
          <p:cNvGraphicFramePr/>
          <p:nvPr/>
        </p:nvGraphicFramePr>
        <p:xfrm>
          <a:off x="472525" y="1964950"/>
          <a:ext cx="3000000" cy="3000000"/>
        </p:xfrm>
        <a:graphic>
          <a:graphicData uri="http://schemas.openxmlformats.org/drawingml/2006/table">
            <a:tbl>
              <a:tblPr>
                <a:noFill/>
                <a:tableStyleId>{528EA1AB-F888-4D35-83DA-0139EBD81F6B}</a:tableStyleId>
              </a:tblPr>
              <a:tblGrid>
                <a:gridCol w="1879225"/>
                <a:gridCol w="1879225"/>
              </a:tblGrid>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Sedans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23</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Trucks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14</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SUVs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40</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Vans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a:t>
                      </a:r>
                      <a:endParaRPr sz="1400" u="none" cap="none" strike="noStrike">
                        <a:solidFill>
                          <a:schemeClr val="dk1"/>
                        </a:solidFill>
                      </a:endParaRPr>
                    </a:p>
                  </a:txBody>
                  <a:tcPr marT="91425" marB="91425" marR="91425" marL="91425"/>
                </a:tc>
              </a:tr>
            </a:tbl>
          </a:graphicData>
        </a:graphic>
      </p:graphicFrame>
      <p:pic>
        <p:nvPicPr>
          <p:cNvPr id="111" name="Google Shape;111;p8" title="Chart"/>
          <p:cNvPicPr preferRelativeResize="0"/>
          <p:nvPr/>
        </p:nvPicPr>
        <p:blipFill rotWithShape="1">
          <a:blip r:embed="rId3">
            <a:alphaModFix/>
          </a:blip>
          <a:srcRect b="0" l="0" r="0" t="0"/>
          <a:stretch/>
        </p:blipFill>
        <p:spPr>
          <a:xfrm>
            <a:off x="4358750" y="1605638"/>
            <a:ext cx="4608225" cy="284941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9"/>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Visualizing Categorical Data: Column Charts</a:t>
            </a:r>
            <a:endParaRPr/>
          </a:p>
        </p:txBody>
      </p:sp>
      <p:graphicFrame>
        <p:nvGraphicFramePr>
          <p:cNvPr id="117" name="Google Shape;117;p9"/>
          <p:cNvGraphicFramePr/>
          <p:nvPr/>
        </p:nvGraphicFramePr>
        <p:xfrm>
          <a:off x="472525" y="1964950"/>
          <a:ext cx="3000000" cy="3000000"/>
        </p:xfrm>
        <a:graphic>
          <a:graphicData uri="http://schemas.openxmlformats.org/drawingml/2006/table">
            <a:tbl>
              <a:tblPr>
                <a:noFill/>
                <a:tableStyleId>{528EA1AB-F888-4D35-83DA-0139EBD81F6B}</a:tableStyleId>
              </a:tblPr>
              <a:tblGrid>
                <a:gridCol w="1879225"/>
                <a:gridCol w="1879225"/>
              </a:tblGrid>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Sedans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23</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Trucks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14</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SUVs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40</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Vans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a:t>
                      </a:r>
                      <a:endParaRPr sz="1400" u="none" cap="none" strike="noStrike">
                        <a:solidFill>
                          <a:schemeClr val="dk1"/>
                        </a:solidFill>
                      </a:endParaRPr>
                    </a:p>
                  </a:txBody>
                  <a:tcPr marT="91425" marB="91425" marR="91425" marL="91425"/>
                </a:tc>
              </a:tr>
            </a:tbl>
          </a:graphicData>
        </a:graphic>
      </p:graphicFrame>
      <p:pic>
        <p:nvPicPr>
          <p:cNvPr id="118" name="Google Shape;118;p9" title="Chart"/>
          <p:cNvPicPr preferRelativeResize="0"/>
          <p:nvPr/>
        </p:nvPicPr>
        <p:blipFill rotWithShape="1">
          <a:blip r:embed="rId3">
            <a:alphaModFix/>
          </a:blip>
          <a:srcRect b="0" l="0" r="0" t="0"/>
          <a:stretch/>
        </p:blipFill>
        <p:spPr>
          <a:xfrm>
            <a:off x="4334150" y="1530350"/>
            <a:ext cx="4608225" cy="284941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0"/>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Mosaic Chart</a:t>
            </a:r>
            <a:endParaRPr/>
          </a:p>
        </p:txBody>
      </p:sp>
      <p:sp>
        <p:nvSpPr>
          <p:cNvPr id="124" name="Google Shape;124;p10"/>
          <p:cNvSpPr txBox="1"/>
          <p:nvPr>
            <p:ph idx="1" type="body"/>
          </p:nvPr>
        </p:nvSpPr>
        <p:spPr>
          <a:xfrm>
            <a:off x="387900" y="1489825"/>
            <a:ext cx="3670500" cy="30789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Like a column chart where width and height reflect proportion of variables of multiple categorical variables </a:t>
            </a:r>
            <a:endParaRPr/>
          </a:p>
          <a:p>
            <a:pPr indent="0" lvl="0" marL="0" rtl="0" algn="l">
              <a:lnSpc>
                <a:spcPct val="115000"/>
              </a:lnSpc>
              <a:spcBef>
                <a:spcPts val="1200"/>
              </a:spcBef>
              <a:spcAft>
                <a:spcPts val="0"/>
              </a:spcAft>
              <a:buSzPts val="1800"/>
              <a:buNone/>
            </a:pPr>
            <a:r>
              <a:rPr lang="en"/>
              <a:t>Shows joint and conditional proportions</a:t>
            </a:r>
            <a:endParaRPr/>
          </a:p>
          <a:p>
            <a:pPr indent="0" lvl="0" marL="0" rtl="0" algn="l">
              <a:lnSpc>
                <a:spcPct val="115000"/>
              </a:lnSpc>
              <a:spcBef>
                <a:spcPts val="1200"/>
              </a:spcBef>
              <a:spcAft>
                <a:spcPts val="1200"/>
              </a:spcAft>
              <a:buSzPts val="1800"/>
              <a:buNone/>
            </a:pPr>
            <a:r>
              <a:rPr lang="en"/>
              <a:t>Useful when you want to compare how one variable is distributed across the levels of another</a:t>
            </a:r>
            <a:endParaRPr/>
          </a:p>
        </p:txBody>
      </p:sp>
      <p:pic>
        <p:nvPicPr>
          <p:cNvPr id="125" name="Google Shape;125;p10"/>
          <p:cNvPicPr preferRelativeResize="0"/>
          <p:nvPr/>
        </p:nvPicPr>
        <p:blipFill rotWithShape="1">
          <a:blip r:embed="rId3">
            <a:alphaModFix/>
          </a:blip>
          <a:srcRect b="0" l="0" r="0" t="0"/>
          <a:stretch/>
        </p:blipFill>
        <p:spPr>
          <a:xfrm>
            <a:off x="4210800" y="1296525"/>
            <a:ext cx="4780799" cy="284818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Visualizing Categorical Data: Pie Charts</a:t>
            </a:r>
            <a:endParaRPr/>
          </a:p>
        </p:txBody>
      </p:sp>
      <p:graphicFrame>
        <p:nvGraphicFramePr>
          <p:cNvPr id="131" name="Google Shape;131;p11"/>
          <p:cNvGraphicFramePr/>
          <p:nvPr/>
        </p:nvGraphicFramePr>
        <p:xfrm>
          <a:off x="387900" y="1571800"/>
          <a:ext cx="3000000" cy="3000000"/>
        </p:xfrm>
        <a:graphic>
          <a:graphicData uri="http://schemas.openxmlformats.org/drawingml/2006/table">
            <a:tbl>
              <a:tblPr>
                <a:noFill/>
                <a:tableStyleId>{528EA1AB-F888-4D35-83DA-0139EBD81F6B}</a:tableStyleId>
              </a:tblPr>
              <a:tblGrid>
                <a:gridCol w="1879225"/>
                <a:gridCol w="1879225"/>
              </a:tblGrid>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Sedans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23</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Trucks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14</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SUVs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40</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Vans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a:t>
                      </a:r>
                      <a:endParaRPr sz="1400" u="none" cap="none" strike="noStrike">
                        <a:solidFill>
                          <a:schemeClr val="dk1"/>
                        </a:solidFill>
                      </a:endParaRPr>
                    </a:p>
                  </a:txBody>
                  <a:tcPr marT="91425" marB="91425" marR="91425" marL="91425"/>
                </a:tc>
              </a:tr>
            </a:tbl>
          </a:graphicData>
        </a:graphic>
      </p:graphicFrame>
      <p:pic>
        <p:nvPicPr>
          <p:cNvPr id="132" name="Google Shape;132;p11" title="Chart"/>
          <p:cNvPicPr preferRelativeResize="0"/>
          <p:nvPr/>
        </p:nvPicPr>
        <p:blipFill rotWithShape="1">
          <a:blip r:embed="rId3">
            <a:alphaModFix/>
          </a:blip>
          <a:srcRect b="0" l="0" r="0" t="0"/>
          <a:stretch/>
        </p:blipFill>
        <p:spPr>
          <a:xfrm>
            <a:off x="4383375" y="1479825"/>
            <a:ext cx="4608225" cy="2849419"/>
          </a:xfrm>
          <a:prstGeom prst="rect">
            <a:avLst/>
          </a:prstGeom>
          <a:noFill/>
          <a:ln>
            <a:noFill/>
          </a:ln>
        </p:spPr>
      </p:pic>
      <p:sp>
        <p:nvSpPr>
          <p:cNvPr id="133" name="Google Shape;133;p11"/>
          <p:cNvSpPr txBox="1"/>
          <p:nvPr/>
        </p:nvSpPr>
        <p:spPr>
          <a:xfrm>
            <a:off x="767125" y="4007625"/>
            <a:ext cx="30000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Useful for displaying the composition of a categorical variable</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2"/>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Bad Pie Charts</a:t>
            </a:r>
            <a:endParaRPr/>
          </a:p>
        </p:txBody>
      </p:sp>
      <p:pic>
        <p:nvPicPr>
          <p:cNvPr id="139" name="Google Shape;139;p12"/>
          <p:cNvPicPr preferRelativeResize="0"/>
          <p:nvPr/>
        </p:nvPicPr>
        <p:blipFill rotWithShape="1">
          <a:blip r:embed="rId3">
            <a:alphaModFix/>
          </a:blip>
          <a:srcRect b="13462" l="14374" r="14502" t="15307"/>
          <a:stretch/>
        </p:blipFill>
        <p:spPr>
          <a:xfrm>
            <a:off x="2085963" y="1394450"/>
            <a:ext cx="6503674" cy="3497576"/>
          </a:xfrm>
          <a:prstGeom prst="rect">
            <a:avLst/>
          </a:prstGeom>
          <a:noFill/>
          <a:ln>
            <a:noFill/>
          </a:ln>
        </p:spPr>
      </p:pic>
      <p:sp>
        <p:nvSpPr>
          <p:cNvPr id="140" name="Google Shape;140;p12"/>
          <p:cNvSpPr txBox="1"/>
          <p:nvPr/>
        </p:nvSpPr>
        <p:spPr>
          <a:xfrm>
            <a:off x="445775" y="1634500"/>
            <a:ext cx="1383000" cy="266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3D makes it hard to discern relative sizes of slices</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Bad Pie Charts</a:t>
            </a:r>
            <a:endParaRPr/>
          </a:p>
        </p:txBody>
      </p:sp>
      <p:pic>
        <p:nvPicPr>
          <p:cNvPr id="146" name="Google Shape;146;p13"/>
          <p:cNvPicPr preferRelativeResize="0"/>
          <p:nvPr/>
        </p:nvPicPr>
        <p:blipFill rotWithShape="1">
          <a:blip r:embed="rId3">
            <a:alphaModFix/>
          </a:blip>
          <a:srcRect b="19078" l="18221" r="18487" t="19356"/>
          <a:stretch/>
        </p:blipFill>
        <p:spPr>
          <a:xfrm>
            <a:off x="2063125" y="1470275"/>
            <a:ext cx="6280774" cy="3280525"/>
          </a:xfrm>
          <a:prstGeom prst="rect">
            <a:avLst/>
          </a:prstGeom>
          <a:noFill/>
          <a:ln>
            <a:noFill/>
          </a:ln>
        </p:spPr>
      </p:pic>
      <p:sp>
        <p:nvSpPr>
          <p:cNvPr id="147" name="Google Shape;147;p13"/>
          <p:cNvSpPr txBox="1"/>
          <p:nvPr/>
        </p:nvSpPr>
        <p:spPr>
          <a:xfrm>
            <a:off x="514350" y="1691650"/>
            <a:ext cx="1245900" cy="249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Too many slices / lack of labels make it hard to discern relative size of slices</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4"/>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Visualizing Categorical Data: Donut Charts</a:t>
            </a:r>
            <a:endParaRPr/>
          </a:p>
        </p:txBody>
      </p:sp>
      <p:graphicFrame>
        <p:nvGraphicFramePr>
          <p:cNvPr id="153" name="Google Shape;153;p14"/>
          <p:cNvGraphicFramePr/>
          <p:nvPr/>
        </p:nvGraphicFramePr>
        <p:xfrm>
          <a:off x="472525" y="1964950"/>
          <a:ext cx="3000000" cy="3000000"/>
        </p:xfrm>
        <a:graphic>
          <a:graphicData uri="http://schemas.openxmlformats.org/drawingml/2006/table">
            <a:tbl>
              <a:tblPr>
                <a:noFill/>
                <a:tableStyleId>{528EA1AB-F888-4D35-83DA-0139EBD81F6B}</a:tableStyleId>
              </a:tblPr>
              <a:tblGrid>
                <a:gridCol w="1879225"/>
                <a:gridCol w="1879225"/>
              </a:tblGrid>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Sedans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23</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Trucks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14</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SUVs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40</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Vans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a:t>
                      </a:r>
                      <a:endParaRPr sz="1400" u="none" cap="none" strike="noStrike">
                        <a:solidFill>
                          <a:schemeClr val="dk1"/>
                        </a:solidFill>
                      </a:endParaRPr>
                    </a:p>
                  </a:txBody>
                  <a:tcPr marT="91425" marB="91425" marR="91425" marL="91425"/>
                </a:tc>
              </a:tr>
            </a:tbl>
          </a:graphicData>
        </a:graphic>
      </p:graphicFrame>
      <p:pic>
        <p:nvPicPr>
          <p:cNvPr id="154" name="Google Shape;154;p14" title="Chart"/>
          <p:cNvPicPr preferRelativeResize="0"/>
          <p:nvPr/>
        </p:nvPicPr>
        <p:blipFill rotWithShape="1">
          <a:blip r:embed="rId3">
            <a:alphaModFix/>
          </a:blip>
          <a:srcRect b="0" l="0" r="0" t="0"/>
          <a:stretch/>
        </p:blipFill>
        <p:spPr>
          <a:xfrm>
            <a:off x="4383375" y="1468825"/>
            <a:ext cx="4608225" cy="284941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Visualizing Categorical Data: Pareto Charts</a:t>
            </a:r>
            <a:endParaRPr/>
          </a:p>
        </p:txBody>
      </p:sp>
      <p:graphicFrame>
        <p:nvGraphicFramePr>
          <p:cNvPr id="160" name="Google Shape;160;p15"/>
          <p:cNvGraphicFramePr/>
          <p:nvPr/>
        </p:nvGraphicFramePr>
        <p:xfrm>
          <a:off x="294975" y="1597150"/>
          <a:ext cx="3000000" cy="3000000"/>
        </p:xfrm>
        <a:graphic>
          <a:graphicData uri="http://schemas.openxmlformats.org/drawingml/2006/table">
            <a:tbl>
              <a:tblPr>
                <a:noFill/>
                <a:tableStyleId>{528EA1AB-F888-4D35-83DA-0139EBD81F6B}</a:tableStyleId>
              </a:tblPr>
              <a:tblGrid>
                <a:gridCol w="1879225"/>
                <a:gridCol w="1879225"/>
              </a:tblGrid>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Sedans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23</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Trucks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14</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SUVs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40</a:t>
                      </a:r>
                      <a:endParaRPr sz="1400" u="none" cap="none" strike="noStrike">
                        <a:solidFill>
                          <a:schemeClr val="dk1"/>
                        </a:solidFill>
                      </a:endParaRPr>
                    </a:p>
                  </a:txBody>
                  <a:tcPr marT="91425" marB="91425" marR="91425" marL="91425"/>
                </a:tc>
              </a:tr>
              <a:tr h="5327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Vans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a:t>
                      </a:r>
                      <a:endParaRPr sz="1400" u="none" cap="none" strike="noStrike">
                        <a:solidFill>
                          <a:schemeClr val="dk1"/>
                        </a:solidFill>
                      </a:endParaRPr>
                    </a:p>
                  </a:txBody>
                  <a:tcPr marT="91425" marB="91425" marR="91425" marL="91425"/>
                </a:tc>
              </a:tr>
            </a:tbl>
          </a:graphicData>
        </a:graphic>
      </p:graphicFrame>
      <p:pic>
        <p:nvPicPr>
          <p:cNvPr id="161" name="Google Shape;161;p15" title="Chart"/>
          <p:cNvPicPr preferRelativeResize="0"/>
          <p:nvPr/>
        </p:nvPicPr>
        <p:blipFill rotWithShape="1">
          <a:blip r:embed="rId3">
            <a:alphaModFix/>
          </a:blip>
          <a:srcRect b="0" l="0" r="0" t="0"/>
          <a:stretch/>
        </p:blipFill>
        <p:spPr>
          <a:xfrm>
            <a:off x="4333199" y="1513550"/>
            <a:ext cx="4656450" cy="2879225"/>
          </a:xfrm>
          <a:prstGeom prst="rect">
            <a:avLst/>
          </a:prstGeom>
          <a:noFill/>
          <a:ln>
            <a:noFill/>
          </a:ln>
        </p:spPr>
      </p:pic>
      <p:sp>
        <p:nvSpPr>
          <p:cNvPr id="162" name="Google Shape;162;p15"/>
          <p:cNvSpPr txBox="1"/>
          <p:nvPr/>
        </p:nvSpPr>
        <p:spPr>
          <a:xfrm>
            <a:off x="674200" y="3994950"/>
            <a:ext cx="30000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Useful for detecting which categories are contributing most</a:t>
            </a:r>
            <a:endParaRPr b="0" i="0" sz="1800" u="none" cap="none" strike="noStrike">
              <a:solidFill>
                <a:schemeClr val="dk1"/>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Visualizing Two Categorical Variables: Column Charts</a:t>
            </a:r>
            <a:endParaRPr/>
          </a:p>
        </p:txBody>
      </p:sp>
      <p:graphicFrame>
        <p:nvGraphicFramePr>
          <p:cNvPr id="168" name="Google Shape;168;p16"/>
          <p:cNvGraphicFramePr/>
          <p:nvPr/>
        </p:nvGraphicFramePr>
        <p:xfrm>
          <a:off x="387900" y="2222275"/>
          <a:ext cx="3000000" cy="3000000"/>
        </p:xfrm>
        <a:graphic>
          <a:graphicData uri="http://schemas.openxmlformats.org/drawingml/2006/table">
            <a:tbl>
              <a:tblPr>
                <a:noFill/>
                <a:tableStyleId>{528EA1AB-F888-4D35-83DA-0139EBD81F6B}</a:tableStyleId>
              </a:tblPr>
              <a:tblGrid>
                <a:gridCol w="1318475"/>
                <a:gridCol w="1318475"/>
                <a:gridCol w="789275"/>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Male</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Female</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Economics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20</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11</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Statistics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17</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30</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Data Science</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15</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Art History</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13</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12</a:t>
                      </a:r>
                      <a:endParaRPr sz="1400" u="none" cap="none" strike="noStrike">
                        <a:solidFill>
                          <a:schemeClr val="dk1"/>
                        </a:solidFill>
                      </a:endParaRPr>
                    </a:p>
                  </a:txBody>
                  <a:tcPr marT="91425" marB="91425" marR="91425" marL="91425"/>
                </a:tc>
              </a:tr>
            </a:tbl>
          </a:graphicData>
        </a:graphic>
      </p:graphicFrame>
      <p:pic>
        <p:nvPicPr>
          <p:cNvPr id="169" name="Google Shape;169;p16" title="Chart"/>
          <p:cNvPicPr preferRelativeResize="0"/>
          <p:nvPr/>
        </p:nvPicPr>
        <p:blipFill rotWithShape="1">
          <a:blip r:embed="rId3">
            <a:alphaModFix/>
          </a:blip>
          <a:srcRect b="0" l="0" r="0" t="0"/>
          <a:stretch/>
        </p:blipFill>
        <p:spPr>
          <a:xfrm>
            <a:off x="3966525" y="1296525"/>
            <a:ext cx="5025075" cy="310717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Visualizing Two Categorical Variables: Bar Charts</a:t>
            </a:r>
            <a:endParaRPr/>
          </a:p>
        </p:txBody>
      </p:sp>
      <p:graphicFrame>
        <p:nvGraphicFramePr>
          <p:cNvPr id="175" name="Google Shape;175;p17"/>
          <p:cNvGraphicFramePr/>
          <p:nvPr/>
        </p:nvGraphicFramePr>
        <p:xfrm>
          <a:off x="387900" y="2222275"/>
          <a:ext cx="3000000" cy="3000000"/>
        </p:xfrm>
        <a:graphic>
          <a:graphicData uri="http://schemas.openxmlformats.org/drawingml/2006/table">
            <a:tbl>
              <a:tblPr>
                <a:noFill/>
                <a:tableStyleId>{528EA1AB-F888-4D35-83DA-0139EBD81F6B}</a:tableStyleId>
              </a:tblPr>
              <a:tblGrid>
                <a:gridCol w="1318475"/>
                <a:gridCol w="1318475"/>
                <a:gridCol w="789275"/>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Male</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Female</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Economics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20</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11</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Statistics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17</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30</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Data Science</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15</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Art History</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13</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12</a:t>
                      </a:r>
                      <a:endParaRPr sz="1400" u="none" cap="none" strike="noStrike">
                        <a:solidFill>
                          <a:schemeClr val="dk1"/>
                        </a:solidFill>
                      </a:endParaRPr>
                    </a:p>
                  </a:txBody>
                  <a:tcPr marT="91425" marB="91425" marR="91425" marL="91425"/>
                </a:tc>
              </a:tr>
            </a:tbl>
          </a:graphicData>
        </a:graphic>
      </p:graphicFrame>
      <p:pic>
        <p:nvPicPr>
          <p:cNvPr id="176" name="Google Shape;176;p17" title="Chart"/>
          <p:cNvPicPr preferRelativeResize="0"/>
          <p:nvPr/>
        </p:nvPicPr>
        <p:blipFill rotWithShape="1">
          <a:blip r:embed="rId3">
            <a:alphaModFix/>
          </a:blip>
          <a:srcRect b="0" l="0" r="0" t="0"/>
          <a:stretch/>
        </p:blipFill>
        <p:spPr>
          <a:xfrm>
            <a:off x="3966525" y="1296525"/>
            <a:ext cx="5025075" cy="310717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Visualizing Two Categorical Variables: Multiple Donut Charts</a:t>
            </a:r>
            <a:endParaRPr/>
          </a:p>
        </p:txBody>
      </p:sp>
      <p:graphicFrame>
        <p:nvGraphicFramePr>
          <p:cNvPr id="182" name="Google Shape;182;p18"/>
          <p:cNvGraphicFramePr/>
          <p:nvPr/>
        </p:nvGraphicFramePr>
        <p:xfrm>
          <a:off x="387900" y="2222275"/>
          <a:ext cx="3000000" cy="3000000"/>
        </p:xfrm>
        <a:graphic>
          <a:graphicData uri="http://schemas.openxmlformats.org/drawingml/2006/table">
            <a:tbl>
              <a:tblPr>
                <a:noFill/>
                <a:tableStyleId>{528EA1AB-F888-4D35-83DA-0139EBD81F6B}</a:tableStyleId>
              </a:tblPr>
              <a:tblGrid>
                <a:gridCol w="1318475"/>
                <a:gridCol w="1318475"/>
                <a:gridCol w="789275"/>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Male</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Female</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Economics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20</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11</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Statistics</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17</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30</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Data Science</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15</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Art History</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13</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12</a:t>
                      </a:r>
                      <a:endParaRPr sz="1400" u="none" cap="none" strike="noStrike">
                        <a:solidFill>
                          <a:schemeClr val="dk1"/>
                        </a:solidFill>
                      </a:endParaRPr>
                    </a:p>
                  </a:txBody>
                  <a:tcPr marT="91425" marB="91425" marR="91425" marL="91425"/>
                </a:tc>
              </a:tr>
            </a:tbl>
          </a:graphicData>
        </a:graphic>
      </p:graphicFrame>
      <p:pic>
        <p:nvPicPr>
          <p:cNvPr id="183" name="Google Shape;183;p18" title="Chart"/>
          <p:cNvPicPr preferRelativeResize="0"/>
          <p:nvPr/>
        </p:nvPicPr>
        <p:blipFill rotWithShape="1">
          <a:blip r:embed="rId3">
            <a:alphaModFix/>
          </a:blip>
          <a:srcRect b="0" l="0" r="0" t="0"/>
          <a:stretch/>
        </p:blipFill>
        <p:spPr>
          <a:xfrm>
            <a:off x="4800850" y="913075"/>
            <a:ext cx="3156975" cy="1813851"/>
          </a:xfrm>
          <a:prstGeom prst="rect">
            <a:avLst/>
          </a:prstGeom>
          <a:noFill/>
          <a:ln>
            <a:noFill/>
          </a:ln>
        </p:spPr>
      </p:pic>
      <p:pic>
        <p:nvPicPr>
          <p:cNvPr id="184" name="Google Shape;184;p18" title="Chart"/>
          <p:cNvPicPr preferRelativeResize="0"/>
          <p:nvPr/>
        </p:nvPicPr>
        <p:blipFill rotWithShape="1">
          <a:blip r:embed="rId4">
            <a:alphaModFix/>
          </a:blip>
          <a:srcRect b="0" l="0" r="0" t="0"/>
          <a:stretch/>
        </p:blipFill>
        <p:spPr>
          <a:xfrm>
            <a:off x="4800851" y="3086653"/>
            <a:ext cx="3156975" cy="181384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9"/>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Variable Types &amp; Measurement Scales: Quantitative / Numerical</a:t>
            </a:r>
            <a:endParaRPr/>
          </a:p>
        </p:txBody>
      </p:sp>
      <p:sp>
        <p:nvSpPr>
          <p:cNvPr id="190" name="Google Shape;190;p19"/>
          <p:cNvSpPr txBox="1"/>
          <p:nvPr>
            <p:ph idx="1" type="body"/>
          </p:nvPr>
        </p:nvSpPr>
        <p:spPr>
          <a:xfrm>
            <a:off x="387900" y="1489825"/>
            <a:ext cx="4184100" cy="30789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523"/>
              <a:buNone/>
            </a:pPr>
            <a:r>
              <a:rPr b="1" lang="en" sz="1055"/>
              <a:t>Discrete or Continuous</a:t>
            </a:r>
            <a:endParaRPr b="1" sz="1055"/>
          </a:p>
          <a:p>
            <a:pPr indent="0" lvl="0" marL="0" rtl="0" algn="l">
              <a:lnSpc>
                <a:spcPct val="95000"/>
              </a:lnSpc>
              <a:spcBef>
                <a:spcPts val="1200"/>
              </a:spcBef>
              <a:spcAft>
                <a:spcPts val="0"/>
              </a:spcAft>
              <a:buSzPts val="523"/>
              <a:buNone/>
            </a:pPr>
            <a:r>
              <a:rPr b="1" lang="en" sz="1055"/>
              <a:t>Discrete</a:t>
            </a:r>
            <a:r>
              <a:rPr lang="en" sz="1055"/>
              <a:t> if only using integers (counting numbers) / cannot be subdivided</a:t>
            </a:r>
            <a:endParaRPr sz="1055"/>
          </a:p>
          <a:p>
            <a:pPr indent="0" lvl="0" marL="0" rtl="0" algn="l">
              <a:lnSpc>
                <a:spcPct val="95000"/>
              </a:lnSpc>
              <a:spcBef>
                <a:spcPts val="1200"/>
              </a:spcBef>
              <a:spcAft>
                <a:spcPts val="0"/>
              </a:spcAft>
              <a:buSzPts val="523"/>
              <a:buNone/>
            </a:pPr>
            <a:r>
              <a:rPr lang="en" sz="1055"/>
              <a:t>Usually the resulting of counting</a:t>
            </a:r>
            <a:endParaRPr sz="1055"/>
          </a:p>
          <a:p>
            <a:pPr indent="0" lvl="0" marL="0" rtl="0" algn="l">
              <a:lnSpc>
                <a:spcPct val="95000"/>
              </a:lnSpc>
              <a:spcBef>
                <a:spcPts val="1200"/>
              </a:spcBef>
              <a:spcAft>
                <a:spcPts val="0"/>
              </a:spcAft>
              <a:buSzPts val="523"/>
              <a:buNone/>
            </a:pPr>
            <a:r>
              <a:rPr lang="en" sz="1055"/>
              <a:t>Example: Numbers rolled on dice, Number of students in a class, Number of home runs in a baseball game</a:t>
            </a:r>
            <a:endParaRPr sz="1055"/>
          </a:p>
          <a:p>
            <a:pPr indent="0" lvl="0" marL="0" rtl="0" algn="l">
              <a:lnSpc>
                <a:spcPct val="95000"/>
              </a:lnSpc>
              <a:spcBef>
                <a:spcPts val="1200"/>
              </a:spcBef>
              <a:spcAft>
                <a:spcPts val="0"/>
              </a:spcAft>
              <a:buSzPts val="523"/>
              <a:buNone/>
            </a:pPr>
            <a:r>
              <a:rPr b="1" lang="en" sz="1055"/>
              <a:t>Continuous</a:t>
            </a:r>
            <a:r>
              <a:rPr lang="en" sz="1055"/>
              <a:t> if using numbers that can be meaningfully subdivided into smaller / finer levels</a:t>
            </a:r>
            <a:endParaRPr sz="1055"/>
          </a:p>
          <a:p>
            <a:pPr indent="0" lvl="0" marL="0" rtl="0" algn="l">
              <a:lnSpc>
                <a:spcPct val="95000"/>
              </a:lnSpc>
              <a:spcBef>
                <a:spcPts val="1200"/>
              </a:spcBef>
              <a:spcAft>
                <a:spcPts val="0"/>
              </a:spcAft>
              <a:buSzPts val="523"/>
              <a:buNone/>
            </a:pPr>
            <a:r>
              <a:rPr lang="en" sz="1055"/>
              <a:t>Usually the result of measuring</a:t>
            </a:r>
            <a:endParaRPr sz="1055"/>
          </a:p>
          <a:p>
            <a:pPr indent="0" lvl="0" marL="0" rtl="0" algn="l">
              <a:lnSpc>
                <a:spcPct val="95000"/>
              </a:lnSpc>
              <a:spcBef>
                <a:spcPts val="1200"/>
              </a:spcBef>
              <a:spcAft>
                <a:spcPts val="0"/>
              </a:spcAft>
              <a:buSzPts val="523"/>
              <a:buNone/>
            </a:pPr>
            <a:r>
              <a:rPr lang="en" sz="1055"/>
              <a:t>Example: Time taken during a project, speeds of cars, heights of individual people</a:t>
            </a:r>
            <a:endParaRPr sz="1055"/>
          </a:p>
        </p:txBody>
      </p:sp>
      <p:sp>
        <p:nvSpPr>
          <p:cNvPr id="191" name="Google Shape;191;p19"/>
          <p:cNvSpPr txBox="1"/>
          <p:nvPr>
            <p:ph idx="1" type="body"/>
          </p:nvPr>
        </p:nvSpPr>
        <p:spPr>
          <a:xfrm>
            <a:off x="4739625" y="1489825"/>
            <a:ext cx="4184100" cy="30789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523"/>
              <a:buNone/>
            </a:pPr>
            <a:r>
              <a:rPr b="1" lang="en" sz="1055"/>
              <a:t>Interval or Ratio</a:t>
            </a:r>
            <a:endParaRPr sz="1055"/>
          </a:p>
          <a:p>
            <a:pPr indent="0" lvl="0" marL="0" rtl="0" algn="l">
              <a:lnSpc>
                <a:spcPct val="95000"/>
              </a:lnSpc>
              <a:spcBef>
                <a:spcPts val="1200"/>
              </a:spcBef>
              <a:spcAft>
                <a:spcPts val="0"/>
              </a:spcAft>
              <a:buSzPts val="523"/>
              <a:buNone/>
            </a:pPr>
            <a:r>
              <a:rPr b="1" lang="en" sz="1055"/>
              <a:t>Interval</a:t>
            </a:r>
            <a:r>
              <a:rPr lang="en" sz="1055"/>
              <a:t>: Numerical data with equal intervals between values but no “true” zero point</a:t>
            </a:r>
            <a:endParaRPr sz="1055"/>
          </a:p>
          <a:p>
            <a:pPr indent="0" lvl="0" marL="0" rtl="0" algn="l">
              <a:lnSpc>
                <a:spcPct val="95000"/>
              </a:lnSpc>
              <a:spcBef>
                <a:spcPts val="1200"/>
              </a:spcBef>
              <a:spcAft>
                <a:spcPts val="0"/>
              </a:spcAft>
              <a:buSzPts val="523"/>
              <a:buNone/>
            </a:pPr>
            <a:r>
              <a:rPr lang="en" sz="1055"/>
              <a:t>Ex: Calendar years, temperature, IQ</a:t>
            </a:r>
            <a:endParaRPr sz="1055"/>
          </a:p>
          <a:p>
            <a:pPr indent="0" lvl="0" marL="0" rtl="0" algn="l">
              <a:lnSpc>
                <a:spcPct val="95000"/>
              </a:lnSpc>
              <a:spcBef>
                <a:spcPts val="1200"/>
              </a:spcBef>
              <a:spcAft>
                <a:spcPts val="0"/>
              </a:spcAft>
              <a:buSzPts val="523"/>
              <a:buNone/>
            </a:pPr>
            <a:r>
              <a:rPr lang="en" sz="1055"/>
              <a:t>Note that the year zero isn’t actually the beginning of time and that zero degrees doesn’t mean zero heat (it’s just water’s freezing point)</a:t>
            </a:r>
            <a:endParaRPr sz="1055"/>
          </a:p>
          <a:p>
            <a:pPr indent="0" lvl="0" marL="0" rtl="0" algn="l">
              <a:lnSpc>
                <a:spcPct val="95000"/>
              </a:lnSpc>
              <a:spcBef>
                <a:spcPts val="1200"/>
              </a:spcBef>
              <a:spcAft>
                <a:spcPts val="0"/>
              </a:spcAft>
              <a:buSzPts val="523"/>
              <a:buNone/>
            </a:pPr>
            <a:r>
              <a:rPr lang="en" sz="1055"/>
              <a:t>Zero is selected, not a real property of what’s being measured.</a:t>
            </a:r>
            <a:endParaRPr sz="1055"/>
          </a:p>
          <a:p>
            <a:pPr indent="0" lvl="0" marL="0" rtl="0" algn="l">
              <a:lnSpc>
                <a:spcPct val="95000"/>
              </a:lnSpc>
              <a:spcBef>
                <a:spcPts val="1200"/>
              </a:spcBef>
              <a:spcAft>
                <a:spcPts val="0"/>
              </a:spcAft>
              <a:buSzPts val="523"/>
              <a:buNone/>
            </a:pPr>
            <a:r>
              <a:rPr lang="en" sz="1055"/>
              <a:t>Can only add and subtract, not multiply or divide interval data</a:t>
            </a:r>
            <a:endParaRPr sz="1055"/>
          </a:p>
          <a:p>
            <a:pPr indent="0" lvl="0" marL="0" rtl="0" algn="l">
              <a:lnSpc>
                <a:spcPct val="95000"/>
              </a:lnSpc>
              <a:spcBef>
                <a:spcPts val="1200"/>
              </a:spcBef>
              <a:spcAft>
                <a:spcPts val="0"/>
              </a:spcAft>
              <a:buSzPts val="523"/>
              <a:buNone/>
            </a:pPr>
            <a:r>
              <a:rPr b="1" lang="en" sz="1055"/>
              <a:t>Ratio</a:t>
            </a:r>
            <a:r>
              <a:rPr lang="en" sz="1055"/>
              <a:t>: Numerical data with equal intervals and a true zero point</a:t>
            </a:r>
            <a:endParaRPr sz="1055"/>
          </a:p>
          <a:p>
            <a:pPr indent="0" lvl="0" marL="0" rtl="0" algn="l">
              <a:lnSpc>
                <a:spcPct val="95000"/>
              </a:lnSpc>
              <a:spcBef>
                <a:spcPts val="1200"/>
              </a:spcBef>
              <a:spcAft>
                <a:spcPts val="0"/>
              </a:spcAft>
              <a:buSzPts val="523"/>
              <a:buNone/>
            </a:pPr>
            <a:r>
              <a:rPr lang="en" sz="1055"/>
              <a:t>Ex: Incomes ($0, $20, $50k)</a:t>
            </a:r>
            <a:endParaRPr sz="1055"/>
          </a:p>
          <a:p>
            <a:pPr indent="0" lvl="0" marL="0" rtl="0" algn="l">
              <a:lnSpc>
                <a:spcPct val="95000"/>
              </a:lnSpc>
              <a:spcBef>
                <a:spcPts val="1200"/>
              </a:spcBef>
              <a:spcAft>
                <a:spcPts val="1200"/>
              </a:spcAft>
              <a:buSzPts val="523"/>
              <a:buNone/>
            </a:pPr>
            <a:r>
              <a:rPr lang="en" sz="1055"/>
              <a:t>All </a:t>
            </a:r>
            <a:r>
              <a:rPr lang="en" sz="1055"/>
              <a:t>arithmetic</a:t>
            </a:r>
            <a:r>
              <a:rPr lang="en" sz="1055"/>
              <a:t> is valid for ratio data</a:t>
            </a:r>
            <a:endParaRPr sz="1055"/>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Discrete vs Continuous </a:t>
            </a:r>
            <a:endParaRPr/>
          </a:p>
        </p:txBody>
      </p:sp>
      <p:pic>
        <p:nvPicPr>
          <p:cNvPr id="197" name="Google Shape;197;p20"/>
          <p:cNvPicPr preferRelativeResize="0"/>
          <p:nvPr/>
        </p:nvPicPr>
        <p:blipFill rotWithShape="1">
          <a:blip r:embed="rId3">
            <a:alphaModFix/>
          </a:blip>
          <a:srcRect b="8124" l="0" r="0" t="19269"/>
          <a:stretch/>
        </p:blipFill>
        <p:spPr>
          <a:xfrm>
            <a:off x="717388" y="1326200"/>
            <a:ext cx="7709226" cy="37346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Organizing Quantitative Data: Stem &amp; Leaf Tables</a:t>
            </a:r>
            <a:endParaRPr/>
          </a:p>
        </p:txBody>
      </p:sp>
      <p:sp>
        <p:nvSpPr>
          <p:cNvPr id="203" name="Google Shape;203;p21"/>
          <p:cNvSpPr txBox="1"/>
          <p:nvPr>
            <p:ph idx="1" type="body"/>
          </p:nvPr>
        </p:nvSpPr>
        <p:spPr>
          <a:xfrm>
            <a:off x="387900" y="1489825"/>
            <a:ext cx="2763900" cy="3078900"/>
          </a:xfrm>
          <a:prstGeom prst="rect">
            <a:avLst/>
          </a:prstGeom>
          <a:noFill/>
          <a:ln>
            <a:noFill/>
          </a:ln>
        </p:spPr>
        <p:txBody>
          <a:bodyPr anchorCtr="0" anchor="t" bIns="91425" lIns="91425" spcFirstLastPara="1" rIns="91425" wrap="square" tIns="91425">
            <a:normAutofit fontScale="55000" lnSpcReduction="20000"/>
          </a:bodyPr>
          <a:lstStyle/>
          <a:p>
            <a:pPr indent="0" lvl="0" marL="0" rtl="0" algn="l">
              <a:lnSpc>
                <a:spcPct val="115000"/>
              </a:lnSpc>
              <a:spcBef>
                <a:spcPts val="0"/>
              </a:spcBef>
              <a:spcAft>
                <a:spcPts val="0"/>
              </a:spcAft>
              <a:buSzPct val="181818"/>
              <a:buNone/>
            </a:pPr>
            <a:r>
              <a:rPr lang="en"/>
              <a:t>Exam Grades:</a:t>
            </a:r>
            <a:endParaRPr/>
          </a:p>
          <a:p>
            <a:pPr indent="0" lvl="0" marL="0" rtl="0" algn="l">
              <a:lnSpc>
                <a:spcPct val="115000"/>
              </a:lnSpc>
              <a:spcBef>
                <a:spcPts val="1200"/>
              </a:spcBef>
              <a:spcAft>
                <a:spcPts val="0"/>
              </a:spcAft>
              <a:buSzPct val="181818"/>
              <a:buNone/>
            </a:pPr>
            <a:r>
              <a:rPr lang="en"/>
              <a:t>68</a:t>
            </a:r>
            <a:endParaRPr/>
          </a:p>
          <a:p>
            <a:pPr indent="0" lvl="0" marL="0" rtl="0" algn="l">
              <a:lnSpc>
                <a:spcPct val="115000"/>
              </a:lnSpc>
              <a:spcBef>
                <a:spcPts val="1200"/>
              </a:spcBef>
              <a:spcAft>
                <a:spcPts val="0"/>
              </a:spcAft>
              <a:buSzPct val="181818"/>
              <a:buNone/>
            </a:pPr>
            <a:r>
              <a:rPr lang="en"/>
              <a:t>65</a:t>
            </a:r>
            <a:endParaRPr/>
          </a:p>
          <a:p>
            <a:pPr indent="0" lvl="0" marL="0" rtl="0" algn="l">
              <a:lnSpc>
                <a:spcPct val="115000"/>
              </a:lnSpc>
              <a:spcBef>
                <a:spcPts val="1200"/>
              </a:spcBef>
              <a:spcAft>
                <a:spcPts val="0"/>
              </a:spcAft>
              <a:buSzPct val="181818"/>
              <a:buNone/>
            </a:pPr>
            <a:r>
              <a:rPr lang="en"/>
              <a:t>79</a:t>
            </a:r>
            <a:endParaRPr/>
          </a:p>
          <a:p>
            <a:pPr indent="0" lvl="0" marL="0" rtl="0" algn="l">
              <a:lnSpc>
                <a:spcPct val="115000"/>
              </a:lnSpc>
              <a:spcBef>
                <a:spcPts val="1200"/>
              </a:spcBef>
              <a:spcAft>
                <a:spcPts val="0"/>
              </a:spcAft>
              <a:buSzPct val="181818"/>
              <a:buNone/>
            </a:pPr>
            <a:r>
              <a:rPr lang="en"/>
              <a:t>87</a:t>
            </a:r>
            <a:endParaRPr/>
          </a:p>
          <a:p>
            <a:pPr indent="0" lvl="0" marL="0" rtl="0" algn="l">
              <a:lnSpc>
                <a:spcPct val="115000"/>
              </a:lnSpc>
              <a:spcBef>
                <a:spcPts val="1200"/>
              </a:spcBef>
              <a:spcAft>
                <a:spcPts val="0"/>
              </a:spcAft>
              <a:buSzPct val="181818"/>
              <a:buNone/>
            </a:pPr>
            <a:r>
              <a:rPr lang="en"/>
              <a:t>92</a:t>
            </a:r>
            <a:endParaRPr/>
          </a:p>
          <a:p>
            <a:pPr indent="0" lvl="0" marL="0" rtl="0" algn="l">
              <a:lnSpc>
                <a:spcPct val="115000"/>
              </a:lnSpc>
              <a:spcBef>
                <a:spcPts val="1200"/>
              </a:spcBef>
              <a:spcAft>
                <a:spcPts val="0"/>
              </a:spcAft>
              <a:buSzPct val="181818"/>
              <a:buNone/>
            </a:pPr>
            <a:r>
              <a:rPr lang="en"/>
              <a:t>89</a:t>
            </a:r>
            <a:endParaRPr/>
          </a:p>
          <a:p>
            <a:pPr indent="0" lvl="0" marL="0" rtl="0" algn="l">
              <a:lnSpc>
                <a:spcPct val="115000"/>
              </a:lnSpc>
              <a:spcBef>
                <a:spcPts val="1200"/>
              </a:spcBef>
              <a:spcAft>
                <a:spcPts val="0"/>
              </a:spcAft>
              <a:buSzPct val="181818"/>
              <a:buNone/>
            </a:pPr>
            <a:r>
              <a:rPr lang="en"/>
              <a:t>67</a:t>
            </a:r>
            <a:endParaRPr/>
          </a:p>
          <a:p>
            <a:pPr indent="0" lvl="0" marL="0" rtl="0" algn="l">
              <a:lnSpc>
                <a:spcPct val="115000"/>
              </a:lnSpc>
              <a:spcBef>
                <a:spcPts val="1200"/>
              </a:spcBef>
              <a:spcAft>
                <a:spcPts val="0"/>
              </a:spcAft>
              <a:buSzPct val="181818"/>
              <a:buNone/>
            </a:pPr>
            <a:r>
              <a:rPr lang="en"/>
              <a:t>81</a:t>
            </a:r>
            <a:endParaRPr/>
          </a:p>
          <a:p>
            <a:pPr indent="0" lvl="0" marL="0" rtl="0" algn="l">
              <a:lnSpc>
                <a:spcPct val="115000"/>
              </a:lnSpc>
              <a:spcBef>
                <a:spcPts val="1200"/>
              </a:spcBef>
              <a:spcAft>
                <a:spcPts val="1200"/>
              </a:spcAft>
              <a:buSzPct val="181818"/>
              <a:buNone/>
            </a:pPr>
            <a:r>
              <a:rPr lang="en"/>
              <a:t>90</a:t>
            </a:r>
            <a:endParaRPr/>
          </a:p>
        </p:txBody>
      </p:sp>
      <p:graphicFrame>
        <p:nvGraphicFramePr>
          <p:cNvPr id="204" name="Google Shape;204;p21"/>
          <p:cNvGraphicFramePr/>
          <p:nvPr/>
        </p:nvGraphicFramePr>
        <p:xfrm>
          <a:off x="3568875" y="1976150"/>
          <a:ext cx="3000000" cy="3000000"/>
        </p:xfrm>
        <a:graphic>
          <a:graphicData uri="http://schemas.openxmlformats.org/drawingml/2006/table">
            <a:tbl>
              <a:tblPr>
                <a:noFill/>
                <a:tableStyleId>{528EA1AB-F888-4D35-83DA-0139EBD81F6B}</a:tableStyleId>
              </a:tblPr>
              <a:tblGrid>
                <a:gridCol w="2329775"/>
                <a:gridCol w="2329775"/>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Stem</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Leaf</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6</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5 7 8</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7</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9</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8</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1 7</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9</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0</a:t>
                      </a:r>
                      <a:endParaRPr sz="1400" u="none" cap="none" strike="noStrike">
                        <a:solidFill>
                          <a:schemeClr val="dk1"/>
                        </a:solidFill>
                      </a:endParaRPr>
                    </a:p>
                  </a:txBody>
                  <a:tcPr marT="91425" marB="91425" marR="91425" marL="91425"/>
                </a:tc>
              </a:tr>
            </a:tbl>
          </a:graphicData>
        </a:graphic>
      </p:graphicFrame>
      <p:sp>
        <p:nvSpPr>
          <p:cNvPr id="205" name="Google Shape;205;p21"/>
          <p:cNvSpPr txBox="1"/>
          <p:nvPr/>
        </p:nvSpPr>
        <p:spPr>
          <a:xfrm>
            <a:off x="2331700" y="4260025"/>
            <a:ext cx="5086500" cy="30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Something of a crude histogram.</a:t>
            </a:r>
            <a:endParaRPr b="0"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Roboto"/>
                <a:ea typeface="Roboto"/>
                <a:cs typeface="Roboto"/>
                <a:sym typeface="Roboto"/>
              </a:rPr>
              <a:t>Stem is typically everything but the last digit.</a:t>
            </a:r>
            <a:endParaRPr b="0" i="0" sz="1800" u="none" cap="none" strike="noStrike">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Visualizing Quantitative Data: Histograms</a:t>
            </a:r>
            <a:endParaRPr/>
          </a:p>
        </p:txBody>
      </p:sp>
      <p:sp>
        <p:nvSpPr>
          <p:cNvPr id="211" name="Google Shape;211;p23"/>
          <p:cNvSpPr txBox="1"/>
          <p:nvPr>
            <p:ph idx="1" type="body"/>
          </p:nvPr>
        </p:nvSpPr>
        <p:spPr>
          <a:xfrm>
            <a:off x="387900" y="1489825"/>
            <a:ext cx="4184100" cy="3078900"/>
          </a:xfrm>
          <a:prstGeom prst="rect">
            <a:avLst/>
          </a:prstGeom>
          <a:noFill/>
          <a:ln>
            <a:noFill/>
          </a:ln>
        </p:spPr>
        <p:txBody>
          <a:bodyPr anchorCtr="0" anchor="t" bIns="91425" lIns="91425" spcFirstLastPara="1" rIns="91425" wrap="square" tIns="91425">
            <a:normAutofit fontScale="40000" lnSpcReduction="20000"/>
          </a:bodyPr>
          <a:lstStyle/>
          <a:p>
            <a:pPr indent="0" lvl="0" marL="0" rtl="0" algn="l">
              <a:lnSpc>
                <a:spcPct val="115000"/>
              </a:lnSpc>
              <a:spcBef>
                <a:spcPts val="0"/>
              </a:spcBef>
              <a:spcAft>
                <a:spcPts val="0"/>
              </a:spcAft>
              <a:buSzPct val="149545"/>
              <a:buNone/>
            </a:pPr>
            <a:r>
              <a:rPr lang="en" sz="2534"/>
              <a:t>Similar to column charts -  Height represents counts / frequency </a:t>
            </a:r>
            <a:endParaRPr sz="2534"/>
          </a:p>
          <a:p>
            <a:pPr indent="0" lvl="0" marL="0" rtl="0" algn="l">
              <a:lnSpc>
                <a:spcPct val="115000"/>
              </a:lnSpc>
              <a:spcBef>
                <a:spcPts val="1200"/>
              </a:spcBef>
              <a:spcAft>
                <a:spcPts val="0"/>
              </a:spcAft>
              <a:buSzPct val="149545"/>
              <a:buNone/>
            </a:pPr>
            <a:r>
              <a:rPr lang="en" sz="2534"/>
              <a:t>Many uses*</a:t>
            </a:r>
            <a:endParaRPr sz="2534"/>
          </a:p>
          <a:p>
            <a:pPr indent="0" lvl="0" marL="0" rtl="0" algn="l">
              <a:lnSpc>
                <a:spcPct val="115000"/>
              </a:lnSpc>
              <a:spcBef>
                <a:spcPts val="1200"/>
              </a:spcBef>
              <a:spcAft>
                <a:spcPts val="0"/>
              </a:spcAft>
              <a:buSzPct val="149545"/>
              <a:buNone/>
            </a:pPr>
            <a:r>
              <a:rPr lang="en" sz="2534"/>
              <a:t>How to make one:</a:t>
            </a:r>
            <a:endParaRPr sz="2534"/>
          </a:p>
          <a:p>
            <a:pPr indent="-292964" lvl="0" marL="457200" rtl="0" algn="l">
              <a:lnSpc>
                <a:spcPct val="115000"/>
              </a:lnSpc>
              <a:spcBef>
                <a:spcPts val="1200"/>
              </a:spcBef>
              <a:spcAft>
                <a:spcPts val="0"/>
              </a:spcAft>
              <a:buSzPct val="100000"/>
              <a:buAutoNum type="arabicPeriod"/>
            </a:pPr>
            <a:r>
              <a:rPr lang="en" sz="2534"/>
              <a:t>Divide data into “bins” (typically between 5 and 20)*</a:t>
            </a:r>
            <a:endParaRPr sz="2534"/>
          </a:p>
          <a:p>
            <a:pPr indent="0" lvl="0" marL="457200" rtl="0" algn="l">
              <a:lnSpc>
                <a:spcPct val="115000"/>
              </a:lnSpc>
              <a:spcBef>
                <a:spcPts val="0"/>
              </a:spcBef>
              <a:spcAft>
                <a:spcPts val="0"/>
              </a:spcAft>
              <a:buNone/>
            </a:pPr>
            <a:r>
              <a:t/>
            </a:r>
            <a:endParaRPr sz="2534"/>
          </a:p>
          <a:p>
            <a:pPr indent="-292964" lvl="0" marL="457200" rtl="0" algn="l">
              <a:lnSpc>
                <a:spcPct val="115000"/>
              </a:lnSpc>
              <a:spcBef>
                <a:spcPts val="0"/>
              </a:spcBef>
              <a:spcAft>
                <a:spcPts val="0"/>
              </a:spcAft>
              <a:buSzPct val="100000"/>
              <a:buAutoNum type="arabicPeriod"/>
            </a:pPr>
            <a:r>
              <a:rPr lang="en" sz="2534"/>
              <a:t>Divide range of data (Max - Min) by bin count to get bin size / width</a:t>
            </a:r>
            <a:endParaRPr sz="2534"/>
          </a:p>
          <a:p>
            <a:pPr indent="0" lvl="0" marL="457200" rtl="0" algn="l">
              <a:lnSpc>
                <a:spcPct val="115000"/>
              </a:lnSpc>
              <a:spcBef>
                <a:spcPts val="1200"/>
              </a:spcBef>
              <a:spcAft>
                <a:spcPts val="0"/>
              </a:spcAft>
              <a:buNone/>
            </a:pPr>
            <a:r>
              <a:rPr lang="en" sz="2534"/>
              <a:t>Example: If max = 95 and min = 30, range = 65.  If five bins, bin width = 65/5 = 13</a:t>
            </a:r>
            <a:endParaRPr sz="2534"/>
          </a:p>
          <a:p>
            <a:pPr indent="-292964" lvl="0" marL="457200" rtl="0" algn="l">
              <a:lnSpc>
                <a:spcPct val="115000"/>
              </a:lnSpc>
              <a:spcBef>
                <a:spcPts val="1200"/>
              </a:spcBef>
              <a:spcAft>
                <a:spcPts val="0"/>
              </a:spcAft>
              <a:buSzPct val="100000"/>
              <a:buAutoNum type="arabicPeriod"/>
            </a:pPr>
            <a:r>
              <a:rPr lang="en" sz="2534"/>
              <a:t>Assign observations to bins </a:t>
            </a:r>
            <a:endParaRPr sz="2534"/>
          </a:p>
          <a:p>
            <a:pPr indent="-292964" lvl="0" marL="457200" rtl="0" algn="l">
              <a:lnSpc>
                <a:spcPct val="115000"/>
              </a:lnSpc>
              <a:spcBef>
                <a:spcPts val="0"/>
              </a:spcBef>
              <a:spcAft>
                <a:spcPts val="0"/>
              </a:spcAft>
              <a:buSzPct val="100000"/>
              <a:buAutoNum type="arabicPeriod"/>
            </a:pPr>
            <a:r>
              <a:rPr lang="en" sz="2534"/>
              <a:t>Plot as columns</a:t>
            </a:r>
            <a:endParaRPr sz="2534"/>
          </a:p>
          <a:p>
            <a:pPr indent="0" lvl="0" marL="0" rtl="0" algn="l">
              <a:lnSpc>
                <a:spcPct val="115000"/>
              </a:lnSpc>
              <a:spcBef>
                <a:spcPts val="1200"/>
              </a:spcBef>
              <a:spcAft>
                <a:spcPts val="0"/>
              </a:spcAft>
              <a:buNone/>
            </a:pPr>
            <a:r>
              <a:rPr lang="en" sz="2534"/>
              <a:t>Try alternative bin widths and counts before drawing strong conclusions</a:t>
            </a:r>
            <a:endParaRPr sz="2534"/>
          </a:p>
        </p:txBody>
      </p:sp>
      <p:pic>
        <p:nvPicPr>
          <p:cNvPr id="212" name="Google Shape;212;p23"/>
          <p:cNvPicPr preferRelativeResize="0"/>
          <p:nvPr/>
        </p:nvPicPr>
        <p:blipFill rotWithShape="1">
          <a:blip r:embed="rId3">
            <a:alphaModFix/>
          </a:blip>
          <a:srcRect b="0" l="0" r="0" t="0"/>
          <a:stretch/>
        </p:blipFill>
        <p:spPr>
          <a:xfrm>
            <a:off x="4509049" y="1144125"/>
            <a:ext cx="901701" cy="3782701"/>
          </a:xfrm>
          <a:prstGeom prst="rect">
            <a:avLst/>
          </a:prstGeom>
          <a:noFill/>
          <a:ln>
            <a:noFill/>
          </a:ln>
        </p:spPr>
      </p:pic>
      <p:pic>
        <p:nvPicPr>
          <p:cNvPr id="213" name="Google Shape;213;p23"/>
          <p:cNvPicPr preferRelativeResize="0"/>
          <p:nvPr/>
        </p:nvPicPr>
        <p:blipFill rotWithShape="1">
          <a:blip r:embed="rId4">
            <a:alphaModFix/>
          </a:blip>
          <a:srcRect b="0" l="0" r="0" t="0"/>
          <a:stretch/>
        </p:blipFill>
        <p:spPr>
          <a:xfrm>
            <a:off x="5724175" y="1144125"/>
            <a:ext cx="2808593" cy="1776650"/>
          </a:xfrm>
          <a:prstGeom prst="rect">
            <a:avLst/>
          </a:prstGeom>
          <a:noFill/>
          <a:ln>
            <a:noFill/>
          </a:ln>
        </p:spPr>
      </p:pic>
      <p:pic>
        <p:nvPicPr>
          <p:cNvPr id="214" name="Google Shape;214;p23" title="Chart"/>
          <p:cNvPicPr preferRelativeResize="0"/>
          <p:nvPr/>
        </p:nvPicPr>
        <p:blipFill rotWithShape="1">
          <a:blip r:embed="rId5">
            <a:alphaModFix/>
          </a:blip>
          <a:srcRect b="0" l="0" r="0" t="0"/>
          <a:stretch/>
        </p:blipFill>
        <p:spPr>
          <a:xfrm>
            <a:off x="5724175" y="3214450"/>
            <a:ext cx="2873289" cy="1776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2"/>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Histograms</a:t>
            </a:r>
            <a:endParaRPr/>
          </a:p>
        </p:txBody>
      </p:sp>
      <p:graphicFrame>
        <p:nvGraphicFramePr>
          <p:cNvPr id="220" name="Google Shape;220;p22"/>
          <p:cNvGraphicFramePr/>
          <p:nvPr/>
        </p:nvGraphicFramePr>
        <p:xfrm>
          <a:off x="608950" y="2004025"/>
          <a:ext cx="3000000" cy="3000000"/>
        </p:xfrm>
        <a:graphic>
          <a:graphicData uri="http://schemas.openxmlformats.org/drawingml/2006/table">
            <a:tbl>
              <a:tblPr>
                <a:noFill/>
                <a:tableStyleId>{11F6B16C-429F-468D-B13A-87170C32BEDF}</a:tableStyleId>
              </a:tblPr>
              <a:tblGrid>
                <a:gridCol w="3236125"/>
                <a:gridCol w="4559425"/>
              </a:tblGrid>
              <a:tr h="304700">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solidFill>
                            <a:schemeClr val="dk1"/>
                          </a:solidFill>
                        </a:rPr>
                        <a:t>Goal</a:t>
                      </a:r>
                      <a:endParaRPr b="1" sz="11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1100" u="none" cap="none" strike="noStrike">
                          <a:solidFill>
                            <a:schemeClr val="dk1"/>
                          </a:solidFill>
                        </a:rPr>
                        <a:t>How A Histogram Helps</a:t>
                      </a:r>
                      <a:endParaRPr b="1" sz="11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4700">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rPr>
                        <a:t>Understand the shape of a distribution</a:t>
                      </a:r>
                      <a:endParaRPr sz="11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rPr>
                        <a:t>Reveals whether data is normal, skewed, uniform, etc.</a:t>
                      </a:r>
                      <a:endParaRPr sz="11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4700">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rPr>
                        <a:t>Detect clusters, gaps, or outliers</a:t>
                      </a:r>
                      <a:endParaRPr sz="11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rPr>
                        <a:t>Makes unusual patterns or outliers easy to spot</a:t>
                      </a:r>
                      <a:endParaRPr sz="11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558600">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rPr>
                        <a:t>Compare frequency of values across ranges</a:t>
                      </a:r>
                      <a:endParaRPr sz="11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rPr>
                        <a:t>Shows how common different ranges of values are</a:t>
                      </a:r>
                      <a:endParaRPr sz="11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04700">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rPr>
                        <a:t>Explore variability and spread</a:t>
                      </a:r>
                      <a:endParaRPr sz="11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rPr>
                        <a:t>Wider distribution means more variability</a:t>
                      </a:r>
                      <a:endParaRPr sz="11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558600">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rPr>
                        <a:t>Prepare for statistical modeling</a:t>
                      </a:r>
                      <a:endParaRPr sz="11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100"/>
                        <a:buFont typeface="Arial"/>
                        <a:buNone/>
                      </a:pPr>
                      <a:r>
                        <a:rPr lang="en" sz="1100" u="none" cap="none" strike="noStrike">
                          <a:solidFill>
                            <a:schemeClr val="dk1"/>
                          </a:solidFill>
                        </a:rPr>
                        <a:t>Helps assess assumptions like normality for regression or tests</a:t>
                      </a:r>
                      <a:endParaRPr sz="11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pic>
        <p:nvPicPr>
          <p:cNvPr id="221" name="Google Shape;221;p22"/>
          <p:cNvPicPr preferRelativeResize="0"/>
          <p:nvPr/>
        </p:nvPicPr>
        <p:blipFill rotWithShape="1">
          <a:blip r:embed="rId3">
            <a:alphaModFix/>
          </a:blip>
          <a:srcRect b="0" l="0" r="0" t="0"/>
          <a:stretch/>
        </p:blipFill>
        <p:spPr>
          <a:xfrm>
            <a:off x="5377113" y="130738"/>
            <a:ext cx="2600325" cy="17621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4"/>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Bin Count </a:t>
            </a:r>
            <a:endParaRPr/>
          </a:p>
        </p:txBody>
      </p:sp>
      <p:sp>
        <p:nvSpPr>
          <p:cNvPr id="227" name="Google Shape;227;p24"/>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Too few: Oversimplified, hides important structures (bimodality, clusters, etc.)</a:t>
            </a:r>
            <a:endParaRPr/>
          </a:p>
          <a:p>
            <a:pPr indent="0" lvl="0" marL="0" rtl="0" algn="l">
              <a:lnSpc>
                <a:spcPct val="115000"/>
              </a:lnSpc>
              <a:spcBef>
                <a:spcPts val="1200"/>
              </a:spcBef>
              <a:spcAft>
                <a:spcPts val="1200"/>
              </a:spcAft>
              <a:buSzPts val="1800"/>
              <a:buNone/>
            </a:pPr>
            <a:r>
              <a:rPr lang="en"/>
              <a:t>Too many: Random variation looks like real patterns, overinterpreting noise</a:t>
            </a:r>
            <a:endParaRPr/>
          </a:p>
        </p:txBody>
      </p:sp>
      <p:pic>
        <p:nvPicPr>
          <p:cNvPr id="228" name="Google Shape;228;p24"/>
          <p:cNvPicPr preferRelativeResize="0"/>
          <p:nvPr/>
        </p:nvPicPr>
        <p:blipFill rotWithShape="1">
          <a:blip r:embed="rId3">
            <a:alphaModFix/>
          </a:blip>
          <a:srcRect b="0" l="0" r="0" t="0"/>
          <a:stretch/>
        </p:blipFill>
        <p:spPr>
          <a:xfrm>
            <a:off x="3265625" y="2571750"/>
            <a:ext cx="2612750" cy="1567650"/>
          </a:xfrm>
          <a:prstGeom prst="rect">
            <a:avLst/>
          </a:prstGeom>
          <a:noFill/>
          <a:ln>
            <a:noFill/>
          </a:ln>
        </p:spPr>
      </p:pic>
      <p:pic>
        <p:nvPicPr>
          <p:cNvPr id="229" name="Google Shape;229;p24"/>
          <p:cNvPicPr preferRelativeResize="0"/>
          <p:nvPr/>
        </p:nvPicPr>
        <p:blipFill rotWithShape="1">
          <a:blip r:embed="rId4">
            <a:alphaModFix/>
          </a:blip>
          <a:srcRect b="0" l="0" r="0" t="0"/>
          <a:stretch/>
        </p:blipFill>
        <p:spPr>
          <a:xfrm>
            <a:off x="387900" y="2571749"/>
            <a:ext cx="2612758" cy="1567650"/>
          </a:xfrm>
          <a:prstGeom prst="rect">
            <a:avLst/>
          </a:prstGeom>
          <a:noFill/>
          <a:ln>
            <a:noFill/>
          </a:ln>
        </p:spPr>
      </p:pic>
      <p:pic>
        <p:nvPicPr>
          <p:cNvPr id="230" name="Google Shape;230;p24"/>
          <p:cNvPicPr preferRelativeResize="0"/>
          <p:nvPr/>
        </p:nvPicPr>
        <p:blipFill rotWithShape="1">
          <a:blip r:embed="rId5">
            <a:alphaModFix/>
          </a:blip>
          <a:srcRect b="0" l="0" r="0" t="0"/>
          <a:stretch/>
        </p:blipFill>
        <p:spPr>
          <a:xfrm>
            <a:off x="6143350" y="2571750"/>
            <a:ext cx="2612750" cy="156764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Histograms (continued)</a:t>
            </a:r>
            <a:endParaRPr/>
          </a:p>
        </p:txBody>
      </p:sp>
      <p:pic>
        <p:nvPicPr>
          <p:cNvPr id="236" name="Google Shape;236;p25"/>
          <p:cNvPicPr preferRelativeResize="0"/>
          <p:nvPr/>
        </p:nvPicPr>
        <p:blipFill rotWithShape="1">
          <a:blip r:embed="rId3">
            <a:alphaModFix/>
          </a:blip>
          <a:srcRect b="0" l="0" r="0" t="0"/>
          <a:stretch/>
        </p:blipFill>
        <p:spPr>
          <a:xfrm>
            <a:off x="1116009" y="1029975"/>
            <a:ext cx="6759826" cy="39993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d7b7821411_0_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Count vs Density Histograms</a:t>
            </a:r>
            <a:endParaRPr/>
          </a:p>
        </p:txBody>
      </p:sp>
      <p:sp>
        <p:nvSpPr>
          <p:cNvPr id="242" name="Google Shape;242;g3d7b7821411_0_0"/>
          <p:cNvSpPr txBox="1"/>
          <p:nvPr>
            <p:ph idx="1" type="body"/>
          </p:nvPr>
        </p:nvSpPr>
        <p:spPr>
          <a:xfrm>
            <a:off x="387900" y="1489825"/>
            <a:ext cx="4533900" cy="3078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Count: </a:t>
            </a:r>
            <a:endParaRPr/>
          </a:p>
          <a:p>
            <a:pPr indent="0" lvl="0" marL="0" rtl="0" algn="l">
              <a:spcBef>
                <a:spcPts val="0"/>
              </a:spcBef>
              <a:spcAft>
                <a:spcPts val="0"/>
              </a:spcAft>
              <a:buNone/>
            </a:pPr>
            <a:r>
              <a:rPr lang="en"/>
              <a:t>Y-axis = Number of observations</a:t>
            </a:r>
            <a:endParaRPr/>
          </a:p>
          <a:p>
            <a:pPr indent="0" lvl="0" marL="0" rtl="0" algn="l">
              <a:spcBef>
                <a:spcPts val="0"/>
              </a:spcBef>
              <a:spcAft>
                <a:spcPts val="0"/>
              </a:spcAft>
              <a:buNone/>
            </a:pPr>
            <a:r>
              <a:rPr lang="en"/>
              <a:t>Area depends on sample size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Frequency</a:t>
            </a:r>
            <a:endParaRPr/>
          </a:p>
          <a:p>
            <a:pPr indent="0" lvl="0" marL="0" rtl="0" algn="l">
              <a:spcBef>
                <a:spcPts val="0"/>
              </a:spcBef>
              <a:spcAft>
                <a:spcPts val="0"/>
              </a:spcAft>
              <a:buNone/>
            </a:pPr>
            <a:r>
              <a:rPr lang="en"/>
              <a:t>Y-axis = Probability density </a:t>
            </a:r>
            <a:endParaRPr/>
          </a:p>
          <a:p>
            <a:pPr indent="0" lvl="0" marL="0" rtl="0" algn="l">
              <a:spcBef>
                <a:spcPts val="0"/>
              </a:spcBef>
              <a:spcAft>
                <a:spcPts val="0"/>
              </a:spcAft>
              <a:buNone/>
            </a:pPr>
            <a:r>
              <a:rPr lang="en"/>
              <a:t>Area sums to 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Frequency is better for comparing distributions / shape across datasets</a:t>
            </a:r>
            <a:endParaRPr/>
          </a:p>
        </p:txBody>
      </p:sp>
      <p:pic>
        <p:nvPicPr>
          <p:cNvPr id="243" name="Google Shape;243;g3d7b7821411_0_0"/>
          <p:cNvPicPr preferRelativeResize="0"/>
          <p:nvPr/>
        </p:nvPicPr>
        <p:blipFill>
          <a:blip r:embed="rId3">
            <a:alphaModFix/>
          </a:blip>
          <a:stretch>
            <a:fillRect/>
          </a:stretch>
        </p:blipFill>
        <p:spPr>
          <a:xfrm>
            <a:off x="5766624" y="529100"/>
            <a:ext cx="2762849" cy="42658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6"/>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Violin Plot </a:t>
            </a:r>
            <a:endParaRPr/>
          </a:p>
        </p:txBody>
      </p:sp>
      <p:sp>
        <p:nvSpPr>
          <p:cNvPr id="249" name="Google Shape;249;p26"/>
          <p:cNvSpPr txBox="1"/>
          <p:nvPr>
            <p:ph idx="1" type="body"/>
          </p:nvPr>
        </p:nvSpPr>
        <p:spPr>
          <a:xfrm>
            <a:off x="387900" y="1489825"/>
            <a:ext cx="27300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Width = frequency </a:t>
            </a:r>
            <a:endParaRPr/>
          </a:p>
          <a:p>
            <a:pPr indent="0" lvl="0" marL="0" rtl="0" algn="l">
              <a:lnSpc>
                <a:spcPct val="115000"/>
              </a:lnSpc>
              <a:spcBef>
                <a:spcPts val="1200"/>
              </a:spcBef>
              <a:spcAft>
                <a:spcPts val="0"/>
              </a:spcAft>
              <a:buSzPts val="1800"/>
              <a:buNone/>
            </a:pPr>
            <a:r>
              <a:rPr lang="en"/>
              <a:t>White dot = median</a:t>
            </a:r>
            <a:endParaRPr/>
          </a:p>
          <a:p>
            <a:pPr indent="0" lvl="0" marL="0" rtl="0" algn="l">
              <a:lnSpc>
                <a:spcPct val="115000"/>
              </a:lnSpc>
              <a:spcBef>
                <a:spcPts val="1200"/>
              </a:spcBef>
              <a:spcAft>
                <a:spcPts val="0"/>
              </a:spcAft>
              <a:buSzPts val="1800"/>
              <a:buNone/>
            </a:pPr>
            <a:r>
              <a:rPr lang="en"/>
              <a:t>Thick black bar = IQR</a:t>
            </a:r>
            <a:endParaRPr/>
          </a:p>
          <a:p>
            <a:pPr indent="0" lvl="0" marL="0" rtl="0" algn="l">
              <a:lnSpc>
                <a:spcPct val="115000"/>
              </a:lnSpc>
              <a:spcBef>
                <a:spcPts val="1200"/>
              </a:spcBef>
              <a:spcAft>
                <a:spcPts val="1200"/>
              </a:spcAft>
              <a:buSzPts val="1800"/>
              <a:buNone/>
            </a:pPr>
            <a:r>
              <a:rPr lang="en"/>
              <a:t>Thin black line = min and max, excluding outliers beyond 1.25x IQR</a:t>
            </a:r>
            <a:endParaRPr/>
          </a:p>
        </p:txBody>
      </p:sp>
      <p:pic>
        <p:nvPicPr>
          <p:cNvPr id="250" name="Google Shape;250;p26"/>
          <p:cNvPicPr preferRelativeResize="0"/>
          <p:nvPr/>
        </p:nvPicPr>
        <p:blipFill rotWithShape="1">
          <a:blip r:embed="rId3">
            <a:alphaModFix/>
          </a:blip>
          <a:srcRect b="0" l="0" r="0" t="0"/>
          <a:stretch/>
        </p:blipFill>
        <p:spPr>
          <a:xfrm>
            <a:off x="3783172" y="1191550"/>
            <a:ext cx="5233023" cy="32457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Visualizing Quantitative Data: Box and Whisker Plots</a:t>
            </a:r>
            <a:endParaRPr/>
          </a:p>
        </p:txBody>
      </p:sp>
      <p:pic>
        <p:nvPicPr>
          <p:cNvPr id="256" name="Google Shape;256;p27"/>
          <p:cNvPicPr preferRelativeResize="0"/>
          <p:nvPr/>
        </p:nvPicPr>
        <p:blipFill rotWithShape="1">
          <a:blip r:embed="rId3">
            <a:alphaModFix/>
          </a:blip>
          <a:srcRect b="0" l="0" r="0" t="0"/>
          <a:stretch/>
        </p:blipFill>
        <p:spPr>
          <a:xfrm>
            <a:off x="622749" y="1629500"/>
            <a:ext cx="5103674" cy="2618224"/>
          </a:xfrm>
          <a:prstGeom prst="rect">
            <a:avLst/>
          </a:prstGeom>
          <a:noFill/>
          <a:ln>
            <a:noFill/>
          </a:ln>
        </p:spPr>
      </p:pic>
      <p:pic>
        <p:nvPicPr>
          <p:cNvPr id="257" name="Google Shape;257;p27"/>
          <p:cNvPicPr preferRelativeResize="0"/>
          <p:nvPr/>
        </p:nvPicPr>
        <p:blipFill rotWithShape="1">
          <a:blip r:embed="rId4">
            <a:alphaModFix/>
          </a:blip>
          <a:srcRect b="0" l="0" r="0" t="0"/>
          <a:stretch/>
        </p:blipFill>
        <p:spPr>
          <a:xfrm>
            <a:off x="5878823" y="1563200"/>
            <a:ext cx="3112778" cy="275082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Visualizing Two Numerical Variables: Scatter Plots</a:t>
            </a:r>
            <a:endParaRPr/>
          </a:p>
        </p:txBody>
      </p:sp>
      <p:graphicFrame>
        <p:nvGraphicFramePr>
          <p:cNvPr id="263" name="Google Shape;263;p28"/>
          <p:cNvGraphicFramePr/>
          <p:nvPr/>
        </p:nvGraphicFramePr>
        <p:xfrm>
          <a:off x="203300" y="2354175"/>
          <a:ext cx="3000000" cy="3000000"/>
        </p:xfrm>
        <a:graphic>
          <a:graphicData uri="http://schemas.openxmlformats.org/drawingml/2006/table">
            <a:tbl>
              <a:tblPr>
                <a:noFill/>
                <a:tableStyleId>{528EA1AB-F888-4D35-83DA-0139EBD81F6B}</a:tableStyleId>
              </a:tblPr>
              <a:tblGrid>
                <a:gridCol w="2092050"/>
                <a:gridCol w="209205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Height</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Weight</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67</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140</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68</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175</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70</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190</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72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197</a:t>
                      </a:r>
                      <a:endParaRPr sz="1400" u="none" cap="none" strike="noStrike">
                        <a:solidFill>
                          <a:schemeClr val="dk1"/>
                        </a:solidFill>
                      </a:endParaRPr>
                    </a:p>
                  </a:txBody>
                  <a:tcPr marT="91425" marB="91425" marR="91425" marL="91425"/>
                </a:tc>
              </a:tr>
            </a:tbl>
          </a:graphicData>
        </a:graphic>
      </p:graphicFrame>
      <p:pic>
        <p:nvPicPr>
          <p:cNvPr id="264" name="Google Shape;264;p28" title="Chart"/>
          <p:cNvPicPr preferRelativeResize="0"/>
          <p:nvPr/>
        </p:nvPicPr>
        <p:blipFill rotWithShape="1">
          <a:blip r:embed="rId3">
            <a:alphaModFix/>
          </a:blip>
          <a:srcRect b="0" l="0" r="0" t="0"/>
          <a:stretch/>
        </p:blipFill>
        <p:spPr>
          <a:xfrm>
            <a:off x="4572000" y="1985700"/>
            <a:ext cx="4267199" cy="2634647"/>
          </a:xfrm>
          <a:prstGeom prst="rect">
            <a:avLst/>
          </a:prstGeom>
          <a:noFill/>
          <a:ln>
            <a:noFill/>
          </a:ln>
        </p:spPr>
      </p:pic>
      <p:sp>
        <p:nvSpPr>
          <p:cNvPr id="265" name="Google Shape;265;p28"/>
          <p:cNvSpPr txBox="1"/>
          <p:nvPr>
            <p:ph idx="1" type="body"/>
          </p:nvPr>
        </p:nvSpPr>
        <p:spPr>
          <a:xfrm>
            <a:off x="134400" y="1206750"/>
            <a:ext cx="4437600" cy="1084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Plot coordinate pairs of two variables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9"/>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Scatter Plot with Trend Line</a:t>
            </a:r>
            <a:endParaRPr/>
          </a:p>
        </p:txBody>
      </p:sp>
      <p:sp>
        <p:nvSpPr>
          <p:cNvPr id="271" name="Google Shape;271;p29"/>
          <p:cNvSpPr txBox="1"/>
          <p:nvPr>
            <p:ph idx="1" type="body"/>
          </p:nvPr>
        </p:nvSpPr>
        <p:spPr>
          <a:xfrm>
            <a:off x="387900" y="1489825"/>
            <a:ext cx="2592600" cy="3078900"/>
          </a:xfrm>
          <a:prstGeom prst="rect">
            <a:avLst/>
          </a:prstGeom>
          <a:noFill/>
          <a:ln>
            <a:noFill/>
          </a:ln>
        </p:spPr>
        <p:txBody>
          <a:bodyPr anchorCtr="0" anchor="t" bIns="91425" lIns="91425" spcFirstLastPara="1" rIns="91425" wrap="square" tIns="91425">
            <a:normAutofit fontScale="85000"/>
          </a:bodyPr>
          <a:lstStyle/>
          <a:p>
            <a:pPr indent="0" lvl="0" marL="0" rtl="0" algn="l">
              <a:lnSpc>
                <a:spcPct val="115000"/>
              </a:lnSpc>
              <a:spcBef>
                <a:spcPts val="0"/>
              </a:spcBef>
              <a:spcAft>
                <a:spcPts val="0"/>
              </a:spcAft>
              <a:buSzPct val="100000"/>
              <a:buNone/>
            </a:pPr>
            <a:r>
              <a:rPr lang="en"/>
              <a:t>Adding a trend line can help clarify the relationship</a:t>
            </a:r>
            <a:endParaRPr/>
          </a:p>
          <a:p>
            <a:pPr indent="0" lvl="0" marL="0" rtl="0" algn="l">
              <a:lnSpc>
                <a:spcPct val="115000"/>
              </a:lnSpc>
              <a:spcBef>
                <a:spcPts val="0"/>
              </a:spcBef>
              <a:spcAft>
                <a:spcPts val="0"/>
              </a:spcAft>
              <a:buSzPct val="100000"/>
              <a:buNone/>
            </a:pPr>
            <a:r>
              <a:t/>
            </a:r>
            <a:endParaRPr/>
          </a:p>
          <a:p>
            <a:pPr indent="0" lvl="0" marL="0" rtl="0" algn="l">
              <a:lnSpc>
                <a:spcPct val="115000"/>
              </a:lnSpc>
              <a:spcBef>
                <a:spcPts val="0"/>
              </a:spcBef>
              <a:spcAft>
                <a:spcPts val="0"/>
              </a:spcAft>
              <a:buSzPct val="100000"/>
              <a:buNone/>
            </a:pPr>
            <a:r>
              <a:rPr lang="en"/>
              <a:t>Equation of line can be displayed as well to provide a more mathematically precise description of the relationship (y = mx + b style)</a:t>
            </a:r>
            <a:endParaRPr/>
          </a:p>
          <a:p>
            <a:pPr indent="0" lvl="0" marL="0" rtl="0" algn="l">
              <a:lnSpc>
                <a:spcPct val="115000"/>
              </a:lnSpc>
              <a:spcBef>
                <a:spcPts val="1200"/>
              </a:spcBef>
              <a:spcAft>
                <a:spcPts val="1200"/>
              </a:spcAft>
              <a:buSzPct val="100000"/>
              <a:buNone/>
            </a:pPr>
            <a:r>
              <a:rPr lang="en"/>
              <a:t>Tends to imply causation…</a:t>
            </a:r>
            <a:endParaRPr/>
          </a:p>
        </p:txBody>
      </p:sp>
      <p:pic>
        <p:nvPicPr>
          <p:cNvPr id="272" name="Google Shape;272;p29"/>
          <p:cNvPicPr preferRelativeResize="0"/>
          <p:nvPr/>
        </p:nvPicPr>
        <p:blipFill rotWithShape="1">
          <a:blip r:embed="rId3">
            <a:alphaModFix/>
          </a:blip>
          <a:srcRect b="0" l="0" r="0" t="0"/>
          <a:stretch/>
        </p:blipFill>
        <p:spPr>
          <a:xfrm>
            <a:off x="3392175" y="1366100"/>
            <a:ext cx="5303426" cy="32026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0"/>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Visualizing Numerical Data - Time Series / Line Charts</a:t>
            </a:r>
            <a:endParaRPr/>
          </a:p>
        </p:txBody>
      </p:sp>
      <p:graphicFrame>
        <p:nvGraphicFramePr>
          <p:cNvPr id="278" name="Google Shape;278;p30"/>
          <p:cNvGraphicFramePr/>
          <p:nvPr/>
        </p:nvGraphicFramePr>
        <p:xfrm>
          <a:off x="1741650" y="784600"/>
          <a:ext cx="3000000" cy="3000000"/>
        </p:xfrm>
        <a:graphic>
          <a:graphicData uri="http://schemas.openxmlformats.org/drawingml/2006/table">
            <a:tbl>
              <a:tblPr>
                <a:noFill/>
                <a:tableStyleId>{11F6B16C-429F-468D-B13A-87170C32BEDF}</a:tableStyleId>
              </a:tblPr>
              <a:tblGrid>
                <a:gridCol w="952500"/>
                <a:gridCol w="952500"/>
              </a:tblGrid>
              <a:tr h="329600">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1"/>
                          </a:solidFill>
                        </a:rPr>
                        <a:t>Month</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1"/>
                          </a:solidFill>
                        </a:rPr>
                        <a:t>Sales</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9600">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1"/>
                          </a:solidFill>
                        </a:rPr>
                        <a:t>Jan</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 sz="1400" u="none" cap="none" strike="noStrike">
                          <a:solidFill>
                            <a:schemeClr val="dk1"/>
                          </a:solidFill>
                        </a:rPr>
                        <a:t>82</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9600">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1"/>
                          </a:solidFill>
                        </a:rPr>
                        <a:t>Feb</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 sz="1400" u="none" cap="none" strike="noStrike">
                          <a:solidFill>
                            <a:schemeClr val="dk1"/>
                          </a:solidFill>
                        </a:rPr>
                        <a:t>68</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9600">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1"/>
                          </a:solidFill>
                        </a:rPr>
                        <a:t>Mar</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 sz="1400" u="none" cap="none" strike="noStrike">
                          <a:solidFill>
                            <a:schemeClr val="dk1"/>
                          </a:solidFill>
                        </a:rPr>
                        <a:t>61</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9600">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1"/>
                          </a:solidFill>
                        </a:rPr>
                        <a:t>Apr</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 sz="1400" u="none" cap="none" strike="noStrike">
                          <a:solidFill>
                            <a:schemeClr val="dk1"/>
                          </a:solidFill>
                        </a:rPr>
                        <a:t>82</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9600">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1"/>
                          </a:solidFill>
                        </a:rPr>
                        <a:t>May</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 sz="1400" u="none" cap="none" strike="noStrike">
                          <a:solidFill>
                            <a:schemeClr val="dk1"/>
                          </a:solidFill>
                        </a:rPr>
                        <a:t>60</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9600">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1"/>
                          </a:solidFill>
                        </a:rPr>
                        <a:t>Jun</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 sz="1400" u="none" cap="none" strike="noStrike">
                          <a:solidFill>
                            <a:schemeClr val="dk1"/>
                          </a:solidFill>
                        </a:rPr>
                        <a:t>76</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9600">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1"/>
                          </a:solidFill>
                        </a:rPr>
                        <a:t>Jul</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 sz="1400" u="none" cap="none" strike="noStrike">
                          <a:solidFill>
                            <a:schemeClr val="dk1"/>
                          </a:solidFill>
                        </a:rPr>
                        <a:t>59</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9600">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1"/>
                          </a:solidFill>
                        </a:rPr>
                        <a:t>Aug</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 sz="1400" u="none" cap="none" strike="noStrike">
                          <a:solidFill>
                            <a:schemeClr val="dk1"/>
                          </a:solidFill>
                        </a:rPr>
                        <a:t>75</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9600">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1"/>
                          </a:solidFill>
                        </a:rPr>
                        <a:t>Sep</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 sz="1400" u="none" cap="none" strike="noStrike">
                          <a:solidFill>
                            <a:schemeClr val="dk1"/>
                          </a:solidFill>
                        </a:rPr>
                        <a:t>74</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9600">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1"/>
                          </a:solidFill>
                        </a:rPr>
                        <a:t>Oct</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 sz="1400" u="none" cap="none" strike="noStrike">
                          <a:solidFill>
                            <a:schemeClr val="dk1"/>
                          </a:solidFill>
                        </a:rPr>
                        <a:t>87</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9600">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1"/>
                          </a:solidFill>
                        </a:rPr>
                        <a:t>Nov</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 sz="1400" u="none" cap="none" strike="noStrike">
                          <a:solidFill>
                            <a:schemeClr val="dk1"/>
                          </a:solidFill>
                        </a:rPr>
                        <a:t>87</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9600">
                <a:tc>
                  <a:txBody>
                    <a:bodyPr/>
                    <a:lstStyle/>
                    <a:p>
                      <a:pPr indent="0" lvl="0" marL="0" marR="0" rtl="0" algn="l">
                        <a:lnSpc>
                          <a:spcPct val="115000"/>
                        </a:lnSpc>
                        <a:spcBef>
                          <a:spcPts val="0"/>
                        </a:spcBef>
                        <a:spcAft>
                          <a:spcPts val="0"/>
                        </a:spcAft>
                        <a:buClr>
                          <a:srgbClr val="000000"/>
                        </a:buClr>
                        <a:buSzPts val="1400"/>
                        <a:buFont typeface="Arial"/>
                        <a:buNone/>
                      </a:pPr>
                      <a:r>
                        <a:rPr lang="en" sz="1400" u="none" cap="none" strike="noStrike">
                          <a:solidFill>
                            <a:schemeClr val="dk1"/>
                          </a:solidFill>
                        </a:rPr>
                        <a:t>Dec</a:t>
                      </a:r>
                      <a:endParaRPr sz="14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r">
                        <a:lnSpc>
                          <a:spcPct val="115000"/>
                        </a:lnSpc>
                        <a:spcBef>
                          <a:spcPts val="0"/>
                        </a:spcBef>
                        <a:spcAft>
                          <a:spcPts val="0"/>
                        </a:spcAft>
                        <a:buClr>
                          <a:srgbClr val="000000"/>
                        </a:buClr>
                        <a:buSzPts val="1400"/>
                        <a:buFont typeface="Arial"/>
                        <a:buNone/>
                      </a:pPr>
                      <a:r>
                        <a:rPr lang="en" sz="1400" u="none" cap="none" strike="noStrike">
                          <a:solidFill>
                            <a:schemeClr val="dk1"/>
                          </a:solidFill>
                        </a:rPr>
                        <a:t>88</a:t>
                      </a:r>
                      <a:endParaRPr sz="1400" u="none" cap="none" strike="noStrike">
                        <a:solidFill>
                          <a:schemeClr val="dk1"/>
                        </a:solidFill>
                      </a:endParaRPr>
                    </a:p>
                  </a:txBody>
                  <a:tcPr marT="19050" marB="19050" marR="28575" marL="28575" anchor="b">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279" name="Google Shape;279;p30" title="Chart"/>
          <p:cNvPicPr preferRelativeResize="0"/>
          <p:nvPr/>
        </p:nvPicPr>
        <p:blipFill rotWithShape="1">
          <a:blip r:embed="rId3">
            <a:alphaModFix/>
          </a:blip>
          <a:srcRect b="0" l="0" r="0" t="0"/>
          <a:stretch/>
        </p:blipFill>
        <p:spPr>
          <a:xfrm>
            <a:off x="3799050" y="1296525"/>
            <a:ext cx="5192550" cy="321072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Waterfall Chart</a:t>
            </a:r>
            <a:endParaRPr/>
          </a:p>
        </p:txBody>
      </p:sp>
      <p:sp>
        <p:nvSpPr>
          <p:cNvPr id="285" name="Google Shape;285;p31"/>
          <p:cNvSpPr txBox="1"/>
          <p:nvPr>
            <p:ph idx="1" type="body"/>
          </p:nvPr>
        </p:nvSpPr>
        <p:spPr>
          <a:xfrm>
            <a:off x="387900" y="1489825"/>
            <a:ext cx="3095400" cy="30789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Illustrates impact of changes based on categories or time period</a:t>
            </a:r>
            <a:endParaRPr/>
          </a:p>
          <a:p>
            <a:pPr indent="0" lvl="0" marL="0" rtl="0" algn="l">
              <a:lnSpc>
                <a:spcPct val="115000"/>
              </a:lnSpc>
              <a:spcBef>
                <a:spcPts val="1200"/>
              </a:spcBef>
              <a:spcAft>
                <a:spcPts val="0"/>
              </a:spcAft>
              <a:buSzPts val="1800"/>
              <a:buNone/>
            </a:pPr>
            <a:r>
              <a:rPr lang="en"/>
              <a:t>Each bar builds upon last</a:t>
            </a:r>
            <a:endParaRPr/>
          </a:p>
          <a:p>
            <a:pPr indent="0" lvl="0" marL="0" rtl="0" algn="l">
              <a:lnSpc>
                <a:spcPct val="115000"/>
              </a:lnSpc>
              <a:spcBef>
                <a:spcPts val="1200"/>
              </a:spcBef>
              <a:spcAft>
                <a:spcPts val="0"/>
              </a:spcAft>
              <a:buSzPts val="1800"/>
              <a:buNone/>
            </a:pPr>
            <a:r>
              <a:rPr lang="en"/>
              <a:t>Illustrates individual contributions</a:t>
            </a:r>
            <a:endParaRPr/>
          </a:p>
          <a:p>
            <a:pPr indent="0" lvl="0" marL="0" rtl="0" algn="l">
              <a:lnSpc>
                <a:spcPct val="115000"/>
              </a:lnSpc>
              <a:spcBef>
                <a:spcPts val="1200"/>
              </a:spcBef>
              <a:spcAft>
                <a:spcPts val="1200"/>
              </a:spcAft>
              <a:buSzPts val="1800"/>
              <a:buNone/>
            </a:pPr>
            <a:r>
              <a:rPr lang="en"/>
              <a:t>Final bar shows cumulative outcome</a:t>
            </a:r>
            <a:endParaRPr/>
          </a:p>
        </p:txBody>
      </p:sp>
      <p:pic>
        <p:nvPicPr>
          <p:cNvPr id="286" name="Google Shape;286;p31"/>
          <p:cNvPicPr preferRelativeResize="0"/>
          <p:nvPr/>
        </p:nvPicPr>
        <p:blipFill>
          <a:blip r:embed="rId3">
            <a:alphaModFix/>
          </a:blip>
          <a:stretch>
            <a:fillRect/>
          </a:stretch>
        </p:blipFill>
        <p:spPr>
          <a:xfrm>
            <a:off x="3634975" y="1524325"/>
            <a:ext cx="5372100" cy="30099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2"/>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Visualizing Three Or More Variables: Bubble Charts</a:t>
            </a:r>
            <a:endParaRPr/>
          </a:p>
        </p:txBody>
      </p:sp>
      <p:sp>
        <p:nvSpPr>
          <p:cNvPr id="292" name="Google Shape;292;p32"/>
          <p:cNvSpPr txBox="1"/>
          <p:nvPr>
            <p:ph idx="1" type="body"/>
          </p:nvPr>
        </p:nvSpPr>
        <p:spPr>
          <a:xfrm>
            <a:off x="387900" y="1489825"/>
            <a:ext cx="4184100" cy="30789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X and Y values go on the X and Y axes, respectively</a:t>
            </a:r>
            <a:endParaRPr/>
          </a:p>
          <a:p>
            <a:pPr indent="0" lvl="0" marL="0" rtl="0" algn="l">
              <a:lnSpc>
                <a:spcPct val="115000"/>
              </a:lnSpc>
              <a:spcBef>
                <a:spcPts val="1200"/>
              </a:spcBef>
              <a:spcAft>
                <a:spcPts val="0"/>
              </a:spcAft>
              <a:buSzPts val="1800"/>
              <a:buNone/>
            </a:pPr>
            <a:r>
              <a:rPr lang="en"/>
              <a:t>A third variable, Z, is related to the size of the bubble</a:t>
            </a:r>
            <a:endParaRPr/>
          </a:p>
          <a:p>
            <a:pPr indent="0" lvl="0" marL="0" rtl="0" algn="l">
              <a:lnSpc>
                <a:spcPct val="115000"/>
              </a:lnSpc>
              <a:spcBef>
                <a:spcPts val="1200"/>
              </a:spcBef>
              <a:spcAft>
                <a:spcPts val="0"/>
              </a:spcAft>
              <a:buSzPts val="1800"/>
              <a:buNone/>
            </a:pPr>
            <a:r>
              <a:rPr lang="en"/>
              <a:t>Color of bubbles could indicate another categorical or continuous variable</a:t>
            </a:r>
            <a:endParaRPr/>
          </a:p>
          <a:p>
            <a:pPr indent="0" lvl="0" marL="0" rtl="0" algn="l">
              <a:lnSpc>
                <a:spcPct val="115000"/>
              </a:lnSpc>
              <a:spcBef>
                <a:spcPts val="1200"/>
              </a:spcBef>
              <a:spcAft>
                <a:spcPts val="1200"/>
              </a:spcAft>
              <a:buSzPts val="1800"/>
              <a:buNone/>
            </a:pPr>
            <a:r>
              <a:rPr lang="en"/>
              <a:t>Remember: Just because you can, doesn’t mean you should…</a:t>
            </a:r>
            <a:endParaRPr/>
          </a:p>
        </p:txBody>
      </p:sp>
      <p:pic>
        <p:nvPicPr>
          <p:cNvPr id="293" name="Google Shape;293;p32"/>
          <p:cNvPicPr preferRelativeResize="0"/>
          <p:nvPr/>
        </p:nvPicPr>
        <p:blipFill rotWithShape="1">
          <a:blip r:embed="rId3">
            <a:alphaModFix/>
          </a:blip>
          <a:srcRect b="0" l="0" r="0" t="0"/>
          <a:stretch/>
        </p:blipFill>
        <p:spPr>
          <a:xfrm>
            <a:off x="4673725" y="1781363"/>
            <a:ext cx="4267198" cy="24958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Tree Map</a:t>
            </a:r>
            <a:endParaRPr/>
          </a:p>
        </p:txBody>
      </p:sp>
      <p:sp>
        <p:nvSpPr>
          <p:cNvPr id="299" name="Google Shape;299;p33"/>
          <p:cNvSpPr txBox="1"/>
          <p:nvPr>
            <p:ph idx="1" type="body"/>
          </p:nvPr>
        </p:nvSpPr>
        <p:spPr>
          <a:xfrm>
            <a:off x="311700" y="1152475"/>
            <a:ext cx="36378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sz="2300"/>
              <a:t>Area of squares shows relative magnitude of each category </a:t>
            </a:r>
            <a:endParaRPr sz="2300"/>
          </a:p>
        </p:txBody>
      </p:sp>
      <p:pic>
        <p:nvPicPr>
          <p:cNvPr id="300" name="Google Shape;300;p33"/>
          <p:cNvPicPr preferRelativeResize="0"/>
          <p:nvPr/>
        </p:nvPicPr>
        <p:blipFill rotWithShape="1">
          <a:blip r:embed="rId3">
            <a:alphaModFix/>
          </a:blip>
          <a:srcRect b="0" l="0" r="0" t="0"/>
          <a:stretch/>
        </p:blipFill>
        <p:spPr>
          <a:xfrm>
            <a:off x="4369350" y="1419949"/>
            <a:ext cx="4205049" cy="28814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4"/>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Mosaic Chart w/ 3 Variables</a:t>
            </a:r>
            <a:endParaRPr/>
          </a:p>
        </p:txBody>
      </p:sp>
      <p:pic>
        <p:nvPicPr>
          <p:cNvPr id="306" name="Google Shape;306;p34"/>
          <p:cNvPicPr preferRelativeResize="0"/>
          <p:nvPr/>
        </p:nvPicPr>
        <p:blipFill rotWithShape="1">
          <a:blip r:embed="rId3">
            <a:alphaModFix/>
          </a:blip>
          <a:srcRect b="0" l="0" r="0" t="0"/>
          <a:stretch/>
        </p:blipFill>
        <p:spPr>
          <a:xfrm>
            <a:off x="1150376" y="1063125"/>
            <a:ext cx="6843248" cy="40803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Clustered Column Chart</a:t>
            </a:r>
            <a:endParaRPr/>
          </a:p>
        </p:txBody>
      </p:sp>
      <p:pic>
        <p:nvPicPr>
          <p:cNvPr id="312" name="Google Shape;312;p35"/>
          <p:cNvPicPr preferRelativeResize="0"/>
          <p:nvPr/>
        </p:nvPicPr>
        <p:blipFill rotWithShape="1">
          <a:blip r:embed="rId3">
            <a:alphaModFix/>
          </a:blip>
          <a:srcRect b="0" l="0" r="0" t="0"/>
          <a:stretch/>
        </p:blipFill>
        <p:spPr>
          <a:xfrm>
            <a:off x="1065325" y="1144125"/>
            <a:ext cx="7013350" cy="39450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6"/>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Radar Chart</a:t>
            </a:r>
            <a:endParaRPr/>
          </a:p>
        </p:txBody>
      </p:sp>
      <p:sp>
        <p:nvSpPr>
          <p:cNvPr id="318" name="Google Shape;318;p36"/>
          <p:cNvSpPr txBox="1"/>
          <p:nvPr>
            <p:ph idx="1" type="body"/>
          </p:nvPr>
        </p:nvSpPr>
        <p:spPr>
          <a:xfrm>
            <a:off x="387900" y="1489825"/>
            <a:ext cx="41841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Displays multivariate data in a circular layout to compare multiple quantitative categories</a:t>
            </a:r>
            <a:endParaRPr/>
          </a:p>
          <a:p>
            <a:pPr indent="0" lvl="0" marL="0" rtl="0" algn="l">
              <a:lnSpc>
                <a:spcPct val="115000"/>
              </a:lnSpc>
              <a:spcBef>
                <a:spcPts val="1200"/>
              </a:spcBef>
              <a:spcAft>
                <a:spcPts val="0"/>
              </a:spcAft>
              <a:buSzPts val="1800"/>
              <a:buNone/>
            </a:pPr>
            <a:r>
              <a:rPr lang="en"/>
              <a:t>Good for showing strengths and weaknesses </a:t>
            </a:r>
            <a:endParaRPr/>
          </a:p>
          <a:p>
            <a:pPr indent="0" lvl="0" marL="0" rtl="0" algn="l">
              <a:lnSpc>
                <a:spcPct val="115000"/>
              </a:lnSpc>
              <a:spcBef>
                <a:spcPts val="1200"/>
              </a:spcBef>
              <a:spcAft>
                <a:spcPts val="0"/>
              </a:spcAft>
              <a:buSzPts val="1800"/>
              <a:buNone/>
            </a:pPr>
            <a:r>
              <a:rPr lang="en"/>
              <a:t>Area covered = overall profile</a:t>
            </a:r>
            <a:endParaRPr/>
          </a:p>
          <a:p>
            <a:pPr indent="0" lvl="0" marL="0" rtl="0" algn="l">
              <a:lnSpc>
                <a:spcPct val="115000"/>
              </a:lnSpc>
              <a:spcBef>
                <a:spcPts val="1200"/>
              </a:spcBef>
              <a:spcAft>
                <a:spcPts val="1200"/>
              </a:spcAft>
              <a:buSzPts val="1800"/>
              <a:buNone/>
            </a:pPr>
            <a:r>
              <a:t/>
            </a:r>
            <a:endParaRPr/>
          </a:p>
        </p:txBody>
      </p:sp>
      <p:pic>
        <p:nvPicPr>
          <p:cNvPr id="319" name="Google Shape;319;p36"/>
          <p:cNvPicPr preferRelativeResize="0"/>
          <p:nvPr/>
        </p:nvPicPr>
        <p:blipFill rotWithShape="1">
          <a:blip r:embed="rId3">
            <a:alphaModFix/>
          </a:blip>
          <a:srcRect b="0" l="0" r="0" t="0"/>
          <a:stretch/>
        </p:blipFill>
        <p:spPr>
          <a:xfrm>
            <a:off x="4724400" y="1296525"/>
            <a:ext cx="4267200" cy="25697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Heat Maps</a:t>
            </a:r>
            <a:endParaRPr/>
          </a:p>
        </p:txBody>
      </p:sp>
      <p:sp>
        <p:nvSpPr>
          <p:cNvPr id="325" name="Google Shape;325;p37"/>
          <p:cNvSpPr txBox="1"/>
          <p:nvPr>
            <p:ph idx="1" type="body"/>
          </p:nvPr>
        </p:nvSpPr>
        <p:spPr>
          <a:xfrm>
            <a:off x="311700" y="1152475"/>
            <a:ext cx="33885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2300"/>
              <a:t>Color of segment indicates direction and/or magnitude</a:t>
            </a:r>
            <a:endParaRPr sz="2300"/>
          </a:p>
          <a:p>
            <a:pPr indent="0" lvl="0" marL="0" rtl="0" algn="l">
              <a:lnSpc>
                <a:spcPct val="115000"/>
              </a:lnSpc>
              <a:spcBef>
                <a:spcPts val="1200"/>
              </a:spcBef>
              <a:spcAft>
                <a:spcPts val="0"/>
              </a:spcAft>
              <a:buSzPts val="1800"/>
              <a:buNone/>
            </a:pPr>
            <a:r>
              <a:rPr lang="en" sz="2300"/>
              <a:t>Can be configured all sorts of ways</a:t>
            </a:r>
            <a:endParaRPr sz="2300"/>
          </a:p>
          <a:p>
            <a:pPr indent="0" lvl="0" marL="0" rtl="0" algn="l">
              <a:lnSpc>
                <a:spcPct val="115000"/>
              </a:lnSpc>
              <a:spcBef>
                <a:spcPts val="1200"/>
              </a:spcBef>
              <a:spcAft>
                <a:spcPts val="1200"/>
              </a:spcAft>
              <a:buSzPts val="1800"/>
              <a:buNone/>
            </a:pPr>
            <a:r>
              <a:t/>
            </a:r>
            <a:endParaRPr sz="2300"/>
          </a:p>
        </p:txBody>
      </p:sp>
      <p:pic>
        <p:nvPicPr>
          <p:cNvPr id="326" name="Google Shape;326;p37"/>
          <p:cNvPicPr preferRelativeResize="0"/>
          <p:nvPr/>
        </p:nvPicPr>
        <p:blipFill>
          <a:blip r:embed="rId3">
            <a:alphaModFix/>
          </a:blip>
          <a:stretch>
            <a:fillRect/>
          </a:stretch>
        </p:blipFill>
        <p:spPr>
          <a:xfrm>
            <a:off x="3891550" y="724463"/>
            <a:ext cx="4305040" cy="36945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Spatial Data</a:t>
            </a:r>
            <a:endParaRPr/>
          </a:p>
        </p:txBody>
      </p:sp>
      <p:sp>
        <p:nvSpPr>
          <p:cNvPr id="332" name="Google Shape;332;p38"/>
          <p:cNvSpPr txBox="1"/>
          <p:nvPr>
            <p:ph idx="1" type="body"/>
          </p:nvPr>
        </p:nvSpPr>
        <p:spPr>
          <a:xfrm>
            <a:off x="311700" y="1152475"/>
            <a:ext cx="42021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2300"/>
              <a:t>Spatial data: Data with a location component</a:t>
            </a:r>
            <a:endParaRPr sz="2300"/>
          </a:p>
          <a:p>
            <a:pPr indent="0" lvl="0" marL="0" rtl="0" algn="l">
              <a:lnSpc>
                <a:spcPct val="115000"/>
              </a:lnSpc>
              <a:spcBef>
                <a:spcPts val="1200"/>
              </a:spcBef>
              <a:spcAft>
                <a:spcPts val="0"/>
              </a:spcAft>
              <a:buSzPts val="1800"/>
              <a:buNone/>
            </a:pPr>
            <a:r>
              <a:rPr lang="en" sz="2300"/>
              <a:t>Data added to map as labels, points, colors, etc.</a:t>
            </a:r>
            <a:endParaRPr sz="2300"/>
          </a:p>
          <a:p>
            <a:pPr indent="0" lvl="0" marL="0" rtl="0" algn="l">
              <a:lnSpc>
                <a:spcPct val="115000"/>
              </a:lnSpc>
              <a:spcBef>
                <a:spcPts val="1200"/>
              </a:spcBef>
              <a:spcAft>
                <a:spcPts val="1200"/>
              </a:spcAft>
              <a:buSzPts val="1800"/>
              <a:buNone/>
            </a:pPr>
            <a:r>
              <a:rPr lang="en" sz="2300"/>
              <a:t>Sometimes called “geospatial” or GIS</a:t>
            </a:r>
            <a:endParaRPr sz="2300"/>
          </a:p>
        </p:txBody>
      </p:sp>
      <p:pic>
        <p:nvPicPr>
          <p:cNvPr id="333" name="Google Shape;333;p38"/>
          <p:cNvPicPr preferRelativeResize="0"/>
          <p:nvPr/>
        </p:nvPicPr>
        <p:blipFill rotWithShape="1">
          <a:blip r:embed="rId3">
            <a:alphaModFix/>
          </a:blip>
          <a:srcRect b="0" l="0" r="0" t="0"/>
          <a:stretch/>
        </p:blipFill>
        <p:spPr>
          <a:xfrm>
            <a:off x="5191050" y="671525"/>
            <a:ext cx="2990850" cy="1524000"/>
          </a:xfrm>
          <a:prstGeom prst="rect">
            <a:avLst/>
          </a:prstGeom>
          <a:noFill/>
          <a:ln>
            <a:noFill/>
          </a:ln>
        </p:spPr>
      </p:pic>
      <p:pic>
        <p:nvPicPr>
          <p:cNvPr id="334" name="Google Shape;334;p38"/>
          <p:cNvPicPr preferRelativeResize="0"/>
          <p:nvPr/>
        </p:nvPicPr>
        <p:blipFill rotWithShape="1">
          <a:blip r:embed="rId4">
            <a:alphaModFix/>
          </a:blip>
          <a:srcRect b="0" l="0" r="0" t="0"/>
          <a:stretch/>
        </p:blipFill>
        <p:spPr>
          <a:xfrm>
            <a:off x="5191049" y="2432556"/>
            <a:ext cx="2990850" cy="213631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9"/>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Which chart/table should you use?</a:t>
            </a:r>
            <a:endParaRPr/>
          </a:p>
        </p:txBody>
      </p:sp>
      <p:graphicFrame>
        <p:nvGraphicFramePr>
          <p:cNvPr id="340" name="Google Shape;340;p39"/>
          <p:cNvGraphicFramePr/>
          <p:nvPr/>
        </p:nvGraphicFramePr>
        <p:xfrm>
          <a:off x="191575" y="1623550"/>
          <a:ext cx="3000000" cy="3000000"/>
        </p:xfrm>
        <a:graphic>
          <a:graphicData uri="http://schemas.openxmlformats.org/drawingml/2006/table">
            <a:tbl>
              <a:tblPr>
                <a:noFill/>
                <a:tableStyleId>{11F6B16C-429F-468D-B13A-87170C32BEDF}</a:tableStyleId>
              </a:tblPr>
              <a:tblGrid>
                <a:gridCol w="1267175"/>
                <a:gridCol w="1686525"/>
                <a:gridCol w="2479650"/>
                <a:gridCol w="3327475"/>
              </a:tblGrid>
              <a:tr h="200025">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chemeClr val="dk1"/>
                          </a:solidFill>
                        </a:rPr>
                        <a:t>Variable Type(s)</a:t>
                      </a:r>
                      <a:endParaRPr b="1"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chemeClr val="dk1"/>
                          </a:solidFill>
                        </a:rPr>
                        <a:t>Organization Method</a:t>
                      </a:r>
                      <a:endParaRPr b="1"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chemeClr val="dk1"/>
                          </a:solidFill>
                        </a:rPr>
                        <a:t>Visualization Options</a:t>
                      </a:r>
                      <a:endParaRPr b="1"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solidFill>
                            <a:schemeClr val="dk1"/>
                          </a:solidFill>
                        </a:rPr>
                        <a:t>Notes</a:t>
                      </a:r>
                      <a:endParaRPr b="1"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One Categorical</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Frequency Table</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Bar Chart, Pie Chart, Donut Chart, Pareto</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Pareto = sorted bar chart by frequency</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Two Categorical</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Contingency Table</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Clustered Bar Chart, Stacked Column, Mosaic</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Use percentages based on rows, columns, or total</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42900">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One Numerical</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Frequency Distribution Table</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Histogram, Box Plot, Stem-and-Leaf Plot</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Histogram = for grouped bins; Box plot shows spread and outliers</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Two Numerical</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List of (x, y) pairs</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Scatter Plot, Line Chart (if time series)</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Shows relationships or trends over time</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Numerical + Categorical</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Grouped summaries (mean, etc)</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Box Plot by Category, Side-by-side Histogram</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Use group comparisons</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Three or More Variables</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Multi-dimensional table</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Bubble Chart, Treemap, Heatmap, Multiple Axes</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Use with caution — avoid visual overload</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Time Series (1 variable)</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Chronological table</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Line Chart</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Data must be continuous and ordered by time</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Spatial Data</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Map Table with coordinates</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Heatmap on Map, Choropleth, Dot Density Map</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solidFill>
                            <a:schemeClr val="dk1"/>
                          </a:solidFill>
                        </a:rPr>
                        <a:t>Requires GIS or mapping software</a:t>
                      </a:r>
                      <a:endParaRPr sz="1000" u="none" cap="none" strike="noStrike">
                        <a:solidFill>
                          <a:schemeClr val="dk1"/>
                        </a:solidFill>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pic>
        <p:nvPicPr>
          <p:cNvPr id="345" name="Google Shape;345;p40"/>
          <p:cNvPicPr preferRelativeResize="0"/>
          <p:nvPr/>
        </p:nvPicPr>
        <p:blipFill rotWithShape="1">
          <a:blip r:embed="rId3">
            <a:alphaModFix/>
          </a:blip>
          <a:srcRect b="0" l="0" r="0" t="0"/>
          <a:stretch/>
        </p:blipFill>
        <p:spPr>
          <a:xfrm>
            <a:off x="1812835" y="0"/>
            <a:ext cx="5518331" cy="514350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333"/>
              <a:buNone/>
            </a:pPr>
            <a:r>
              <a:rPr lang="en"/>
              <a:t>How To Lie With Statistics: </a:t>
            </a:r>
            <a:endParaRPr/>
          </a:p>
        </p:txBody>
      </p:sp>
      <p:pic>
        <p:nvPicPr>
          <p:cNvPr id="351" name="Google Shape;351;p41" title="Chart"/>
          <p:cNvPicPr preferRelativeResize="0"/>
          <p:nvPr/>
        </p:nvPicPr>
        <p:blipFill rotWithShape="1">
          <a:blip r:embed="rId3">
            <a:alphaModFix/>
          </a:blip>
          <a:srcRect b="0" l="0" r="0" t="0"/>
          <a:stretch/>
        </p:blipFill>
        <p:spPr>
          <a:xfrm>
            <a:off x="139028" y="2064358"/>
            <a:ext cx="4159176" cy="2571753"/>
          </a:xfrm>
          <a:prstGeom prst="rect">
            <a:avLst/>
          </a:prstGeom>
          <a:noFill/>
          <a:ln>
            <a:noFill/>
          </a:ln>
        </p:spPr>
      </p:pic>
      <p:pic>
        <p:nvPicPr>
          <p:cNvPr id="352" name="Google Shape;352;p41" title="Chart"/>
          <p:cNvPicPr preferRelativeResize="0"/>
          <p:nvPr/>
        </p:nvPicPr>
        <p:blipFill rotWithShape="1">
          <a:blip r:embed="rId4">
            <a:alphaModFix/>
          </a:blip>
          <a:srcRect b="0" l="0" r="0" t="0"/>
          <a:stretch/>
        </p:blipFill>
        <p:spPr>
          <a:xfrm>
            <a:off x="4571994" y="2024550"/>
            <a:ext cx="4287924" cy="2651350"/>
          </a:xfrm>
          <a:prstGeom prst="rect">
            <a:avLst/>
          </a:prstGeom>
          <a:noFill/>
          <a:ln>
            <a:noFill/>
          </a:ln>
        </p:spPr>
      </p:pic>
      <p:sp>
        <p:nvSpPr>
          <p:cNvPr id="353" name="Google Shape;353;p41"/>
          <p:cNvSpPr txBox="1"/>
          <p:nvPr/>
        </p:nvSpPr>
        <p:spPr>
          <a:xfrm>
            <a:off x="2326200" y="1261088"/>
            <a:ext cx="4491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solidFill>
                  <a:schemeClr val="dk1"/>
                </a:solidFill>
                <a:latin typeface="Roboto Slab"/>
                <a:ea typeface="Roboto Slab"/>
                <a:cs typeface="Roboto Slab"/>
                <a:sym typeface="Roboto Slab"/>
              </a:rPr>
              <a:t>Mess With The Y Axis!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2"/>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333"/>
              <a:buNone/>
            </a:pPr>
            <a:r>
              <a:rPr lang="en"/>
              <a:t>How To Lie With Statistics: </a:t>
            </a:r>
            <a:endParaRPr/>
          </a:p>
        </p:txBody>
      </p:sp>
      <p:pic>
        <p:nvPicPr>
          <p:cNvPr id="359" name="Google Shape;359;p42" title="Chart"/>
          <p:cNvPicPr preferRelativeResize="0"/>
          <p:nvPr/>
        </p:nvPicPr>
        <p:blipFill rotWithShape="1">
          <a:blip r:embed="rId3">
            <a:alphaModFix/>
          </a:blip>
          <a:srcRect b="0" l="0" r="0" t="0"/>
          <a:stretch/>
        </p:blipFill>
        <p:spPr>
          <a:xfrm>
            <a:off x="4571994" y="2255400"/>
            <a:ext cx="3954951" cy="2445474"/>
          </a:xfrm>
          <a:prstGeom prst="rect">
            <a:avLst/>
          </a:prstGeom>
          <a:noFill/>
          <a:ln>
            <a:noFill/>
          </a:ln>
        </p:spPr>
      </p:pic>
      <p:pic>
        <p:nvPicPr>
          <p:cNvPr id="360" name="Google Shape;360;p42" title="Chart"/>
          <p:cNvPicPr preferRelativeResize="0"/>
          <p:nvPr/>
        </p:nvPicPr>
        <p:blipFill rotWithShape="1">
          <a:blip r:embed="rId4">
            <a:alphaModFix/>
          </a:blip>
          <a:srcRect b="0" l="0" r="0" t="0"/>
          <a:stretch/>
        </p:blipFill>
        <p:spPr>
          <a:xfrm>
            <a:off x="328998" y="2255400"/>
            <a:ext cx="3954951" cy="2445474"/>
          </a:xfrm>
          <a:prstGeom prst="rect">
            <a:avLst/>
          </a:prstGeom>
          <a:noFill/>
          <a:ln>
            <a:noFill/>
          </a:ln>
        </p:spPr>
      </p:pic>
      <p:sp>
        <p:nvSpPr>
          <p:cNvPr id="361" name="Google Shape;361;p42"/>
          <p:cNvSpPr txBox="1"/>
          <p:nvPr/>
        </p:nvSpPr>
        <p:spPr>
          <a:xfrm>
            <a:off x="2218600" y="1413575"/>
            <a:ext cx="44280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3333"/>
              <a:buFont typeface="Arial"/>
              <a:buNone/>
            </a:pPr>
            <a:r>
              <a:rPr lang="en" sz="3000">
                <a:solidFill>
                  <a:schemeClr val="dk1"/>
                </a:solidFill>
                <a:latin typeface="Roboto Slab"/>
                <a:ea typeface="Roboto Slab"/>
                <a:cs typeface="Roboto Slab"/>
                <a:sym typeface="Roboto Slab"/>
              </a:rPr>
              <a:t>Mess With The Y Axis!</a:t>
            </a:r>
            <a:endParaRPr sz="18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1">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How To Lie With Statistics: Mess With The Y Axis!</a:t>
            </a:r>
            <a:endParaRPr/>
          </a:p>
        </p:txBody>
      </p:sp>
      <p:sp>
        <p:nvSpPr>
          <p:cNvPr id="367" name="Google Shape;367;p43"/>
          <p:cNvSpPr txBox="1"/>
          <p:nvPr>
            <p:ph idx="1" type="body"/>
          </p:nvPr>
        </p:nvSpPr>
        <p:spPr>
          <a:xfrm>
            <a:off x="387900" y="1489825"/>
            <a:ext cx="25725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Should this really be inverted?</a:t>
            </a:r>
            <a:endParaRPr/>
          </a:p>
          <a:p>
            <a:pPr indent="0" lvl="0" marL="0" rtl="0" algn="l">
              <a:lnSpc>
                <a:spcPct val="115000"/>
              </a:lnSpc>
              <a:spcBef>
                <a:spcPts val="1200"/>
              </a:spcBef>
              <a:spcAft>
                <a:spcPts val="0"/>
              </a:spcAft>
              <a:buSzPts val="1800"/>
              <a:buNone/>
            </a:pPr>
            <a:r>
              <a:rPr lang="en"/>
              <a:t>This makes it look like it’s improving when it’s worsening!</a:t>
            </a:r>
            <a:endParaRPr/>
          </a:p>
          <a:p>
            <a:pPr indent="0" lvl="0" marL="0" rtl="0" algn="l">
              <a:lnSpc>
                <a:spcPct val="115000"/>
              </a:lnSpc>
              <a:spcBef>
                <a:spcPts val="1200"/>
              </a:spcBef>
              <a:spcAft>
                <a:spcPts val="1200"/>
              </a:spcAft>
              <a:buSzPts val="1800"/>
              <a:buNone/>
            </a:pPr>
            <a:r>
              <a:rPr lang="en"/>
              <a:t>It also should be as a percentage of GDP or inflation adjusted*</a:t>
            </a:r>
            <a:endParaRPr/>
          </a:p>
        </p:txBody>
      </p:sp>
      <p:pic>
        <p:nvPicPr>
          <p:cNvPr id="368" name="Google Shape;368;p43"/>
          <p:cNvPicPr preferRelativeResize="0"/>
          <p:nvPr/>
        </p:nvPicPr>
        <p:blipFill rotWithShape="1">
          <a:blip r:embed="rId3">
            <a:alphaModFix/>
          </a:blip>
          <a:srcRect b="0" l="0" r="0" t="0"/>
          <a:stretch/>
        </p:blipFill>
        <p:spPr>
          <a:xfrm>
            <a:off x="3328025" y="1114375"/>
            <a:ext cx="5428075" cy="382980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g39301d41c39_0_1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The actual deficit (Spending - Taxes)</a:t>
            </a:r>
            <a:endParaRPr/>
          </a:p>
        </p:txBody>
      </p:sp>
      <p:sp>
        <p:nvSpPr>
          <p:cNvPr id="374" name="Google Shape;374;g39301d41c39_0_14"/>
          <p:cNvSpPr txBox="1"/>
          <p:nvPr>
            <p:ph idx="1" type="body"/>
          </p:nvPr>
        </p:nvSpPr>
        <p:spPr>
          <a:xfrm>
            <a:off x="387900" y="1386849"/>
            <a:ext cx="8368200" cy="53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Flipping the axis tells the proper story…a rising deficit, not a falling one!</a:t>
            </a:r>
            <a:endParaRPr/>
          </a:p>
        </p:txBody>
      </p:sp>
      <p:pic>
        <p:nvPicPr>
          <p:cNvPr id="375" name="Google Shape;375;g39301d41c39_0_14"/>
          <p:cNvPicPr preferRelativeResize="0"/>
          <p:nvPr/>
        </p:nvPicPr>
        <p:blipFill>
          <a:blip r:embed="rId3">
            <a:alphaModFix/>
          </a:blip>
          <a:stretch>
            <a:fillRect/>
          </a:stretch>
        </p:blipFill>
        <p:spPr>
          <a:xfrm>
            <a:off x="339575" y="2008124"/>
            <a:ext cx="8464850" cy="288572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9301d41c39_0_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The actual deficit (as a %* of GDP)</a:t>
            </a:r>
            <a:endParaRPr/>
          </a:p>
        </p:txBody>
      </p:sp>
      <p:sp>
        <p:nvSpPr>
          <p:cNvPr id="381" name="Google Shape;381;g39301d41c39_0_8"/>
          <p:cNvSpPr txBox="1"/>
          <p:nvPr>
            <p:ph idx="1" type="body"/>
          </p:nvPr>
        </p:nvSpPr>
        <p:spPr>
          <a:xfrm>
            <a:off x="387900" y="1489825"/>
            <a:ext cx="36024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Dividing by GDP effectively adjusts for inflation.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Instead of lower past prices making deficit look tiny in the past, each deficit is divided by that year’s nominal GDP</a:t>
            </a:r>
            <a:endParaRPr/>
          </a:p>
        </p:txBody>
      </p:sp>
      <p:pic>
        <p:nvPicPr>
          <p:cNvPr id="382" name="Google Shape;382;g39301d41c39_0_8"/>
          <p:cNvPicPr preferRelativeResize="0"/>
          <p:nvPr/>
        </p:nvPicPr>
        <p:blipFill>
          <a:blip r:embed="rId3">
            <a:alphaModFix/>
          </a:blip>
          <a:stretch>
            <a:fillRect/>
          </a:stretch>
        </p:blipFill>
        <p:spPr>
          <a:xfrm>
            <a:off x="4200525" y="1364375"/>
            <a:ext cx="4666675" cy="34444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4"/>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How to Lie With Statistics: Abuse Multiple Axes</a:t>
            </a:r>
            <a:endParaRPr/>
          </a:p>
        </p:txBody>
      </p:sp>
      <p:sp>
        <p:nvSpPr>
          <p:cNvPr id="388" name="Google Shape;388;p44"/>
          <p:cNvSpPr txBox="1"/>
          <p:nvPr>
            <p:ph idx="1" type="body"/>
          </p:nvPr>
        </p:nvSpPr>
        <p:spPr>
          <a:xfrm>
            <a:off x="387900" y="1284099"/>
            <a:ext cx="8368200" cy="3078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When displaying two pieces of data on one chart, it is valid to use multiple axes if the units aren’t the same or the scale is different, but this may also imply causality</a:t>
            </a:r>
            <a:endParaRPr/>
          </a:p>
        </p:txBody>
      </p:sp>
      <p:pic>
        <p:nvPicPr>
          <p:cNvPr id="389" name="Google Shape;389;p44"/>
          <p:cNvPicPr preferRelativeResize="0"/>
          <p:nvPr/>
        </p:nvPicPr>
        <p:blipFill rotWithShape="1">
          <a:blip r:embed="rId3">
            <a:alphaModFix/>
          </a:blip>
          <a:srcRect b="0" l="0" r="0" t="0"/>
          <a:stretch/>
        </p:blipFill>
        <p:spPr>
          <a:xfrm>
            <a:off x="387900" y="2327063"/>
            <a:ext cx="4009175" cy="2391925"/>
          </a:xfrm>
          <a:prstGeom prst="rect">
            <a:avLst/>
          </a:prstGeom>
          <a:noFill/>
          <a:ln>
            <a:noFill/>
          </a:ln>
        </p:spPr>
      </p:pic>
      <p:pic>
        <p:nvPicPr>
          <p:cNvPr id="390" name="Google Shape;390;p44"/>
          <p:cNvPicPr preferRelativeResize="0"/>
          <p:nvPr/>
        </p:nvPicPr>
        <p:blipFill rotWithShape="1">
          <a:blip r:embed="rId4">
            <a:alphaModFix/>
          </a:blip>
          <a:srcRect b="0" l="0" r="0" t="0"/>
          <a:stretch/>
        </p:blipFill>
        <p:spPr>
          <a:xfrm>
            <a:off x="4848512" y="2327075"/>
            <a:ext cx="4009161" cy="2391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39301d41c39_0_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Scale Matters!</a:t>
            </a:r>
            <a:endParaRPr/>
          </a:p>
        </p:txBody>
      </p:sp>
      <p:sp>
        <p:nvSpPr>
          <p:cNvPr id="396" name="Google Shape;396;g39301d41c39_0_2"/>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397" name="Google Shape;397;g39301d41c39_0_2"/>
          <p:cNvPicPr preferRelativeResize="0"/>
          <p:nvPr/>
        </p:nvPicPr>
        <p:blipFill>
          <a:blip r:embed="rId3">
            <a:alphaModFix/>
          </a:blip>
          <a:stretch>
            <a:fillRect/>
          </a:stretch>
        </p:blipFill>
        <p:spPr>
          <a:xfrm>
            <a:off x="0" y="1263429"/>
            <a:ext cx="9144003" cy="353169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How to Lie With Statistics: Uneven Intervals</a:t>
            </a:r>
            <a:endParaRPr/>
          </a:p>
        </p:txBody>
      </p:sp>
      <p:pic>
        <p:nvPicPr>
          <p:cNvPr id="403" name="Google Shape;403;p45" title="output (1).png"/>
          <p:cNvPicPr preferRelativeResize="0"/>
          <p:nvPr/>
        </p:nvPicPr>
        <p:blipFill rotWithShape="1">
          <a:blip r:embed="rId3">
            <a:alphaModFix/>
          </a:blip>
          <a:srcRect b="0" l="0" r="0" t="0"/>
          <a:stretch/>
        </p:blipFill>
        <p:spPr>
          <a:xfrm>
            <a:off x="199975" y="1361525"/>
            <a:ext cx="8744049" cy="3082601"/>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6"/>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How to Lie With Statistics: Scaling </a:t>
            </a:r>
            <a:endParaRPr/>
          </a:p>
        </p:txBody>
      </p:sp>
      <p:pic>
        <p:nvPicPr>
          <p:cNvPr id="409" name="Google Shape;409;p46" title="output (2).png"/>
          <p:cNvPicPr preferRelativeResize="0"/>
          <p:nvPr/>
        </p:nvPicPr>
        <p:blipFill rotWithShape="1">
          <a:blip r:embed="rId3">
            <a:alphaModFix/>
          </a:blip>
          <a:srcRect b="0" l="0" r="0" t="0"/>
          <a:stretch/>
        </p:blipFill>
        <p:spPr>
          <a:xfrm>
            <a:off x="152400" y="1296525"/>
            <a:ext cx="8839204" cy="3120481"/>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4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Summary / Visualization Best Practices</a:t>
            </a:r>
            <a:endParaRPr/>
          </a:p>
        </p:txBody>
      </p:sp>
      <p:sp>
        <p:nvSpPr>
          <p:cNvPr id="415" name="Google Shape;415;p47"/>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lnSpcReduction="20000"/>
          </a:bodyPr>
          <a:lstStyle/>
          <a:p>
            <a:pPr indent="-342900" lvl="0" marL="457200" rtl="0" algn="l">
              <a:lnSpc>
                <a:spcPct val="115000"/>
              </a:lnSpc>
              <a:spcBef>
                <a:spcPts val="0"/>
              </a:spcBef>
              <a:spcAft>
                <a:spcPts val="0"/>
              </a:spcAft>
              <a:buSzPts val="1800"/>
              <a:buAutoNum type="arabicParenR"/>
            </a:pPr>
            <a:r>
              <a:rPr lang="en"/>
              <a:t>Taylor to your audience </a:t>
            </a:r>
            <a:endParaRPr/>
          </a:p>
          <a:p>
            <a:pPr indent="-342900" lvl="0" marL="457200" rtl="0" algn="l">
              <a:lnSpc>
                <a:spcPct val="115000"/>
              </a:lnSpc>
              <a:spcBef>
                <a:spcPts val="0"/>
              </a:spcBef>
              <a:spcAft>
                <a:spcPts val="0"/>
              </a:spcAft>
              <a:buSzPts val="1800"/>
              <a:buAutoNum type="arabicParenR"/>
            </a:pPr>
            <a:r>
              <a:rPr lang="en"/>
              <a:t>Use the simplest method that works to tell the story you’re trying to tell</a:t>
            </a:r>
            <a:endParaRPr/>
          </a:p>
          <a:p>
            <a:pPr indent="-342900" lvl="0" marL="457200" rtl="0" algn="l">
              <a:lnSpc>
                <a:spcPct val="115000"/>
              </a:lnSpc>
              <a:spcBef>
                <a:spcPts val="0"/>
              </a:spcBef>
              <a:spcAft>
                <a:spcPts val="0"/>
              </a:spcAft>
              <a:buSzPts val="1800"/>
              <a:buAutoNum type="arabicParenR"/>
            </a:pPr>
            <a:r>
              <a:rPr lang="en"/>
              <a:t>Label your chart and all axes</a:t>
            </a:r>
            <a:endParaRPr/>
          </a:p>
          <a:p>
            <a:pPr indent="-342900" lvl="0" marL="457200" rtl="0" algn="l">
              <a:lnSpc>
                <a:spcPct val="115000"/>
              </a:lnSpc>
              <a:spcBef>
                <a:spcPts val="0"/>
              </a:spcBef>
              <a:spcAft>
                <a:spcPts val="0"/>
              </a:spcAft>
              <a:buSzPts val="1800"/>
              <a:buAutoNum type="arabicParenR"/>
            </a:pPr>
            <a:r>
              <a:rPr lang="en"/>
              <a:t>Begin the axes at zero </a:t>
            </a:r>
            <a:endParaRPr/>
          </a:p>
          <a:p>
            <a:pPr indent="-342900" lvl="0" marL="457200" rtl="0" algn="l">
              <a:lnSpc>
                <a:spcPct val="115000"/>
              </a:lnSpc>
              <a:spcBef>
                <a:spcPts val="0"/>
              </a:spcBef>
              <a:spcAft>
                <a:spcPts val="0"/>
              </a:spcAft>
              <a:buSzPts val="1800"/>
              <a:buAutoNum type="arabicParenR"/>
            </a:pPr>
            <a:r>
              <a:rPr lang="en"/>
              <a:t>Use a consistent scale for the axes</a:t>
            </a:r>
            <a:endParaRPr/>
          </a:p>
          <a:p>
            <a:pPr indent="-342900" lvl="0" marL="457200" rtl="0" algn="l">
              <a:lnSpc>
                <a:spcPct val="115000"/>
              </a:lnSpc>
              <a:spcBef>
                <a:spcPts val="0"/>
              </a:spcBef>
              <a:spcAft>
                <a:spcPts val="0"/>
              </a:spcAft>
              <a:buSzPts val="1800"/>
              <a:buAutoNum type="arabicParenR"/>
            </a:pPr>
            <a:r>
              <a:rPr lang="en"/>
              <a:t>Avoid 3D charts and other esoteric styles (radar, bubble, cone, etc.)</a:t>
            </a:r>
            <a:endParaRPr/>
          </a:p>
          <a:p>
            <a:pPr indent="-342900" lvl="0" marL="457200" rtl="0" algn="l">
              <a:lnSpc>
                <a:spcPct val="115000"/>
              </a:lnSpc>
              <a:spcBef>
                <a:spcPts val="0"/>
              </a:spcBef>
              <a:spcAft>
                <a:spcPts val="0"/>
              </a:spcAft>
              <a:buSzPts val="1800"/>
              <a:buAutoNum type="arabicParenR"/>
            </a:pPr>
            <a:r>
              <a:rPr lang="en"/>
              <a:t>Avoid clutter and information overload</a:t>
            </a:r>
            <a:endParaRPr/>
          </a:p>
          <a:p>
            <a:pPr indent="-342900" lvl="0" marL="457200" rtl="0" algn="l">
              <a:lnSpc>
                <a:spcPct val="115000"/>
              </a:lnSpc>
              <a:spcBef>
                <a:spcPts val="0"/>
              </a:spcBef>
              <a:spcAft>
                <a:spcPts val="0"/>
              </a:spcAft>
              <a:buSzPts val="1800"/>
              <a:buAutoNum type="arabicParenR"/>
            </a:pPr>
            <a:r>
              <a:rPr lang="en"/>
              <a:t>Pick color coding carefully / don’t color code if no good reason to do so</a:t>
            </a:r>
            <a:endParaRPr/>
          </a:p>
          <a:p>
            <a:pPr indent="-342900" lvl="0" marL="457200" rtl="0" algn="l">
              <a:lnSpc>
                <a:spcPct val="115000"/>
              </a:lnSpc>
              <a:spcBef>
                <a:spcPts val="0"/>
              </a:spcBef>
              <a:spcAft>
                <a:spcPts val="0"/>
              </a:spcAft>
              <a:buSzPts val="1800"/>
              <a:buAutoNum type="arabicParenR"/>
            </a:pPr>
            <a:r>
              <a:rPr lang="en"/>
              <a:t>Consider labeling data points </a:t>
            </a:r>
            <a:endParaRPr/>
          </a:p>
          <a:p>
            <a:pPr indent="-342900" lvl="0" marL="457200" rtl="0" algn="l">
              <a:lnSpc>
                <a:spcPct val="115000"/>
              </a:lnSpc>
              <a:spcBef>
                <a:spcPts val="0"/>
              </a:spcBef>
              <a:spcAft>
                <a:spcPts val="0"/>
              </a:spcAft>
              <a:buSzPts val="1800"/>
              <a:buAutoNum type="arabicParenR"/>
            </a:pPr>
            <a:r>
              <a:rPr lang="en"/>
              <a:t>Don’t put too many variables on a single graphic</a:t>
            </a:r>
            <a:endParaRPr/>
          </a:p>
          <a:p>
            <a:pPr indent="-342900" lvl="0" marL="457200" rtl="0" algn="l">
              <a:lnSpc>
                <a:spcPct val="115000"/>
              </a:lnSpc>
              <a:spcBef>
                <a:spcPts val="0"/>
              </a:spcBef>
              <a:spcAft>
                <a:spcPts val="0"/>
              </a:spcAft>
              <a:buSzPts val="1800"/>
              <a:buAutoNum type="arabicParenR"/>
            </a:pPr>
            <a:r>
              <a:rPr lang="en"/>
              <a:t>Consider accessibility (high contrast, avoid red/green, use textures, etc.)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Anscombe's Quartet</a:t>
            </a:r>
            <a:endParaRPr/>
          </a:p>
        </p:txBody>
      </p:sp>
      <p:pic>
        <p:nvPicPr>
          <p:cNvPr id="421" name="Google Shape;421;p48"/>
          <p:cNvPicPr preferRelativeResize="0"/>
          <p:nvPr/>
        </p:nvPicPr>
        <p:blipFill rotWithShape="1">
          <a:blip r:embed="rId3">
            <a:alphaModFix/>
          </a:blip>
          <a:srcRect b="0" l="0" r="0" t="0"/>
          <a:stretch/>
        </p:blipFill>
        <p:spPr>
          <a:xfrm>
            <a:off x="1505998" y="2993610"/>
            <a:ext cx="5865624" cy="1781050"/>
          </a:xfrm>
          <a:prstGeom prst="rect">
            <a:avLst/>
          </a:prstGeom>
          <a:noFill/>
          <a:ln>
            <a:noFill/>
          </a:ln>
        </p:spPr>
      </p:pic>
      <p:pic>
        <p:nvPicPr>
          <p:cNvPr id="422" name="Google Shape;422;p48"/>
          <p:cNvPicPr preferRelativeResize="0"/>
          <p:nvPr/>
        </p:nvPicPr>
        <p:blipFill rotWithShape="1">
          <a:blip r:embed="rId4">
            <a:alphaModFix/>
          </a:blip>
          <a:srcRect b="0" l="0" r="0" t="0"/>
          <a:stretch/>
        </p:blipFill>
        <p:spPr>
          <a:xfrm>
            <a:off x="5386625" y="350300"/>
            <a:ext cx="3327450" cy="2362950"/>
          </a:xfrm>
          <a:prstGeom prst="rect">
            <a:avLst/>
          </a:prstGeom>
          <a:noFill/>
          <a:ln>
            <a:noFill/>
          </a:ln>
        </p:spPr>
      </p:pic>
      <p:pic>
        <p:nvPicPr>
          <p:cNvPr id="423" name="Google Shape;423;p48"/>
          <p:cNvPicPr preferRelativeResize="0"/>
          <p:nvPr/>
        </p:nvPicPr>
        <p:blipFill rotWithShape="1">
          <a:blip r:embed="rId5">
            <a:alphaModFix/>
          </a:blip>
          <a:srcRect b="0" l="0" r="0" t="0"/>
          <a:stretch/>
        </p:blipFill>
        <p:spPr>
          <a:xfrm>
            <a:off x="253672" y="1343725"/>
            <a:ext cx="1019175" cy="35528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id="428" name="Google Shape;428;p49"/>
          <p:cNvPicPr preferRelativeResize="0"/>
          <p:nvPr/>
        </p:nvPicPr>
        <p:blipFill rotWithShape="1">
          <a:blip r:embed="rId3">
            <a:alphaModFix/>
          </a:blip>
          <a:srcRect b="0" l="0" r="0" t="0"/>
          <a:stretch/>
        </p:blipFill>
        <p:spPr>
          <a:xfrm>
            <a:off x="1349575" y="289825"/>
            <a:ext cx="6611150" cy="46816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0"/>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Anscombe's Quartet</a:t>
            </a:r>
            <a:endParaRPr/>
          </a:p>
        </p:txBody>
      </p:sp>
      <p:pic>
        <p:nvPicPr>
          <p:cNvPr id="434" name="Google Shape;434;p50"/>
          <p:cNvPicPr preferRelativeResize="0"/>
          <p:nvPr/>
        </p:nvPicPr>
        <p:blipFill rotWithShape="1">
          <a:blip r:embed="rId3">
            <a:alphaModFix/>
          </a:blip>
          <a:srcRect b="0" l="0" r="0" t="0"/>
          <a:stretch/>
        </p:blipFill>
        <p:spPr>
          <a:xfrm>
            <a:off x="152400" y="1170125"/>
            <a:ext cx="3552825" cy="3714750"/>
          </a:xfrm>
          <a:prstGeom prst="rect">
            <a:avLst/>
          </a:prstGeom>
          <a:noFill/>
          <a:ln>
            <a:noFill/>
          </a:ln>
        </p:spPr>
      </p:pic>
      <p:pic>
        <p:nvPicPr>
          <p:cNvPr id="435" name="Google Shape;435;p50"/>
          <p:cNvPicPr preferRelativeResize="0"/>
          <p:nvPr/>
        </p:nvPicPr>
        <p:blipFill rotWithShape="1">
          <a:blip r:embed="rId4">
            <a:alphaModFix/>
          </a:blip>
          <a:srcRect b="0" l="0" r="0" t="0"/>
          <a:stretch/>
        </p:blipFill>
        <p:spPr>
          <a:xfrm>
            <a:off x="4414650" y="1734400"/>
            <a:ext cx="3981450" cy="2819400"/>
          </a:xfrm>
          <a:prstGeom prst="rect">
            <a:avLst/>
          </a:prstGeom>
          <a:noFill/>
          <a:ln>
            <a:noFill/>
          </a:ln>
        </p:spPr>
      </p:pic>
      <p:pic>
        <p:nvPicPr>
          <p:cNvPr id="436" name="Google Shape;436;p50"/>
          <p:cNvPicPr preferRelativeResize="0"/>
          <p:nvPr/>
        </p:nvPicPr>
        <p:blipFill rotWithShape="1">
          <a:blip r:embed="rId5">
            <a:alphaModFix/>
          </a:blip>
          <a:srcRect b="0" l="0" r="0" t="0"/>
          <a:stretch/>
        </p:blipFill>
        <p:spPr>
          <a:xfrm>
            <a:off x="4414645" y="187195"/>
            <a:ext cx="4028174" cy="122312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n"/>
              <a:t>Assorted Links</a:t>
            </a:r>
            <a:endParaRPr/>
          </a:p>
        </p:txBody>
      </p:sp>
      <p:sp>
        <p:nvSpPr>
          <p:cNvPr id="442" name="Google Shape;442;p5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n" u="sng">
                <a:solidFill>
                  <a:schemeClr val="hlink"/>
                </a:solidFill>
                <a:hlinkClick r:id="rId3"/>
              </a:rPr>
              <a:t>https://cscheid.net/courses/fal16/cs444/demos/anscombes_trex.html</a:t>
            </a:r>
            <a:endParaRPr/>
          </a:p>
          <a:p>
            <a:pPr indent="0" lvl="0" marL="0" rtl="0" algn="l">
              <a:lnSpc>
                <a:spcPct val="115000"/>
              </a:lnSpc>
              <a:spcBef>
                <a:spcPts val="0"/>
              </a:spcBef>
              <a:spcAft>
                <a:spcPts val="0"/>
              </a:spcAft>
              <a:buSzPts val="1800"/>
              <a:buNone/>
            </a:pPr>
            <a:r>
              <a:t/>
            </a:r>
            <a:endParaRPr/>
          </a:p>
          <a:p>
            <a:pPr indent="0" lvl="0" marL="0" rtl="0" algn="l">
              <a:lnSpc>
                <a:spcPct val="115000"/>
              </a:lnSpc>
              <a:spcBef>
                <a:spcPts val="0"/>
              </a:spcBef>
              <a:spcAft>
                <a:spcPts val="0"/>
              </a:spcAft>
              <a:buSzPts val="1800"/>
              <a:buNone/>
            </a:pPr>
            <a:r>
              <a:rPr lang="en" u="sng">
                <a:solidFill>
                  <a:schemeClr val="hlink"/>
                </a:solidFill>
                <a:hlinkClick r:id="rId4"/>
              </a:rPr>
              <a:t>https://www.reddit.com/r/dataisbeautiful/</a:t>
            </a:r>
            <a:endParaRPr/>
          </a:p>
          <a:p>
            <a:pPr indent="0" lvl="0" marL="0" rtl="0" algn="l">
              <a:lnSpc>
                <a:spcPct val="115000"/>
              </a:lnSpc>
              <a:spcBef>
                <a:spcPts val="1200"/>
              </a:spcBef>
              <a:spcAft>
                <a:spcPts val="0"/>
              </a:spcAft>
              <a:buSzPts val="1800"/>
              <a:buNone/>
            </a:pPr>
            <a:r>
              <a:rPr lang="en" u="sng">
                <a:solidFill>
                  <a:schemeClr val="hlink"/>
                </a:solidFill>
                <a:hlinkClick r:id="rId5"/>
              </a:rPr>
              <a:t>https://www.reddit.com/r/dataisugly/</a:t>
            </a:r>
            <a:endParaRPr/>
          </a:p>
          <a:p>
            <a:pPr indent="0" lvl="0" marL="0" rtl="0" algn="l">
              <a:lnSpc>
                <a:spcPct val="115000"/>
              </a:lnSpc>
              <a:spcBef>
                <a:spcPts val="1200"/>
              </a:spcBef>
              <a:spcAft>
                <a:spcPts val="0"/>
              </a:spcAft>
              <a:buSzPts val="1800"/>
              <a:buNone/>
            </a:pPr>
            <a:r>
              <a:rPr lang="en" u="sng">
                <a:solidFill>
                  <a:schemeClr val="accent5"/>
                </a:solidFill>
                <a:hlinkClick r:id="rId6">
                  <a:extLst>
                    <a:ext uri="{A12FA001-AC4F-418D-AE19-62706E023703}">
                      <ahyp:hlinkClr val="tx"/>
                    </a:ext>
                  </a:extLst>
                </a:hlinkClick>
              </a:rPr>
              <a:t>https://viz.wtf/</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2"/>
          <p:cNvSpPr txBox="1"/>
          <p:nvPr>
            <p:ph type="title"/>
          </p:nvPr>
        </p:nvSpPr>
        <p:spPr>
          <a:xfrm>
            <a:off x="2079450" y="1854225"/>
            <a:ext cx="4985100" cy="831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990"/>
              <a:buNone/>
            </a:pPr>
            <a:r>
              <a:rPr lang="en" sz="2620"/>
              <a:t>Key lesson of Anscombe's Quartet: Visualizing data is a critical part of analysis, not just for fun, aesthetics, and/or showing others!!!</a:t>
            </a:r>
            <a:endParaRPr sz="262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descr="Today we're going to start our two-part unit on data visualization. Up to this point we've discussed raw data - which are just numbers - but usually it's much more useful to represent this information with charts and graphs. There are two types of data we encounter, categorical and quantitative data, and they likewise require different types of visualizations. Today we'll focus on bar charts, pie charts, pictographs, and histograms and show you what they can and cannot tell us about their underlying data as well as some of the ways they can be misused to misinform.  &#10;&#10;Crash Course is on Patreon! You can support us directly by signing up at http://www.patreon.com/crashcourse&#10;&#10;Thanks to the following Patrons for their generous monthly contributions that help keep Crash Course free for everyone forever:&#10;&#10;Mark Brouwer, Nickie Miskell Jr., Jessica Wode, Eric Prestemon, Kathrin Benoit, Tom Trval, Jason Saslow, Nathan Taylor, Divonne Holmes à Court, Brian Thomas Gossett, Khaled El Shalakany, Indika Siriwardena, Robert Kunz, SR Foxley, Sam Ferguson, Yasenia Cruz, Daniel Baulig, Eric Koslow, Caleb Weeks, Tim Curwick, Evren Türkmenoğlu, Alexander Tamas, Justin Zingsheim, D.A. Noe, Shawn Arnold, mark austin, Ruth Perez, Malcolm Callis, Ken Penttinen, Advait Shinde, Cody Carpenter, Annamaria Herrera, William McGraw, Bader AlGhamdi, Vaso, Melissa Briski, Joey Quek, Andrei Krishkevich, Rachel Bright, Alex S, Mayumi Maeda, Kathy &amp; Tim Philip, Montather, Jirat, Eric Kitchen, Moritz Schmidt, Ian Dundore, Chris Peters, Sandra Aft, Steve Marshall&#10;--&#10;&#10;Want to find Crash Course elsewhere on the internet?&#10;Facebook - http://www.facebook.com/YouTubeCrashCourse&#10;Twitter - http://www.twitter.com/TheCrashCourse&#10;Tumblr - http://thecrashcourse.tumblr.com &#10;Support Crash Course on Patreon: http://patreon.com/crashcourse&#10;&#10;CC Kids: http://www.youtube.com/crashcoursekids" id="452" name="Google Shape;452;p53" title="Charts Are Like Pasta - Data Visualization Part 1: Crash Course Statistics #5">
            <a:hlinkClick r:id="rId3"/>
          </p:cNvPr>
          <p:cNvPicPr preferRelativeResize="0"/>
          <p:nvPr/>
        </p:nvPicPr>
        <p:blipFill rotWithShape="1">
          <a:blip r:embed="rId4">
            <a:alphaModFix/>
          </a:blip>
          <a:srcRect b="0" l="0" r="0" t="0"/>
          <a:stretch/>
        </p:blipFill>
        <p:spPr>
          <a:xfrm>
            <a:off x="693675" y="390200"/>
            <a:ext cx="7583800" cy="4265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2"/>
                                        </p:tgtEl>
                                        <p:attrNameLst>
                                          <p:attrName>style.visibility</p:attrName>
                                        </p:attrNameLst>
                                      </p:cBhvr>
                                      <p:to>
                                        <p:strVal val="visible"/>
                                      </p:to>
                                    </p:set>
                                    <p:animEffect filter="fade" transition="in">
                                      <p:cBhvr>
                                        <p:cTn dur="1000"/>
                                        <p:tgtEl>
                                          <p:spTgt spid="4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pic>
        <p:nvPicPr>
          <p:cNvPr descr="Today we’re going to finish up our unit on data visualization by taking a closer look at how dot plots, box plots, and stem and leaf plots represent data. We’ll also talk about the rules we can use to identify outliers and apply our new data viz skills by taking a closer look at how Justin Timberlake’s song lyrics have changed since he went solo. &#10;&#10;We scraped our Justin Timberlake song data from lyrics.com. If you're interested in how we did it or would like to try out the code on a different artist, check out our code on GitHub: https://github.com/cmparlettpelleriti/CC2018/tree/master/unique_lyrs &#10;&#10;DISCLAIMER: Please be respectful to lyrics websites when scraping data. Some sites may have limits for the number of requests you can make each day.&#10;&#10;Crash Course is on Patreon! You can support us directly by signing up at http://www.patreon.com/crashcourse&#10;&#10;Thanks to the following Patrons for their generous monthly contributions that help keep Crash Course free for everyone forever:&#10;&#10;Mark Brouwer, Nickie Miskell Jr., Jessica Wode, Eric Prestemon, Kathrin Benoit, Tom Trval, Jason Saslow, Nathan Taylor, Divonne Holmes à Court, Brian Thomas Gossett, Khaled El Shalakany, Indika Siriwardena, Robert Kunz, SR Foxley, Sam Ferguson, Yasenia Cruz, Daniel Baulig, Eric Koslow, Caleb Weeks, Tim Curwick, Evren Türkmenoğlu, Alexander Tamas, Justin Zingsheim, D.A. Noe, Shawn Arnold, mark austin, Ruth Perez, Malcolm Callis, Ken Penttinen, Advait Shinde, Cody Carpenter, Annamaria Herrera, William McGraw, Bader AlGhamdi, Vaso, Melissa Briski, Joey Quek, Andrei Krishkevich, Rachel Bright, Alex S, Mayumi Maeda, Kathy &amp; Tim Philip, Montather, Jirat, Eric Kitchen, Moritz Schmidt, Ian Dundore, Chris Peters, Sandra Aft, Steve Marshall&#10;&#10;Want to find Crash Course elsewhere on the internet?&#10;Facebook - http://www.facebook.com/YouTubeCrashC...&#10;Twitter - http://www.twitter.com/TheCrashCourse&#10;Tumblr - http://thecrashcourse.tumblr.com &#10;Support Crash Course on Patreon: http://patreon.com/crashcourse&#10;CC Kids: http://www.youtube.com/crashcoursekids" id="457" name="Google Shape;457;p54" title="Plots, Outliers, and Justin Timberlake: Data Visualization Part 2: Crash Course Statistics #6">
            <a:hlinkClick r:id="rId3"/>
          </p:cNvPr>
          <p:cNvPicPr preferRelativeResize="0"/>
          <p:nvPr/>
        </p:nvPicPr>
        <p:blipFill rotWithShape="1">
          <a:blip r:embed="rId4">
            <a:alphaModFix/>
          </a:blip>
          <a:srcRect b="0" l="0" r="0" t="0"/>
          <a:stretch/>
        </p:blipFill>
        <p:spPr>
          <a:xfrm>
            <a:off x="682600" y="459788"/>
            <a:ext cx="7509200" cy="4223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1000"/>
                                        <p:tgtEl>
                                          <p:spTgt spid="4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