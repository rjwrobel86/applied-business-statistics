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d4504fc0b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d4504fc0b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7511f3f4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7511f3f4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d4504fc0b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d4504fc0b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621f7d03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9621f7d03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d4504fc0b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d4504fc0b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d4504fc0b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d4504fc0b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621f7d03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9621f7d03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fefa29e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fefa29e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621f7d0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621f7d0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d4504fc0b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d4504fc0b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fefa29e3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3fefa29e3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6eed0b3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56eed0b3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0517654e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0517654e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3fefa29e3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3fefa29e3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3fefa29e3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3fefa29e3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621f7d03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621f7d03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621f7d03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621f7d03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d4504fc0b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d4504fc0b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Causal Inference </a:t>
            </a:r>
            <a:endParaRPr/>
          </a:p>
          <a:p>
            <a:pPr indent="0" lvl="0" marL="0" rtl="0" algn="l">
              <a:spcBef>
                <a:spcPts val="0"/>
              </a:spcBef>
              <a:spcAft>
                <a:spcPts val="0"/>
              </a:spcAft>
              <a:buNone/>
            </a:pPr>
            <a:r>
              <a:rPr lang="en" sz="1100"/>
              <a:t>A brief tour of common methods used to discern causation from correlation</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Ideally…</a:t>
            </a:r>
            <a:endParaRPr/>
          </a:p>
        </p:txBody>
      </p:sp>
      <p:sp>
        <p:nvSpPr>
          <p:cNvPr id="91" name="Google Shape;91;p14"/>
          <p:cNvSpPr txBox="1"/>
          <p:nvPr>
            <p:ph idx="1" type="body"/>
          </p:nvPr>
        </p:nvSpPr>
        <p:spPr>
          <a:xfrm>
            <a:off x="311700" y="902250"/>
            <a:ext cx="8520600" cy="2954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To assess causality, we’d ideally set up a </a:t>
            </a:r>
            <a:r>
              <a:rPr b="1" lang="en"/>
              <a:t>randomized controlled trial</a:t>
            </a:r>
            <a:endParaRPr b="1"/>
          </a:p>
          <a:p>
            <a:pPr indent="0" lvl="0" marL="0" rtl="0" algn="l">
              <a:spcBef>
                <a:spcPts val="1200"/>
              </a:spcBef>
              <a:spcAft>
                <a:spcPts val="0"/>
              </a:spcAft>
              <a:buNone/>
            </a:pPr>
            <a:r>
              <a:rPr lang="en"/>
              <a:t>Entities are randomly sorted into treatment and control groups</a:t>
            </a:r>
            <a:endParaRPr/>
          </a:p>
          <a:p>
            <a:pPr indent="0" lvl="0" marL="0" rtl="0" algn="l">
              <a:spcBef>
                <a:spcPts val="1200"/>
              </a:spcBef>
              <a:spcAft>
                <a:spcPts val="0"/>
              </a:spcAft>
              <a:buNone/>
            </a:pPr>
            <a:r>
              <a:rPr lang="en"/>
              <a:t>The treatment group is subjected to some type of policy, treatment, intervention, drug, etc. while the control group is not (Though the control group may be given some type of placebo)</a:t>
            </a:r>
            <a:endParaRPr/>
          </a:p>
          <a:p>
            <a:pPr indent="0" lvl="0" marL="0" rtl="0" algn="l">
              <a:spcBef>
                <a:spcPts val="1200"/>
              </a:spcBef>
              <a:spcAft>
                <a:spcPts val="0"/>
              </a:spcAft>
              <a:buNone/>
            </a:pPr>
            <a:r>
              <a:rPr lang="en"/>
              <a:t>After enough time has passed for the treatment to take place, the outcomes / changes in each group are measured</a:t>
            </a:r>
            <a:endParaRPr/>
          </a:p>
          <a:p>
            <a:pPr indent="0" lvl="0" marL="0" rtl="0" algn="l">
              <a:spcBef>
                <a:spcPts val="1200"/>
              </a:spcBef>
              <a:spcAft>
                <a:spcPts val="0"/>
              </a:spcAft>
              <a:buNone/>
            </a:pPr>
            <a:r>
              <a:rPr lang="en"/>
              <a:t>The difference in outcomes is the effect of the intervention</a:t>
            </a:r>
            <a:endParaRPr/>
          </a:p>
          <a:p>
            <a:pPr indent="0" lvl="0" marL="0" rtl="0" algn="l">
              <a:spcBef>
                <a:spcPts val="1200"/>
              </a:spcBef>
              <a:spcAft>
                <a:spcPts val="1200"/>
              </a:spcAft>
              <a:buNone/>
            </a:pPr>
            <a:r>
              <a:rPr lang="en"/>
              <a:t>Randomization</a:t>
            </a:r>
            <a:r>
              <a:rPr lang="en"/>
              <a:t> breaks the link between treatment and all other factors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Difference In Differences (DiD) </a:t>
            </a:r>
            <a:endParaRPr/>
          </a:p>
        </p:txBody>
      </p:sp>
      <p:sp>
        <p:nvSpPr>
          <p:cNvPr id="97" name="Google Shape;97;p15"/>
          <p:cNvSpPr txBox="1"/>
          <p:nvPr>
            <p:ph idx="1" type="body"/>
          </p:nvPr>
        </p:nvSpPr>
        <p:spPr>
          <a:xfrm>
            <a:off x="311700" y="1152475"/>
            <a:ext cx="8370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Causal effects are determined by comparing the changes in outcomes over time between a treatment group and a control group</a:t>
            </a:r>
            <a:endParaRPr/>
          </a:p>
          <a:p>
            <a:pPr indent="0" lvl="0" marL="0" rtl="0" algn="l">
              <a:spcBef>
                <a:spcPts val="1200"/>
              </a:spcBef>
              <a:spcAft>
                <a:spcPts val="0"/>
              </a:spcAft>
              <a:buNone/>
            </a:pPr>
            <a:r>
              <a:rPr lang="en"/>
              <a:t>Assumes that, </a:t>
            </a:r>
            <a:r>
              <a:rPr lang="en"/>
              <a:t>absent</a:t>
            </a:r>
            <a:r>
              <a:rPr lang="en"/>
              <a:t> treatment, the differences in the groups would have followed similar trends over time (parallel trends assumption)</a:t>
            </a:r>
            <a:endParaRPr/>
          </a:p>
          <a:p>
            <a:pPr indent="0" lvl="0" marL="0" rtl="0" algn="l">
              <a:spcBef>
                <a:spcPts val="1200"/>
              </a:spcBef>
              <a:spcAft>
                <a:spcPts val="0"/>
              </a:spcAft>
              <a:buNone/>
            </a:pPr>
            <a:r>
              <a:rPr lang="en"/>
              <a:t>DiD = (Post-Treatment Treatment Group Outcome - Pre-Treatment Treatment Group Outcome) - (Post-Treatment Control Group Outcome - Pre-Treatment Control Group Outcome)</a:t>
            </a:r>
            <a:endParaRPr/>
          </a:p>
          <a:p>
            <a:pPr indent="0" lvl="0" marL="0" rtl="0" algn="l">
              <a:spcBef>
                <a:spcPts val="1200"/>
              </a:spcBef>
              <a:spcAft>
                <a:spcPts val="0"/>
              </a:spcAft>
              <a:buNone/>
            </a:pPr>
            <a:r>
              <a:rPr b="1" lang="en"/>
              <a:t>Yit = B0 + B1(Period Dummy) + B2(Group Dummy) + B3(Period and Group Interaction) + Eit</a:t>
            </a:r>
            <a:endParaRPr b="1"/>
          </a:p>
          <a:p>
            <a:pPr indent="0" lvl="0" marL="0" rtl="0" algn="l">
              <a:spcBef>
                <a:spcPts val="1200"/>
              </a:spcBef>
              <a:spcAft>
                <a:spcPts val="1200"/>
              </a:spcAft>
              <a:buNone/>
            </a:pPr>
            <a:r>
              <a:rPr lang="en"/>
              <a:t>B3 is the </a:t>
            </a:r>
            <a:r>
              <a:rPr lang="en"/>
              <a:t>difference</a:t>
            </a:r>
            <a:r>
              <a:rPr lang="en"/>
              <a:t> in differences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Card &amp; </a:t>
            </a:r>
            <a:r>
              <a:rPr lang="en"/>
              <a:t>Kruger</a:t>
            </a:r>
            <a:r>
              <a:rPr lang="en"/>
              <a:t> </a:t>
            </a:r>
            <a:endParaRPr/>
          </a:p>
        </p:txBody>
      </p:sp>
      <p:sp>
        <p:nvSpPr>
          <p:cNvPr id="103" name="Google Shape;103;p16"/>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New Jersey and Pennsylvania share a border, and thus a fairly similar population</a:t>
            </a:r>
            <a:endParaRPr/>
          </a:p>
          <a:p>
            <a:pPr indent="0" lvl="0" marL="0" rtl="0" algn="l">
              <a:spcBef>
                <a:spcPts val="1200"/>
              </a:spcBef>
              <a:spcAft>
                <a:spcPts val="0"/>
              </a:spcAft>
              <a:buNone/>
            </a:pPr>
            <a:r>
              <a:rPr lang="en"/>
              <a:t>NJ raised the minimum wage from $4.25/hr to $5.05/hr, while PA kept its minimum wage at $4.25/hr</a:t>
            </a:r>
            <a:endParaRPr/>
          </a:p>
          <a:p>
            <a:pPr indent="0" lvl="0" marL="0" rtl="0" algn="l">
              <a:spcBef>
                <a:spcPts val="1200"/>
              </a:spcBef>
              <a:spcAft>
                <a:spcPts val="0"/>
              </a:spcAft>
              <a:buNone/>
            </a:pPr>
            <a:r>
              <a:rPr lang="en"/>
              <a:t>Economic theory suggests that the quantity of labor demanded will fall if the price of labor rises.</a:t>
            </a:r>
            <a:endParaRPr/>
          </a:p>
          <a:p>
            <a:pPr indent="0" lvl="0" marL="0" rtl="0" algn="l">
              <a:spcBef>
                <a:spcPts val="1200"/>
              </a:spcBef>
              <a:spcAft>
                <a:spcPts val="1200"/>
              </a:spcAft>
              <a:buNone/>
            </a:pPr>
            <a:r>
              <a:rPr lang="en"/>
              <a:t>However, this is not what was found…</a:t>
            </a:r>
            <a:endParaRPr/>
          </a:p>
        </p:txBody>
      </p:sp>
      <p:pic>
        <p:nvPicPr>
          <p:cNvPr id="104" name="Google Shape;104;p16"/>
          <p:cNvPicPr preferRelativeResize="0"/>
          <p:nvPr/>
        </p:nvPicPr>
        <p:blipFill>
          <a:blip r:embed="rId3">
            <a:alphaModFix/>
          </a:blip>
          <a:stretch>
            <a:fillRect/>
          </a:stretch>
        </p:blipFill>
        <p:spPr>
          <a:xfrm>
            <a:off x="4724400" y="1170125"/>
            <a:ext cx="4267202" cy="34222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DiD Assumptions</a:t>
            </a:r>
            <a:endParaRPr/>
          </a:p>
        </p:txBody>
      </p:sp>
      <p:sp>
        <p:nvSpPr>
          <p:cNvPr id="110" name="Google Shape;110;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Parallel</a:t>
            </a:r>
            <a:r>
              <a:rPr lang="en"/>
              <a:t> trends: In the absence of </a:t>
            </a:r>
            <a:r>
              <a:rPr lang="en"/>
              <a:t>treatment</a:t>
            </a:r>
            <a:r>
              <a:rPr lang="en"/>
              <a:t>, both groups would have followed the same trend over time</a:t>
            </a:r>
            <a:endParaRPr/>
          </a:p>
          <a:p>
            <a:pPr indent="0" lvl="0" marL="0" rtl="0" algn="l">
              <a:spcBef>
                <a:spcPts val="1200"/>
              </a:spcBef>
              <a:spcAft>
                <a:spcPts val="0"/>
              </a:spcAft>
              <a:buNone/>
            </a:pPr>
            <a:r>
              <a:rPr lang="en"/>
              <a:t>No other </a:t>
            </a:r>
            <a:r>
              <a:rPr lang="en"/>
              <a:t>simultaneous</a:t>
            </a:r>
            <a:r>
              <a:rPr lang="en"/>
              <a:t> changes</a:t>
            </a:r>
            <a:endParaRPr/>
          </a:p>
          <a:p>
            <a:pPr indent="0" lvl="0" marL="0" rtl="0" algn="l">
              <a:spcBef>
                <a:spcPts val="1200"/>
              </a:spcBef>
              <a:spcAft>
                <a:spcPts val="0"/>
              </a:spcAft>
              <a:buNone/>
            </a:pPr>
            <a:r>
              <a:rPr lang="en"/>
              <a:t>Stable group composition</a:t>
            </a:r>
            <a:endParaRPr/>
          </a:p>
          <a:p>
            <a:pPr indent="0" lvl="0" marL="0" rtl="0" algn="l">
              <a:spcBef>
                <a:spcPts val="1200"/>
              </a:spcBef>
              <a:spcAft>
                <a:spcPts val="1200"/>
              </a:spcAft>
              <a:buNone/>
            </a:pPr>
            <a:r>
              <a:rPr lang="en"/>
              <a:t>No </a:t>
            </a:r>
            <a:r>
              <a:rPr lang="en"/>
              <a:t>spillover</a:t>
            </a:r>
            <a:r>
              <a:rPr lang="en"/>
              <a:t> effects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DiD Regression </a:t>
            </a:r>
            <a:endParaRPr/>
          </a:p>
        </p:txBody>
      </p:sp>
      <p:sp>
        <p:nvSpPr>
          <p:cNvPr id="116" name="Google Shape;116;p1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Employment = B0 + </a:t>
            </a:r>
            <a:endParaRPr/>
          </a:p>
          <a:p>
            <a:pPr indent="0" lvl="0" marL="0" rtl="0" algn="l">
              <a:spcBef>
                <a:spcPts val="1200"/>
              </a:spcBef>
              <a:spcAft>
                <a:spcPts val="0"/>
              </a:spcAft>
              <a:buNone/>
            </a:pPr>
            <a:r>
              <a:rPr lang="en"/>
              <a:t>B1(State Dummy) + </a:t>
            </a:r>
            <a:endParaRPr/>
          </a:p>
          <a:p>
            <a:pPr indent="0" lvl="0" marL="0" rtl="0" algn="l">
              <a:spcBef>
                <a:spcPts val="1200"/>
              </a:spcBef>
              <a:spcAft>
                <a:spcPts val="0"/>
              </a:spcAft>
              <a:buNone/>
            </a:pPr>
            <a:r>
              <a:rPr lang="en"/>
              <a:t>B2(Period Dummy) + </a:t>
            </a:r>
            <a:endParaRPr/>
          </a:p>
          <a:p>
            <a:pPr indent="0" lvl="0" marL="0" rtl="0" algn="l">
              <a:spcBef>
                <a:spcPts val="1200"/>
              </a:spcBef>
              <a:spcAft>
                <a:spcPts val="0"/>
              </a:spcAft>
              <a:buNone/>
            </a:pPr>
            <a:r>
              <a:rPr b="1" lang="en"/>
              <a:t>B3(State * Period) +</a:t>
            </a:r>
            <a:endParaRPr b="1"/>
          </a:p>
          <a:p>
            <a:pPr indent="0" lvl="0" marL="0" rtl="0" algn="l">
              <a:spcBef>
                <a:spcPts val="1200"/>
              </a:spcBef>
              <a:spcAft>
                <a:spcPts val="0"/>
              </a:spcAft>
              <a:buNone/>
            </a:pPr>
            <a:r>
              <a:rPr lang="en"/>
              <a:t>Bi(Control Variables) + E</a:t>
            </a:r>
            <a:endParaRPr/>
          </a:p>
          <a:p>
            <a:pPr indent="0" lvl="0" marL="0" rtl="0" algn="l">
              <a:spcBef>
                <a:spcPts val="1200"/>
              </a:spcBef>
              <a:spcAft>
                <a:spcPts val="0"/>
              </a:spcAft>
              <a:buNone/>
            </a:pPr>
            <a:r>
              <a:t/>
            </a:r>
            <a:endParaRPr b="1"/>
          </a:p>
          <a:p>
            <a:pPr indent="0" lvl="0" marL="0" rtl="0" algn="l">
              <a:spcBef>
                <a:spcPts val="1200"/>
              </a:spcBef>
              <a:spcAft>
                <a:spcPts val="1200"/>
              </a:spcAft>
              <a:buNone/>
            </a:pPr>
            <a:r>
              <a:rPr b="1" lang="en"/>
              <a:t>B3 = Estimated Treatment Effect = Effect of Minimum Wage Increase on Employment</a:t>
            </a:r>
            <a:endParaRPr b="1"/>
          </a:p>
        </p:txBody>
      </p:sp>
      <p:pic>
        <p:nvPicPr>
          <p:cNvPr id="117" name="Google Shape;117;p18"/>
          <p:cNvPicPr preferRelativeResize="0"/>
          <p:nvPr/>
        </p:nvPicPr>
        <p:blipFill rotWithShape="1">
          <a:blip r:embed="rId3">
            <a:alphaModFix/>
          </a:blip>
          <a:srcRect b="23098" l="0" r="0" t="50000"/>
          <a:stretch/>
        </p:blipFill>
        <p:spPr>
          <a:xfrm>
            <a:off x="5551900" y="654703"/>
            <a:ext cx="2965424" cy="1027926"/>
          </a:xfrm>
          <a:prstGeom prst="rect">
            <a:avLst/>
          </a:prstGeom>
          <a:noFill/>
          <a:ln>
            <a:noFill/>
          </a:ln>
        </p:spPr>
      </p:pic>
      <p:pic>
        <p:nvPicPr>
          <p:cNvPr id="118" name="Google Shape;118;p18"/>
          <p:cNvPicPr preferRelativeResize="0"/>
          <p:nvPr/>
        </p:nvPicPr>
        <p:blipFill>
          <a:blip r:embed="rId4">
            <a:alphaModFix/>
          </a:blip>
          <a:stretch>
            <a:fillRect/>
          </a:stretch>
        </p:blipFill>
        <p:spPr>
          <a:xfrm>
            <a:off x="5551902" y="2131507"/>
            <a:ext cx="3245050" cy="25147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Regression Discontinuity Design</a:t>
            </a:r>
            <a:endParaRPr/>
          </a:p>
        </p:txBody>
      </p:sp>
      <p:sp>
        <p:nvSpPr>
          <p:cNvPr id="124" name="Google Shape;124;p19"/>
          <p:cNvSpPr txBox="1"/>
          <p:nvPr>
            <p:ph idx="1" type="body"/>
          </p:nvPr>
        </p:nvSpPr>
        <p:spPr>
          <a:xfrm>
            <a:off x="311700" y="1152475"/>
            <a:ext cx="42603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Causal effects are determined by comparing outcomes between treatment and control groups when assignment is determined by a cutoff </a:t>
            </a:r>
            <a:r>
              <a:rPr lang="en"/>
              <a:t>point</a:t>
            </a:r>
            <a:r>
              <a:rPr lang="en"/>
              <a:t> / threshold</a:t>
            </a:r>
            <a:endParaRPr/>
          </a:p>
          <a:p>
            <a:pPr indent="0" lvl="0" marL="0" rtl="0" algn="l">
              <a:spcBef>
                <a:spcPts val="1200"/>
              </a:spcBef>
              <a:spcAft>
                <a:spcPts val="0"/>
              </a:spcAft>
              <a:buNone/>
            </a:pPr>
            <a:r>
              <a:rPr lang="en"/>
              <a:t>Assumes groups just </a:t>
            </a:r>
            <a:r>
              <a:rPr lang="en"/>
              <a:t>above</a:t>
            </a:r>
            <a:r>
              <a:rPr lang="en"/>
              <a:t> and below the cutoff are likely to be </a:t>
            </a:r>
            <a:r>
              <a:rPr lang="en"/>
              <a:t>comparable</a:t>
            </a:r>
            <a:r>
              <a:rPr lang="en"/>
              <a:t> / similar </a:t>
            </a:r>
            <a:endParaRPr/>
          </a:p>
          <a:p>
            <a:pPr indent="0" lvl="0" marL="0" rtl="0" algn="l">
              <a:spcBef>
                <a:spcPts val="1200"/>
              </a:spcBef>
              <a:spcAft>
                <a:spcPts val="1200"/>
              </a:spcAft>
              <a:buNone/>
            </a:pPr>
            <a:r>
              <a:rPr lang="en"/>
              <a:t>Consider a group of students who get to take honors classes if they score above 50% on a given test, and are then given a final knowledge assessment</a:t>
            </a:r>
            <a:endParaRPr/>
          </a:p>
        </p:txBody>
      </p:sp>
      <p:pic>
        <p:nvPicPr>
          <p:cNvPr id="125" name="Google Shape;125;p19"/>
          <p:cNvPicPr preferRelativeResize="0"/>
          <p:nvPr/>
        </p:nvPicPr>
        <p:blipFill>
          <a:blip r:embed="rId3">
            <a:alphaModFix/>
          </a:blip>
          <a:stretch>
            <a:fillRect/>
          </a:stretch>
        </p:blipFill>
        <p:spPr>
          <a:xfrm>
            <a:off x="4724400" y="1170125"/>
            <a:ext cx="4267199" cy="27729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RDD Assumptions</a:t>
            </a:r>
            <a:endParaRPr/>
          </a:p>
        </p:txBody>
      </p:sp>
      <p:sp>
        <p:nvSpPr>
          <p:cNvPr id="131" name="Google Shape;131;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Continuity: Absent treatment effect, there should be no jump at the cutoff</a:t>
            </a:r>
            <a:endParaRPr/>
          </a:p>
          <a:p>
            <a:pPr indent="0" lvl="0" marL="0" rtl="0" algn="l">
              <a:spcBef>
                <a:spcPts val="1200"/>
              </a:spcBef>
              <a:spcAft>
                <a:spcPts val="0"/>
              </a:spcAft>
              <a:buNone/>
            </a:pPr>
            <a:r>
              <a:rPr lang="en"/>
              <a:t>Local </a:t>
            </a:r>
            <a:r>
              <a:rPr lang="en"/>
              <a:t>Comparability</a:t>
            </a:r>
            <a:r>
              <a:rPr lang="en"/>
              <a:t>: Units just above and below cutoff should be very </a:t>
            </a:r>
            <a:r>
              <a:rPr lang="en"/>
              <a:t>similar</a:t>
            </a:r>
            <a:r>
              <a:rPr lang="en"/>
              <a:t> </a:t>
            </a:r>
            <a:endParaRPr/>
          </a:p>
          <a:p>
            <a:pPr indent="0" lvl="0" marL="0" rtl="0" algn="l">
              <a:spcBef>
                <a:spcPts val="1200"/>
              </a:spcBef>
              <a:spcAft>
                <a:spcPts val="0"/>
              </a:spcAft>
              <a:buNone/>
            </a:pPr>
            <a:r>
              <a:rPr lang="en"/>
              <a:t>No Precise Manipulation of the Running Variable: Individuals cannot precisely sort themselves into above and below </a:t>
            </a:r>
            <a:endParaRPr/>
          </a:p>
          <a:p>
            <a:pPr indent="0" lvl="0" marL="0" rtl="0" algn="l">
              <a:spcBef>
                <a:spcPts val="1200"/>
              </a:spcBef>
              <a:spcAft>
                <a:spcPts val="0"/>
              </a:spcAft>
              <a:buNone/>
            </a:pPr>
            <a:r>
              <a:rPr lang="en"/>
              <a:t>Treatment is determined by cutoff</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Note: RDD </a:t>
            </a:r>
            <a:r>
              <a:rPr lang="en"/>
              <a:t>determines</a:t>
            </a:r>
            <a:r>
              <a:rPr lang="en"/>
              <a:t> causal effect at cutoff, not for all units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RDD Regression</a:t>
            </a:r>
            <a:endParaRPr/>
          </a:p>
        </p:txBody>
      </p:sp>
      <p:sp>
        <p:nvSpPr>
          <p:cNvPr id="137" name="Google Shape;137;p21"/>
          <p:cNvSpPr txBox="1"/>
          <p:nvPr>
            <p:ph idx="1" type="body"/>
          </p:nvPr>
        </p:nvSpPr>
        <p:spPr>
          <a:xfrm>
            <a:off x="311700" y="1229975"/>
            <a:ext cx="3999900" cy="33390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Clr>
                <a:schemeClr val="dk1"/>
              </a:buClr>
              <a:buSzPct val="61111"/>
              <a:buFont typeface="Arial"/>
              <a:buNone/>
            </a:pPr>
            <a:r>
              <a:rPr lang="en" sz="1800"/>
              <a:t>The causal effect of the treatment (extra education) is measured as the difference in the heights of the regression lines at the cut off </a:t>
            </a:r>
            <a:endParaRPr sz="1800"/>
          </a:p>
          <a:p>
            <a:pPr indent="0" lvl="0" marL="0" rtl="0" algn="l">
              <a:spcBef>
                <a:spcPts val="1200"/>
              </a:spcBef>
              <a:spcAft>
                <a:spcPts val="0"/>
              </a:spcAft>
              <a:buClr>
                <a:schemeClr val="dk1"/>
              </a:buClr>
              <a:buSzPct val="61111"/>
              <a:buFont typeface="Arial"/>
              <a:buNone/>
            </a:pPr>
            <a:r>
              <a:rPr lang="en" sz="1800"/>
              <a:t>Y = </a:t>
            </a:r>
            <a:endParaRPr sz="1800"/>
          </a:p>
          <a:p>
            <a:pPr indent="0" lvl="0" marL="0" rtl="0" algn="l">
              <a:spcBef>
                <a:spcPts val="1200"/>
              </a:spcBef>
              <a:spcAft>
                <a:spcPts val="0"/>
              </a:spcAft>
              <a:buClr>
                <a:schemeClr val="dk1"/>
              </a:buClr>
              <a:buSzPct val="61111"/>
              <a:buFont typeface="Arial"/>
              <a:buNone/>
            </a:pPr>
            <a:r>
              <a:rPr lang="en" sz="1800"/>
              <a:t>B0 +</a:t>
            </a:r>
            <a:endParaRPr sz="1800"/>
          </a:p>
          <a:p>
            <a:pPr indent="0" lvl="0" marL="0" rtl="0" algn="l">
              <a:spcBef>
                <a:spcPts val="1200"/>
              </a:spcBef>
              <a:spcAft>
                <a:spcPts val="0"/>
              </a:spcAft>
              <a:buClr>
                <a:schemeClr val="dk1"/>
              </a:buClr>
              <a:buSzPct val="61111"/>
              <a:buFont typeface="Arial"/>
              <a:buNone/>
            </a:pPr>
            <a:r>
              <a:rPr lang="en" sz="1800"/>
              <a:t>B1*(Treatment Dummy) +</a:t>
            </a:r>
            <a:endParaRPr sz="1800"/>
          </a:p>
          <a:p>
            <a:pPr indent="0" lvl="0" marL="0" rtl="0" algn="l">
              <a:spcBef>
                <a:spcPts val="1200"/>
              </a:spcBef>
              <a:spcAft>
                <a:spcPts val="0"/>
              </a:spcAft>
              <a:buClr>
                <a:schemeClr val="dk1"/>
              </a:buClr>
              <a:buSzPct val="61111"/>
              <a:buFont typeface="Arial"/>
              <a:buNone/>
            </a:pPr>
            <a:r>
              <a:rPr lang="en" sz="1800"/>
              <a:t>B2*(Running Variable - Cutoff) +</a:t>
            </a:r>
            <a:endParaRPr sz="1800"/>
          </a:p>
          <a:p>
            <a:pPr indent="0" lvl="0" marL="0" rtl="0" algn="l">
              <a:spcBef>
                <a:spcPts val="1200"/>
              </a:spcBef>
              <a:spcAft>
                <a:spcPts val="0"/>
              </a:spcAft>
              <a:buClr>
                <a:schemeClr val="dk1"/>
              </a:buClr>
              <a:buSzPct val="61111"/>
              <a:buFont typeface="Arial"/>
              <a:buNone/>
            </a:pPr>
            <a:r>
              <a:rPr lang="en" sz="1800"/>
              <a:t>B3*(Treatment Dummy)*(Running Variable - Cutoff) +</a:t>
            </a:r>
            <a:endParaRPr sz="1800"/>
          </a:p>
          <a:p>
            <a:pPr indent="0" lvl="0" marL="0" rtl="0" algn="l">
              <a:spcBef>
                <a:spcPts val="1200"/>
              </a:spcBef>
              <a:spcAft>
                <a:spcPts val="1200"/>
              </a:spcAft>
              <a:buClr>
                <a:schemeClr val="dk1"/>
              </a:buClr>
              <a:buSzPct val="61111"/>
              <a:buFont typeface="Arial"/>
              <a:buNone/>
            </a:pPr>
            <a:r>
              <a:rPr lang="en" sz="1800"/>
              <a:t>E</a:t>
            </a:r>
            <a:endParaRPr/>
          </a:p>
        </p:txBody>
      </p:sp>
      <p:sp>
        <p:nvSpPr>
          <p:cNvPr id="138" name="Google Shape;138;p21"/>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B0 = Expected outcome just below the cutoff</a:t>
            </a:r>
            <a:endParaRPr/>
          </a:p>
          <a:p>
            <a:pPr indent="0" lvl="0" marL="0" rtl="0" algn="l">
              <a:spcBef>
                <a:spcPts val="1200"/>
              </a:spcBef>
              <a:spcAft>
                <a:spcPts val="0"/>
              </a:spcAft>
              <a:buNone/>
            </a:pPr>
            <a:r>
              <a:rPr b="1" lang="en"/>
              <a:t>B1 = Treatment effect at the cutoff (jump)</a:t>
            </a:r>
            <a:endParaRPr b="1"/>
          </a:p>
          <a:p>
            <a:pPr indent="0" lvl="0" marL="0" rtl="0" algn="l">
              <a:spcBef>
                <a:spcPts val="1200"/>
              </a:spcBef>
              <a:spcAft>
                <a:spcPts val="0"/>
              </a:spcAft>
              <a:buNone/>
            </a:pPr>
            <a:r>
              <a:rPr lang="en"/>
              <a:t>B2 = Slope of the outcome variable for the control group</a:t>
            </a:r>
            <a:endParaRPr/>
          </a:p>
          <a:p>
            <a:pPr indent="0" lvl="0" marL="0" rtl="0" algn="l">
              <a:spcBef>
                <a:spcPts val="1200"/>
              </a:spcBef>
              <a:spcAft>
                <a:spcPts val="1200"/>
              </a:spcAft>
              <a:buNone/>
            </a:pPr>
            <a:r>
              <a:rPr lang="en"/>
              <a:t>B3 = The difference in slopes between the treated and control groups</a:t>
            </a:r>
            <a:endParaRPr/>
          </a:p>
        </p:txBody>
      </p:sp>
      <p:pic>
        <p:nvPicPr>
          <p:cNvPr id="139" name="Google Shape;139;p21"/>
          <p:cNvPicPr preferRelativeResize="0"/>
          <p:nvPr/>
        </p:nvPicPr>
        <p:blipFill>
          <a:blip r:embed="rId3">
            <a:alphaModFix/>
          </a:blip>
          <a:stretch>
            <a:fillRect/>
          </a:stretch>
        </p:blipFill>
        <p:spPr>
          <a:xfrm>
            <a:off x="5749799" y="3392351"/>
            <a:ext cx="2165101" cy="1406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2"/>
          <p:cNvPicPr preferRelativeResize="0"/>
          <p:nvPr/>
        </p:nvPicPr>
        <p:blipFill>
          <a:blip r:embed="rId3">
            <a:alphaModFix/>
          </a:blip>
          <a:stretch>
            <a:fillRect/>
          </a:stretch>
        </p:blipFill>
        <p:spPr>
          <a:xfrm>
            <a:off x="173223" y="165920"/>
            <a:ext cx="7002577" cy="4550399"/>
          </a:xfrm>
          <a:prstGeom prst="rect">
            <a:avLst/>
          </a:prstGeom>
          <a:noFill/>
          <a:ln>
            <a:noFill/>
          </a:ln>
        </p:spPr>
      </p:pic>
      <p:sp>
        <p:nvSpPr>
          <p:cNvPr id="145" name="Google Shape;145;p22"/>
          <p:cNvSpPr txBox="1"/>
          <p:nvPr/>
        </p:nvSpPr>
        <p:spPr>
          <a:xfrm>
            <a:off x="4880450" y="2893875"/>
            <a:ext cx="1647600" cy="5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Gap = Treatment Effect</a:t>
            </a:r>
            <a:endParaRPr sz="1800">
              <a:solidFill>
                <a:schemeClr val="dk2"/>
              </a:solidFill>
              <a:latin typeface="Roboto"/>
              <a:ea typeface="Roboto"/>
              <a:cs typeface="Roboto"/>
              <a:sym typeface="Roboto"/>
            </a:endParaRPr>
          </a:p>
        </p:txBody>
      </p:sp>
      <p:cxnSp>
        <p:nvCxnSpPr>
          <p:cNvPr id="146" name="Google Shape;146;p22"/>
          <p:cNvCxnSpPr>
            <a:stCxn id="145" idx="1"/>
          </p:cNvCxnSpPr>
          <p:nvPr/>
        </p:nvCxnSpPr>
        <p:spPr>
          <a:xfrm rot="10800000">
            <a:off x="3602450" y="2365875"/>
            <a:ext cx="1278000" cy="807900"/>
          </a:xfrm>
          <a:prstGeom prst="straightConnector1">
            <a:avLst/>
          </a:prstGeom>
          <a:noFill/>
          <a:ln cap="flat" cmpd="sng" w="9525">
            <a:solidFill>
              <a:schemeClr val="dk2"/>
            </a:solidFill>
            <a:prstDash val="solid"/>
            <a:round/>
            <a:headEnd len="med" w="med" type="none"/>
            <a:tailEnd len="med" w="med" type="triangle"/>
          </a:ln>
        </p:spPr>
      </p:cxnSp>
      <p:sp>
        <p:nvSpPr>
          <p:cNvPr id="147" name="Google Shape;147;p22"/>
          <p:cNvSpPr txBox="1"/>
          <p:nvPr/>
        </p:nvSpPr>
        <p:spPr>
          <a:xfrm>
            <a:off x="7471325" y="624475"/>
            <a:ext cx="1338300" cy="25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We would expect the red trend to continue, absent treatment </a:t>
            </a:r>
            <a:endParaRPr sz="1800">
              <a:solidFill>
                <a:schemeClr val="dk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Quadratic RDD</a:t>
            </a:r>
            <a:endParaRPr/>
          </a:p>
        </p:txBody>
      </p:sp>
      <p:pic>
        <p:nvPicPr>
          <p:cNvPr id="153" name="Google Shape;153;p23"/>
          <p:cNvPicPr preferRelativeResize="0"/>
          <p:nvPr/>
        </p:nvPicPr>
        <p:blipFill>
          <a:blip r:embed="rId3">
            <a:alphaModFix/>
          </a:blip>
          <a:stretch>
            <a:fillRect/>
          </a:stretch>
        </p:blipFill>
        <p:spPr>
          <a:xfrm>
            <a:off x="4296511" y="173375"/>
            <a:ext cx="4706766" cy="3058574"/>
          </a:xfrm>
          <a:prstGeom prst="rect">
            <a:avLst/>
          </a:prstGeom>
          <a:noFill/>
          <a:ln>
            <a:noFill/>
          </a:ln>
        </p:spPr>
      </p:pic>
      <p:pic>
        <p:nvPicPr>
          <p:cNvPr id="154" name="Google Shape;154;p23"/>
          <p:cNvPicPr preferRelativeResize="0"/>
          <p:nvPr/>
        </p:nvPicPr>
        <p:blipFill>
          <a:blip r:embed="rId4">
            <a:alphaModFix/>
          </a:blip>
          <a:stretch>
            <a:fillRect/>
          </a:stretch>
        </p:blipFill>
        <p:spPr>
          <a:xfrm>
            <a:off x="0" y="3231945"/>
            <a:ext cx="9144001" cy="68681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Two Stage Least Squares</a:t>
            </a:r>
            <a:endParaRPr/>
          </a:p>
        </p:txBody>
      </p:sp>
      <p:sp>
        <p:nvSpPr>
          <p:cNvPr id="160" name="Google Shape;160;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Does education cause higher wages, or do smart and ambitious people go to college and are incidentally likely to earn higher wages regardless of education?</a:t>
            </a:r>
            <a:endParaRPr/>
          </a:p>
          <a:p>
            <a:pPr indent="0" lvl="0" marL="0" rtl="0" algn="l">
              <a:spcBef>
                <a:spcPts val="1200"/>
              </a:spcBef>
              <a:spcAft>
                <a:spcPts val="0"/>
              </a:spcAft>
              <a:buNone/>
            </a:pPr>
            <a:r>
              <a:rPr lang="en"/>
              <a:t>Wage = B0 + B1(Education) + E</a:t>
            </a:r>
            <a:endParaRPr/>
          </a:p>
          <a:p>
            <a:pPr indent="0" lvl="0" marL="0" rtl="0" algn="l">
              <a:spcBef>
                <a:spcPts val="1200"/>
              </a:spcBef>
              <a:spcAft>
                <a:spcPts val="0"/>
              </a:spcAft>
              <a:buNone/>
            </a:pPr>
            <a:r>
              <a:rPr lang="en"/>
              <a:t>Omitted variable bias likely since no controls for ability, upbringing, etc.</a:t>
            </a:r>
            <a:endParaRPr/>
          </a:p>
          <a:p>
            <a:pPr indent="0" lvl="0" marL="0" rtl="0" algn="l">
              <a:spcBef>
                <a:spcPts val="1200"/>
              </a:spcBef>
              <a:spcAft>
                <a:spcPts val="0"/>
              </a:spcAft>
              <a:buNone/>
            </a:pPr>
            <a:r>
              <a:rPr lang="en"/>
              <a:t>Use an instrumental variable: </a:t>
            </a:r>
            <a:endParaRPr/>
          </a:p>
          <a:p>
            <a:pPr indent="0" lvl="0" marL="0" rtl="0" algn="l">
              <a:spcBef>
                <a:spcPts val="1200"/>
              </a:spcBef>
              <a:spcAft>
                <a:spcPts val="0"/>
              </a:spcAft>
              <a:buNone/>
            </a:pPr>
            <a:r>
              <a:rPr lang="en"/>
              <a:t>A) One that is strongly correlated with endogenous variable (education) </a:t>
            </a:r>
            <a:endParaRPr/>
          </a:p>
          <a:p>
            <a:pPr indent="0" lvl="0" marL="0" rtl="0" algn="l">
              <a:spcBef>
                <a:spcPts val="1200"/>
              </a:spcBef>
              <a:spcAft>
                <a:spcPts val="0"/>
              </a:spcAft>
              <a:buNone/>
            </a:pPr>
            <a:r>
              <a:rPr lang="en"/>
              <a:t>B) Not correlated with the error term in the outcome equation </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Two Stage Least Squares (2SLS)</a:t>
            </a:r>
            <a:endParaRPr/>
          </a:p>
        </p:txBody>
      </p:sp>
      <p:sp>
        <p:nvSpPr>
          <p:cNvPr id="166" name="Google Shape;166;p2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Endogeneity</a:t>
            </a:r>
            <a:r>
              <a:rPr lang="en"/>
              <a:t>: Explanatory variable is correlated with error term</a:t>
            </a:r>
            <a:endParaRPr/>
          </a:p>
          <a:p>
            <a:pPr indent="0" lvl="0" marL="0" rtl="0" algn="l">
              <a:spcBef>
                <a:spcPts val="1200"/>
              </a:spcBef>
              <a:spcAft>
                <a:spcPts val="0"/>
              </a:spcAft>
              <a:buNone/>
            </a:pPr>
            <a:r>
              <a:rPr lang="en"/>
              <a:t>Causes of Endogeneity: </a:t>
            </a:r>
            <a:endParaRPr/>
          </a:p>
          <a:p>
            <a:pPr indent="-342900" lvl="0" marL="457200" rtl="0" algn="l">
              <a:spcBef>
                <a:spcPts val="1200"/>
              </a:spcBef>
              <a:spcAft>
                <a:spcPts val="0"/>
              </a:spcAft>
              <a:buSzPts val="1800"/>
              <a:buAutoNum type="arabicParenR"/>
            </a:pPr>
            <a:r>
              <a:rPr lang="en"/>
              <a:t>Omitted</a:t>
            </a:r>
            <a:r>
              <a:rPr lang="en"/>
              <a:t> variable bias </a:t>
            </a:r>
            <a:endParaRPr/>
          </a:p>
          <a:p>
            <a:pPr indent="-342900" lvl="0" marL="457200" rtl="0" algn="l">
              <a:spcBef>
                <a:spcPts val="0"/>
              </a:spcBef>
              <a:spcAft>
                <a:spcPts val="0"/>
              </a:spcAft>
              <a:buSzPts val="1800"/>
              <a:buAutoNum type="arabicParenR"/>
            </a:pPr>
            <a:r>
              <a:rPr lang="en"/>
              <a:t>Simultaneity (X effects Y and Y effects X)</a:t>
            </a:r>
            <a:endParaRPr/>
          </a:p>
          <a:p>
            <a:pPr indent="-342900" lvl="0" marL="457200" rtl="0" algn="l">
              <a:spcBef>
                <a:spcPts val="0"/>
              </a:spcBef>
              <a:spcAft>
                <a:spcPts val="0"/>
              </a:spcAft>
              <a:buSzPts val="1800"/>
              <a:buAutoNum type="arabicParenR"/>
            </a:pPr>
            <a:r>
              <a:rPr lang="en"/>
              <a:t>Measurement error </a:t>
            </a:r>
            <a:r>
              <a:rPr lang="en"/>
              <a:t> </a:t>
            </a:r>
            <a:endParaRPr/>
          </a:p>
          <a:p>
            <a:pPr indent="0" lvl="0" marL="0" rtl="0" algn="l">
              <a:spcBef>
                <a:spcPts val="1200"/>
              </a:spcBef>
              <a:spcAft>
                <a:spcPts val="1200"/>
              </a:spcAft>
              <a:buNone/>
            </a:pPr>
            <a:r>
              <a:rPr lang="en"/>
              <a:t>Instrumental Variable: Correlated with X but not correlated with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Two Stage Least Squares (2SLS)</a:t>
            </a:r>
            <a:endParaRPr/>
          </a:p>
          <a:p>
            <a:pPr indent="0" lvl="0" marL="0" rtl="0" algn="l">
              <a:spcBef>
                <a:spcPts val="0"/>
              </a:spcBef>
              <a:spcAft>
                <a:spcPts val="0"/>
              </a:spcAft>
              <a:buNone/>
            </a:pPr>
            <a:r>
              <a:t/>
            </a:r>
            <a:endParaRPr/>
          </a:p>
        </p:txBody>
      </p:sp>
      <p:sp>
        <p:nvSpPr>
          <p:cNvPr id="172" name="Google Shape;172;p2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Consider the case of education’s impact on income.</a:t>
            </a:r>
            <a:endParaRPr/>
          </a:p>
          <a:p>
            <a:pPr indent="0" lvl="0" marL="0" rtl="0" algn="l">
              <a:spcBef>
                <a:spcPts val="1200"/>
              </a:spcBef>
              <a:spcAft>
                <a:spcPts val="0"/>
              </a:spcAft>
              <a:buNone/>
            </a:pPr>
            <a:r>
              <a:rPr lang="en"/>
              <a:t>To what extent does education make workers more skilled and/or productive?</a:t>
            </a:r>
            <a:endParaRPr/>
          </a:p>
          <a:p>
            <a:pPr indent="0" lvl="0" marL="0" rtl="0" algn="l">
              <a:spcBef>
                <a:spcPts val="1200"/>
              </a:spcBef>
              <a:spcAft>
                <a:spcPts val="0"/>
              </a:spcAft>
              <a:buNone/>
            </a:pPr>
            <a:r>
              <a:rPr lang="en"/>
              <a:t>Might it be that ambitious, productive, intelligent, and/or skilled individuals also </a:t>
            </a:r>
            <a:r>
              <a:rPr lang="en"/>
              <a:t>pursue</a:t>
            </a:r>
            <a:r>
              <a:rPr lang="en"/>
              <a:t> higher education, but would be skilled and productive even without it?</a:t>
            </a:r>
            <a:endParaRPr/>
          </a:p>
          <a:p>
            <a:pPr indent="0" lvl="0" marL="0" rtl="0" algn="l">
              <a:spcBef>
                <a:spcPts val="1200"/>
              </a:spcBef>
              <a:spcAft>
                <a:spcPts val="0"/>
              </a:spcAft>
              <a:buNone/>
            </a:pPr>
            <a:r>
              <a:rPr lang="en"/>
              <a:t>Solution: Find a variable that is correlated with education, but not with unobserved factors influencing income</a:t>
            </a:r>
            <a:endParaRPr/>
          </a:p>
          <a:p>
            <a:pPr indent="0" lvl="0" marL="0" rtl="0" algn="l">
              <a:spcBef>
                <a:spcPts val="1200"/>
              </a:spcBef>
              <a:spcAft>
                <a:spcPts val="0"/>
              </a:spcAft>
              <a:buNone/>
            </a:pPr>
            <a:r>
              <a:rPr lang="en"/>
              <a:t>Proximity to universities? Likely to increase chances for education without directly impacting wages through a non-educational channel</a:t>
            </a:r>
            <a:endParaRPr/>
          </a:p>
          <a:p>
            <a:pPr indent="0" lvl="0" marL="0" rtl="0" algn="l">
              <a:spcBef>
                <a:spcPts val="1200"/>
              </a:spcBef>
              <a:spcAft>
                <a:spcPts val="0"/>
              </a:spcAft>
              <a:buNone/>
            </a:pPr>
            <a:r>
              <a:rPr lang="en"/>
              <a:t>Card, David (1995). “Using Geographic Variation in College Proximity to Estimate the Return to Schooling.”</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2SLS Continued</a:t>
            </a:r>
            <a:endParaRPr/>
          </a:p>
        </p:txBody>
      </p:sp>
      <p:sp>
        <p:nvSpPr>
          <p:cNvPr id="178" name="Google Shape;178;p2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Step 1: Regress the endogenous variable on the instrument and obtain fitted values (y-hat OR education-hat)</a:t>
            </a:r>
            <a:endParaRPr/>
          </a:p>
          <a:p>
            <a:pPr indent="0" lvl="0" marL="0" rtl="0" algn="l">
              <a:spcBef>
                <a:spcPts val="1200"/>
              </a:spcBef>
              <a:spcAft>
                <a:spcPts val="0"/>
              </a:spcAft>
              <a:buNone/>
            </a:pPr>
            <a:r>
              <a:rPr lang="en"/>
              <a:t>Education = B0 + B1*Proximity to College + E</a:t>
            </a:r>
            <a:endParaRPr/>
          </a:p>
          <a:p>
            <a:pPr indent="0" lvl="0" marL="0" rtl="0" algn="l">
              <a:spcBef>
                <a:spcPts val="1200"/>
              </a:spcBef>
              <a:spcAft>
                <a:spcPts val="0"/>
              </a:spcAft>
              <a:buNone/>
            </a:pPr>
            <a:r>
              <a:rPr lang="en"/>
              <a:t>Step 2: Regress the original dependent </a:t>
            </a:r>
            <a:r>
              <a:rPr lang="en"/>
              <a:t>variable</a:t>
            </a:r>
            <a:r>
              <a:rPr lang="en"/>
              <a:t> on the fitted values from the first equation.</a:t>
            </a:r>
            <a:endParaRPr/>
          </a:p>
          <a:p>
            <a:pPr indent="0" lvl="0" marL="0" rtl="0" algn="l">
              <a:spcBef>
                <a:spcPts val="1200"/>
              </a:spcBef>
              <a:spcAft>
                <a:spcPts val="0"/>
              </a:spcAft>
              <a:buNone/>
            </a:pPr>
            <a:r>
              <a:rPr lang="en"/>
              <a:t>Wage = B0 + B1*Education-Hat + E</a:t>
            </a:r>
            <a:endParaRPr/>
          </a:p>
          <a:p>
            <a:pPr indent="0" lvl="0" marL="0" rtl="0" algn="l">
              <a:spcBef>
                <a:spcPts val="1200"/>
              </a:spcBef>
              <a:spcAft>
                <a:spcPts val="0"/>
              </a:spcAft>
              <a:buNone/>
            </a:pPr>
            <a:r>
              <a:rPr lang="en"/>
              <a:t>The fitted values isolate the variation in education explained by the instrument</a:t>
            </a:r>
            <a:endParaRPr/>
          </a:p>
          <a:p>
            <a:pPr indent="0" lvl="0" marL="0" rtl="0" algn="l">
              <a:spcBef>
                <a:spcPts val="1200"/>
              </a:spcBef>
              <a:spcAft>
                <a:spcPts val="1200"/>
              </a:spcAft>
              <a:buNone/>
            </a:pPr>
            <a:r>
              <a:rPr lang="en"/>
              <a:t>Education hat is no longer correlated with ability and upbringing, so now B1 reflects the causal effect of education on wages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OLS vs 2SLS</a:t>
            </a:r>
            <a:endParaRPr/>
          </a:p>
        </p:txBody>
      </p:sp>
      <p:sp>
        <p:nvSpPr>
          <p:cNvPr id="184" name="Google Shape;184;p28"/>
          <p:cNvSpPr txBox="1"/>
          <p:nvPr>
            <p:ph idx="1" type="body"/>
          </p:nvPr>
        </p:nvSpPr>
        <p:spPr>
          <a:xfrm>
            <a:off x="244075" y="4178900"/>
            <a:ext cx="5640000" cy="5727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1200"/>
              </a:spcAft>
              <a:buNone/>
            </a:pPr>
            <a:r>
              <a:rPr lang="en"/>
              <a:t>OLS is seemingly biased upward, because education is correlated with unobserved ability, and overstated the impact of </a:t>
            </a:r>
            <a:r>
              <a:rPr lang="en"/>
              <a:t>education, 2.2267 vs 1.9924, 12% overstated!</a:t>
            </a:r>
            <a:endParaRPr/>
          </a:p>
        </p:txBody>
      </p:sp>
      <p:pic>
        <p:nvPicPr>
          <p:cNvPr id="185" name="Google Shape;185;p28"/>
          <p:cNvPicPr preferRelativeResize="0"/>
          <p:nvPr/>
        </p:nvPicPr>
        <p:blipFill>
          <a:blip r:embed="rId3">
            <a:alphaModFix/>
          </a:blip>
          <a:stretch>
            <a:fillRect/>
          </a:stretch>
        </p:blipFill>
        <p:spPr>
          <a:xfrm>
            <a:off x="4656800" y="1119700"/>
            <a:ext cx="2644806" cy="2904101"/>
          </a:xfrm>
          <a:prstGeom prst="rect">
            <a:avLst/>
          </a:prstGeom>
          <a:noFill/>
          <a:ln>
            <a:noFill/>
          </a:ln>
        </p:spPr>
      </p:pic>
      <p:pic>
        <p:nvPicPr>
          <p:cNvPr id="186" name="Google Shape;186;p28"/>
          <p:cNvPicPr preferRelativeResize="0"/>
          <p:nvPr/>
        </p:nvPicPr>
        <p:blipFill>
          <a:blip r:embed="rId4">
            <a:alphaModFix/>
          </a:blip>
          <a:stretch>
            <a:fillRect/>
          </a:stretch>
        </p:blipFill>
        <p:spPr>
          <a:xfrm>
            <a:off x="1191156" y="1146300"/>
            <a:ext cx="2631381" cy="29041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When to use these methods</a:t>
            </a:r>
            <a:endParaRPr/>
          </a:p>
        </p:txBody>
      </p:sp>
      <p:sp>
        <p:nvSpPr>
          <p:cNvPr id="192" name="Google Shape;192;p2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RCT if possible!</a:t>
            </a:r>
            <a:endParaRPr/>
          </a:p>
          <a:p>
            <a:pPr indent="0" lvl="0" marL="0" rtl="0" algn="l">
              <a:spcBef>
                <a:spcPts val="1200"/>
              </a:spcBef>
              <a:spcAft>
                <a:spcPts val="0"/>
              </a:spcAft>
              <a:buNone/>
            </a:pPr>
            <a:r>
              <a:rPr lang="en"/>
              <a:t>Policy change over time + comparison group = DiD</a:t>
            </a:r>
            <a:endParaRPr/>
          </a:p>
          <a:p>
            <a:pPr indent="0" lvl="0" marL="0" rtl="0" algn="l">
              <a:spcBef>
                <a:spcPts val="1200"/>
              </a:spcBef>
              <a:spcAft>
                <a:spcPts val="0"/>
              </a:spcAft>
              <a:buNone/>
            </a:pPr>
            <a:r>
              <a:rPr lang="en"/>
              <a:t>Sharp cutoff rule = RDD</a:t>
            </a:r>
            <a:endParaRPr/>
          </a:p>
          <a:p>
            <a:pPr indent="0" lvl="0" marL="0" rtl="0" algn="l">
              <a:spcBef>
                <a:spcPts val="1200"/>
              </a:spcBef>
              <a:spcAft>
                <a:spcPts val="0"/>
              </a:spcAft>
              <a:buNone/>
            </a:pPr>
            <a:r>
              <a:rPr lang="en"/>
              <a:t>Omitted variable, reverse causality, or measurement error = IV/2SLS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Note: </a:t>
            </a:r>
            <a:r>
              <a:rPr lang="en"/>
              <a:t>All these methods have in common: They try to isolate variation in X that is as-if random</a:t>
            </a:r>
            <a:endParaRPr/>
          </a:p>
          <a:p>
            <a:pPr indent="0" lvl="0" marL="0" rtl="0" algn="l">
              <a:spcBef>
                <a:spcPts val="1200"/>
              </a:spcBef>
              <a:spcAft>
                <a:spcPts val="0"/>
              </a:spcAft>
              <a:buNone/>
            </a:pPr>
            <a:r>
              <a:rPr lang="en"/>
              <a:t>We’re trying to mimic RCT!</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causal inference is hard!</a:t>
            </a:r>
            <a:endParaRPr/>
          </a:p>
        </p:txBody>
      </p:sp>
      <p:sp>
        <p:nvSpPr>
          <p:cNvPr id="198" name="Google Shape;198;p3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never observe true </a:t>
            </a:r>
            <a:r>
              <a:rPr lang="en"/>
              <a:t>counterfactual</a:t>
            </a:r>
            <a:endParaRPr/>
          </a:p>
          <a:p>
            <a:pPr indent="0" lvl="0" marL="0" rtl="0" algn="l">
              <a:spcBef>
                <a:spcPts val="1200"/>
              </a:spcBef>
              <a:spcAft>
                <a:spcPts val="0"/>
              </a:spcAft>
              <a:buNone/>
            </a:pPr>
            <a:r>
              <a:rPr lang="en"/>
              <a:t>We rely on assumptions we cannot fully test</a:t>
            </a:r>
            <a:endParaRPr/>
          </a:p>
          <a:p>
            <a:pPr indent="0" lvl="0" marL="0" rtl="0" algn="l">
              <a:spcBef>
                <a:spcPts val="1200"/>
              </a:spcBef>
              <a:spcAft>
                <a:spcPts val="0"/>
              </a:spcAft>
              <a:buNone/>
            </a:pPr>
            <a:r>
              <a:rPr lang="en"/>
              <a:t>Different methods can give different answers</a:t>
            </a:r>
            <a:endParaRPr/>
          </a:p>
          <a:p>
            <a:pPr indent="0" lvl="0" marL="0" rtl="0" algn="l">
              <a:spcBef>
                <a:spcPts val="1200"/>
              </a:spcBef>
              <a:spcAft>
                <a:spcPts val="1200"/>
              </a:spcAft>
              <a:buNone/>
            </a:pPr>
            <a:r>
              <a:rPr lang="en"/>
              <a:t>Small </a:t>
            </a:r>
            <a:r>
              <a:rPr lang="en"/>
              <a:t>violations</a:t>
            </a:r>
            <a:r>
              <a:rPr lang="en"/>
              <a:t> can create large biases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2" name="Shape 202"/>
        <p:cNvGrpSpPr/>
        <p:nvPr/>
      </p:nvGrpSpPr>
      <p:grpSpPr>
        <a:xfrm>
          <a:off x="0" y="0"/>
          <a:ext cx="0" cy="0"/>
          <a:chOff x="0" y="0"/>
          <a:chExt cx="0" cy="0"/>
        </a:xfrm>
      </p:grpSpPr>
      <p:pic>
        <p:nvPicPr>
          <p:cNvPr id="203" name="Google Shape;203;p31"/>
          <p:cNvPicPr preferRelativeResize="0"/>
          <p:nvPr/>
        </p:nvPicPr>
        <p:blipFill>
          <a:blip r:embed="rId3">
            <a:alphaModFix/>
          </a:blip>
          <a:stretch>
            <a:fillRect/>
          </a:stretch>
        </p:blipFill>
        <p:spPr>
          <a:xfrm>
            <a:off x="614388" y="0"/>
            <a:ext cx="7915223"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