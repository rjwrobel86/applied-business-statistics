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22f69aa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22f69aa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22f69aa3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22f69aa3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22f69aa3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22f69aa3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22f69aa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22f69aa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22f69aa3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22f69aa3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22f69aa3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22f69aa3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7b5698ba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7b5698ba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e209f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be209f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b5698b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7b5698b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2c6d57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2c6d57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b5698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b5698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b5698ba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7b5698b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281935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b281935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22f69aa33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22f69aa3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b2c6d57a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b2c6d57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b5698ba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7b5698ba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b5698ba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7b5698ba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f.info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Pre-Processing and Feature Engineering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Progress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Data Is Often Messy!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Real world data is often “messy” and unsuitable for many common types of analysis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Common issues include: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Missing values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Duplicate values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Outliers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Errors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Skewness / Kurtosis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Non-numerical data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Step: Check Your Data  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 look at your data in the following ways and make sure it looks the way you think it should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Show the top (and bottom?) rows of the data for a quick visual inspection (df.head() / df.tail())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Get counts, data types, and missing value counts (</a:t>
            </a:r>
            <a:r>
              <a:rPr lang="en" u="sng">
                <a:solidFill>
                  <a:schemeClr val="hlink"/>
                </a:solidFill>
                <a:hlinkClick r:id="rId3"/>
              </a:rPr>
              <a:t>df.info</a:t>
            </a:r>
            <a:r>
              <a:rPr lang="en"/>
              <a:t>())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Get summary statistics (df.describe())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which variables may be in need of transformation, correction, alteration, 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 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Different types of data are processed differently by software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If “3” is treated as a “string” (text), 3x3 = 333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If “3” is treated as an “int” (integer)” 3x3 = 9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Make sure numerical variables are imported / loaded as numerical!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Other types: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Float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Boolean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Categorical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Datetime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Object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 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920800" y="952075"/>
            <a:ext cx="38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MCAR (Missing Completely at Random):</a:t>
            </a:r>
            <a:r>
              <a:rPr lang="en" sz="1100">
                <a:solidFill>
                  <a:schemeClr val="dk1"/>
                </a:solidFill>
              </a:rPr>
              <a:t> Missingness is unrelated to any variable (e.g., a survey response accidentally not recorded).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-Simple imputation or deletion is often fine.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MAR (Missing at Random):</a:t>
            </a:r>
            <a:r>
              <a:rPr lang="en" sz="1100">
                <a:solidFill>
                  <a:schemeClr val="dk1"/>
                </a:solidFill>
              </a:rPr>
              <a:t> Missingness depends on observed variables (higher-income customers skip income questions).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-Imputation methods that consider other variables work best (such as multiple regression)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MNAR (Missing Not at Random):</a:t>
            </a:r>
            <a:r>
              <a:rPr lang="en" sz="1100">
                <a:solidFill>
                  <a:schemeClr val="dk1"/>
                </a:solidFill>
              </a:rPr>
              <a:t> Missingness depends on unobserved data (people with low income intentionally don’t report it).                                 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-Requires domain knowledge or advanced techniques.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" y="1479050"/>
            <a:ext cx="4326549" cy="28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 (continued)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Deletion Methods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Listwise Deletion (Drop Rows):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Remove rows with missing values.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Best when missing values are rare (&lt;5%) and data is MCAR.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Risk:</a:t>
            </a:r>
            <a:r>
              <a:rPr lang="en" sz="1100">
                <a:solidFill>
                  <a:schemeClr val="dk1"/>
                </a:solidFill>
              </a:rPr>
              <a:t> May reduce sample size and statistical power.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Column Deletion: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Drop columns if they have too many missing values </a:t>
            </a:r>
            <a:r>
              <a:rPr lang="en" sz="1100">
                <a:solidFill>
                  <a:schemeClr val="dk1"/>
                </a:solidFill>
              </a:rPr>
              <a:t>(&gt;40%?)</a:t>
            </a:r>
            <a:endParaRPr/>
          </a:p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Imputation Methods: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Mean/Median Imputation:</a:t>
            </a:r>
            <a:r>
              <a:rPr lang="en" sz="1100">
                <a:solidFill>
                  <a:schemeClr val="dk1"/>
                </a:solidFill>
              </a:rPr>
              <a:t> Replace missing numeric values with column mean or median.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Mode Imputation (Most Frequent):</a:t>
            </a:r>
            <a:r>
              <a:rPr lang="en" sz="1100">
                <a:solidFill>
                  <a:schemeClr val="dk1"/>
                </a:solidFill>
              </a:rPr>
              <a:t> Good for categorical variables.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Forward/Backward Fill (Time Series):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Fill using adjacent values: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Domain-Specific Imputation:</a:t>
            </a:r>
            <a:r>
              <a:rPr lang="en" sz="1100">
                <a:solidFill>
                  <a:schemeClr val="dk1"/>
                </a:solidFill>
              </a:rPr>
              <a:t>Use known business rules (missing income = replace with median income of customers in the same region).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Predictive Imputation: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Use models (regression or KNN) to estimate missing values based on other variables.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 Values 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Duplicates may or may not be a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a problem: Same customer, different transaction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Same customer and transaction, counted multiple times (due to error?)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duplicate rows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Aggregate duplicate rows if some values are same but others aren’t (for instance, same transaction but </a:t>
            </a:r>
            <a:r>
              <a:rPr lang="en"/>
              <a:t>different</a:t>
            </a:r>
            <a:r>
              <a:rPr lang="en"/>
              <a:t> totals)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 can: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Distort mean and variance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Heavily influence regression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Create misleading conclusions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detection methods: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Scores: Abs(Z)&gt;3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IQR: Q1- 1.5x IQR and Q3 + 1.5 x IQR</a:t>
            </a:r>
            <a:endParaRPr/>
          </a:p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do?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an error, remove it!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meaningful, keep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with and without.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Cap / Winsorize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Don’t blindly remove. Extreme values could matter a lot.  Might be your most valuable customer!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Reshaping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row per entity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Multiple columns for related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Multiple rows per entity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One column stores values, another stores labels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228" y="1729000"/>
            <a:ext cx="3449449" cy="21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Reshaping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Reshaping is often required for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Plotting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Time-</a:t>
            </a:r>
            <a:r>
              <a:rPr lang="en"/>
              <a:t>series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Grouped summaries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Melting: Wide -&gt; Long (stack)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Pivoting: Long -&gt; Wide (spread)</a:t>
            </a:r>
            <a:endParaRPr/>
          </a:p>
        </p:txBody>
      </p:sp>
      <p:sp>
        <p:nvSpPr>
          <p:cNvPr id="125" name="Google Shape;125;p2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352" y="1020200"/>
            <a:ext cx="4653376" cy="36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Feature Engineering - Making New Variables From Old Ones!</a:t>
            </a:r>
            <a:endParaRPr sz="2320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Ratios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debt/income, police/population,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Differences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expected earnings - actual earnings, city poverty - state poverty, individual score - class average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Interactions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xercise * age, income * region, discount * income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Polynomials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ge^2…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Categorical Encoding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ne hot, ordinal, mean value*, frequency,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Spatial / Geographic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Distance, urban/rural dummy, regional dummies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Text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ord counts, sentiment scores…lots of tricky stuff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Aggregation / Grouping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ean, median, variance, etc. by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Dimensionality</a:t>
            </a:r>
            <a:r>
              <a:rPr b="1" lang="en"/>
              <a:t> Reduction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PCA, factor analysis,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Temporal: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ay, week, month, hour, night, weekday/weekend, lags, rolling averages, time since an event, seasonal dummies, periodic encoding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Normalizing &amp; Standardizing*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Log, Sqrt, &amp; Box-Cox Transformations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lang="en"/>
              <a:t>’ = log(x)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when: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is strongly right skewed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spans multiple orders of magnitude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Relationships are multiplicative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Likely in: Income, prices, population</a:t>
            </a:r>
            <a:endParaRPr/>
          </a:p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lang="en"/>
              <a:t>’ = sqrt(x)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when: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is moderately right skewd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is count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Variance </a:t>
            </a:r>
            <a:r>
              <a:rPr lang="en"/>
              <a:t>increases</a:t>
            </a:r>
            <a:r>
              <a:rPr lang="en"/>
              <a:t> with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Likely in: Number of customers, number of sales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Box-Cox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Box-Cox is a family of power transformations that finds the best way to make data more </a:t>
            </a:r>
            <a:r>
              <a:rPr lang="en"/>
              <a:t>normal</a:t>
            </a:r>
            <a:r>
              <a:rPr lang="en"/>
              <a:t>, linear, and/or homoskedastic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Tries many lambda values, </a:t>
            </a:r>
            <a:r>
              <a:rPr lang="en"/>
              <a:t>transforms</a:t>
            </a:r>
            <a:r>
              <a:rPr lang="en"/>
              <a:t> the data for each, then chooses the lambda that maximizes log-</a:t>
            </a:r>
            <a:r>
              <a:rPr lang="en"/>
              <a:t>likelihood</a:t>
            </a:r>
            <a:r>
              <a:rPr lang="en"/>
              <a:t> and makes data closest to normal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when: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is right-skewed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Residuals are not normal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Variance is not constant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Transformations are uncertain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Requires all data is positive!  Can be addressed by adding a constant to each observation where c &gt; min(x)</a:t>
            </a:r>
            <a:endParaRPr/>
          </a:p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Fixes data that violates model assumptions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Improves prediction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Issues: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 is difficult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Must convert back to </a:t>
            </a:r>
            <a:r>
              <a:rPr lang="en"/>
              <a:t>original</a:t>
            </a:r>
            <a:r>
              <a:rPr lang="en"/>
              <a:t> scale  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400" y="142050"/>
            <a:ext cx="2952325" cy="10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050" y="4160250"/>
            <a:ext cx="2116625" cy="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Standardizing &amp; </a:t>
            </a:r>
            <a:r>
              <a:rPr lang="en"/>
              <a:t>Normalizing 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Standardizing</a:t>
            </a:r>
            <a:r>
              <a:rPr lang="en"/>
              <a:t>: Transforming data so it has a mean of 0 and standard deviation of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X’ = Z = (X - Mean(X)) / Stdev(X)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(sometimes) when variables are on different scales and methods depend on variance structure (PCA, regularization)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Standardizing X and Y for regression gives the interpretation that “a 1 standard deviation increase in X leads to a B standard deviation increase in Y” - These are standardized coefficients </a:t>
            </a:r>
            <a:endParaRPr/>
          </a:p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Normalizing</a:t>
            </a:r>
            <a:r>
              <a:rPr lang="en"/>
              <a:t>: Rescaling numerical values to fit in a common range (often 0 to 1 or -1 to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Shape is </a:t>
            </a:r>
            <a:r>
              <a:rPr lang="en"/>
              <a:t>preserved</a:t>
            </a:r>
            <a:r>
              <a:rPr lang="en"/>
              <a:t> but scale is squeezed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(sometimes) when bounded inputs or </a:t>
            </a:r>
            <a:r>
              <a:rPr lang="en"/>
              <a:t>comparable</a:t>
            </a:r>
            <a:r>
              <a:rPr lang="en"/>
              <a:t> ranges are desired, </a:t>
            </a:r>
            <a:r>
              <a:rPr lang="en"/>
              <a:t>especially</a:t>
            </a:r>
            <a:r>
              <a:rPr lang="en"/>
              <a:t> for distance-based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0 - 1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X’ = (X - Min(X)) / (Max(X) - Min(X))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-1 - 1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X’ = 2 (</a:t>
            </a:r>
            <a:r>
              <a:rPr lang="en"/>
              <a:t>X - Min(X) / (Max(X) - Min(X))) -1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Ordinal and Nominal Data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Ordinal: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data’s order / rank matters, convert to numerical, </a:t>
            </a:r>
            <a:r>
              <a:rPr b="1" lang="en"/>
              <a:t>but be careful not to compute the same as numerical / continuous data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Turn {High School, Undergraduate, Graduate} to {1, 2, 3}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that order matters, but data isn’t quantitative - Graduate is not 1.5x undergraduate and 3x high school</a:t>
            </a:r>
            <a:endParaRPr/>
          </a:p>
        </p:txBody>
      </p:sp>
      <p:sp>
        <p:nvSpPr>
          <p:cNvPr id="163" name="Google Shape;163;p2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Nominal: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data are nominal (labels), “one-hot encoding” may be appropriate.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new binary column for each label, </a:t>
            </a:r>
            <a:r>
              <a:rPr b="1" lang="en"/>
              <a:t>but be careful to not introduce perfect multicollinearity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Frequency coding for certain machine learning methods*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" y="171450"/>
            <a:ext cx="86106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Leakage 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model that uses data that would not </a:t>
            </a:r>
            <a:r>
              <a:rPr lang="en"/>
              <a:t>exist</a:t>
            </a:r>
            <a:r>
              <a:rPr lang="en"/>
              <a:t> at the time of prediction runs the risk of data leakage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Predicting will student pass exam using hours studied, attendance, and </a:t>
            </a:r>
            <a:r>
              <a:rPr b="1" lang="en"/>
              <a:t>final exam score.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100% accuracy.  0% insightful.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High R^2, High accuracy, Low Error</a:t>
            </a:r>
            <a:endParaRPr/>
          </a:p>
        </p:txBody>
      </p:sp>
      <p:sp>
        <p:nvSpPr>
          <p:cNvPr id="178" name="Google Shape;178;p29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 prediction moment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only info available at that moment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 data before scaling, imputing, PCA, feature selection, winsorizing,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 careful with aggregation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Keep train and test separate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Leakage Safe Workflow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Define prediction moment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Split data into test and training 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Fit preprocessing on training data only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Apply the same </a:t>
            </a:r>
            <a:r>
              <a:rPr lang="en"/>
              <a:t>transformations</a:t>
            </a:r>
            <a:r>
              <a:rPr lang="en"/>
              <a:t> to the testing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Train the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Evaluate on the testing 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